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  <p:sldMasterId id="2147483656" r:id="rId5"/>
  </p:sldMasterIdLst>
  <p:sldIdLst>
    <p:sldId id="274" r:id="rId6"/>
    <p:sldId id="275" r:id="rId7"/>
    <p:sldId id="257" r:id="rId8"/>
    <p:sldId id="283" r:id="rId9"/>
    <p:sldId id="280" r:id="rId10"/>
    <p:sldId id="874" r:id="rId11"/>
    <p:sldId id="277" r:id="rId12"/>
    <p:sldId id="281" r:id="rId13"/>
    <p:sldId id="282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BF016-7E9F-485D-94B8-FD3FB8C732AA}" v="47" dt="2025-11-30T07:41:59.0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fr-FR" sz="1500" b="1" i="0" u="sng" strike="noStrike" kern="1200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Net Promotion Score (NPS)</a:t>
            </a:r>
          </a:p>
        </c:rich>
      </c:tx>
      <c:layout>
        <c:manualLayout>
          <c:xMode val="edge"/>
          <c:yMode val="edge"/>
          <c:x val="0.22587040861695568"/>
          <c:y val="2.87676965350022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2.7510263329749055E-2"/>
          <c:y val="0.16333293532424323"/>
          <c:w val="0.94956441999082986"/>
          <c:h val="0.72295333712656551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01600" prst="riblet"/>
              <a:bevelB w="101600" prst="riblet"/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1-E039-45EB-AAB3-A43CCA9C4E8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3-E039-45EB-AAB3-A43CCA9C4E8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5-E039-45EB-AAB3-A43CCA9C4E86}"/>
              </c:ext>
            </c:extLst>
          </c:dPt>
          <c:dLbls>
            <c:dLbl>
              <c:idx val="0"/>
              <c:layout>
                <c:manualLayout>
                  <c:x val="-2.2768670309653918E-3"/>
                  <c:y val="2.5400547088706526E-3"/>
                </c:manualLayout>
              </c:layout>
              <c:tx>
                <c:rich>
                  <a:bodyPr/>
                  <a:lstStyle/>
                  <a:p>
                    <a:fld id="{A7777060-C8B3-44D8-BF57-34DD062E7FA0}" type="VALUE">
                      <a:rPr lang="en-US">
                        <a:solidFill>
                          <a:srgbClr val="C00000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039-45EB-AAB3-A43CCA9C4E86}"/>
                </c:ext>
              </c:extLst>
            </c:dLbl>
            <c:dLbl>
              <c:idx val="1"/>
              <c:layout>
                <c:manualLayout>
                  <c:x val="0"/>
                  <c:y val="-5.8222792490916619E-3"/>
                </c:manualLayout>
              </c:layout>
              <c:tx>
                <c:rich>
                  <a:bodyPr/>
                  <a:lstStyle/>
                  <a:p>
                    <a:fld id="{1A316C13-635A-480B-9F95-0B868840CCE5}" type="VALUE">
                      <a:rPr lang="en-US">
                        <a:solidFill>
                          <a:schemeClr val="accent2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039-45EB-AAB3-A43CCA9C4E86}"/>
                </c:ext>
              </c:extLst>
            </c:dLbl>
            <c:dLbl>
              <c:idx val="2"/>
              <c:layout>
                <c:manualLayout>
                  <c:x val="4.5537340619306163E-3"/>
                  <c:y val="-1.3677217663149847E-3"/>
                </c:manualLayout>
              </c:layout>
              <c:tx>
                <c:rich>
                  <a:bodyPr/>
                  <a:lstStyle/>
                  <a:p>
                    <a:fld id="{E5D71E64-82D4-43C1-B184-E7A6F98A322D}" type="VALUE"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039-45EB-AAB3-A43CCA9C4E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'Graph '!$B$42:$B$44</c:f>
              <c:strCache>
                <c:ptCount val="3"/>
                <c:pt idx="0">
                  <c:v>Détracteur
(Note de 0 à 6)</c:v>
                </c:pt>
                <c:pt idx="1">
                  <c:v>Passif 
(Note de 7 à 8)</c:v>
                </c:pt>
                <c:pt idx="2">
                  <c:v>Promoteur
(Note de 9 à 10)</c:v>
                </c:pt>
              </c:strCache>
            </c:strRef>
          </c:cat>
          <c:val>
            <c:numRef>
              <c:f>'Graph '!$D$42:$D$44</c:f>
              <c:numCache>
                <c:formatCode>0%</c:formatCode>
                <c:ptCount val="3"/>
                <c:pt idx="0">
                  <c:v>3.7634408602150539E-2</c:v>
                </c:pt>
                <c:pt idx="1">
                  <c:v>3.2258064516129031E-2</c:v>
                </c:pt>
                <c:pt idx="2">
                  <c:v>0.93010752688172038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39-45EB-AAB3-A43CCA9C4E8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70919152"/>
        <c:axId val="500043104"/>
      </c:barChart>
      <c:catAx>
        <c:axId val="470919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500043104"/>
        <c:crosses val="autoZero"/>
        <c:auto val="1"/>
        <c:lblAlgn val="ctr"/>
        <c:lblOffset val="100"/>
        <c:noMultiLvlLbl val="0"/>
      </c:catAx>
      <c:valAx>
        <c:axId val="50004310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70919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fr-CI" sz="1500" b="1" i="0" u="sng" strike="noStrike" kern="1200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Niveau</a:t>
            </a:r>
            <a:r>
              <a:rPr lang="fr-CI" sz="1500" b="1" i="0" u="sng" strike="noStrike" kern="1200" baseline="0" dirty="0">
                <a:solidFill>
                  <a:srgbClr val="000000">
                    <a:lumMod val="65000"/>
                    <a:lumOff val="3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I" sz="1500" b="1" i="0" u="sng" strike="noStrike" kern="1200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d'effort déployé (CES</a:t>
            </a:r>
            <a:r>
              <a:rPr lang="fr-CI" sz="1500" b="1" i="0" u="sng" strike="noStrike" kern="1200" baseline="0" dirty="0">
                <a:solidFill>
                  <a:srgbClr val="000000">
                    <a:lumMod val="65000"/>
                    <a:lumOff val="3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ysClr val="windowText" lastClr="000000">
                    <a:lumMod val="65000"/>
                    <a:lumOff val="3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fr-CI" sz="15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5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01600" prst="riblet"/>
              <a:bevelB w="101600" prst="riblet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1-B171-4700-AC0A-216B7E9DDF5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3-B171-4700-AC0A-216B7E9DDF54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5-B171-4700-AC0A-216B7E9DDF54}"/>
              </c:ext>
            </c:extLst>
          </c:dPt>
          <c:dLbls>
            <c:dLbl>
              <c:idx val="0"/>
              <c:layout>
                <c:manualLayout>
                  <c:x val="-2.2862368541381097E-3"/>
                  <c:y val="2.6455026455026081E-3"/>
                </c:manualLayout>
              </c:layout>
              <c:tx>
                <c:rich>
                  <a:bodyPr/>
                  <a:lstStyle/>
                  <a:p>
                    <a:fld id="{FFAC8D43-4EBE-4453-BA24-42712C234D02}" type="VALUE"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171-4700-AC0A-216B7E9DDF54}"/>
                </c:ext>
              </c:extLst>
            </c:dLbl>
            <c:dLbl>
              <c:idx val="1"/>
              <c:layout>
                <c:manualLayout>
                  <c:x val="-2.2862368541380889E-3"/>
                  <c:y val="-2.033079198433529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00" b="1" i="0" u="none" strike="noStrike" kern="1200" baseline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8033A737-20A7-41F0-8B9F-D37BC3FBCA80}" type="VALUE">
                      <a:rPr lang="en-US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 sz="110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[VALEUR]</a:t>
                    </a:fld>
                    <a:endParaRPr lang="fr-F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171-4700-AC0A-216B7E9DDF54}"/>
                </c:ext>
              </c:extLst>
            </c:dLbl>
            <c:dLbl>
              <c:idx val="2"/>
              <c:layout>
                <c:manualLayout>
                  <c:x val="2.2862368541380889E-3"/>
                  <c:y val="-7.785244793118808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171-4700-AC0A-216B7E9DDF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'Graph '!$B$8:$B$10</c:f>
              <c:strCache>
                <c:ptCount val="3"/>
                <c:pt idx="0">
                  <c:v>Effort faible
(Note de 1 à 2)</c:v>
                </c:pt>
                <c:pt idx="1">
                  <c:v> Effort modéré
(Note de 3 à 4)</c:v>
                </c:pt>
                <c:pt idx="2">
                  <c:v>Effort élevé
(Note de 5 à 7)</c:v>
                </c:pt>
              </c:strCache>
            </c:strRef>
          </c:cat>
          <c:val>
            <c:numRef>
              <c:f>'Graph '!$D$8:$D$10</c:f>
              <c:numCache>
                <c:formatCode>0%</c:formatCode>
                <c:ptCount val="3"/>
                <c:pt idx="0">
                  <c:v>0.9329896907216495</c:v>
                </c:pt>
                <c:pt idx="1">
                  <c:v>3.0927835051546393E-2</c:v>
                </c:pt>
                <c:pt idx="2">
                  <c:v>3.608247422680412E-2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71-4700-AC0A-216B7E9DDF5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843850368"/>
        <c:axId val="2009818848"/>
      </c:barChart>
      <c:catAx>
        <c:axId val="1843850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2009818848"/>
        <c:crosses val="autoZero"/>
        <c:auto val="1"/>
        <c:lblAlgn val="ctr"/>
        <c:lblOffset val="100"/>
        <c:noMultiLvlLbl val="0"/>
      </c:catAx>
      <c:valAx>
        <c:axId val="200981884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43850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fr-CI" sz="1500" b="1" i="0" u="sng" strike="noStrike" kern="1200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Niveau de satisfaction (CSAT)</a:t>
            </a:r>
            <a:endParaRPr lang="fr-CI" sz="15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fr-CI"/>
        </a:p>
      </c:txPr>
    </c:title>
    <c:autoTitleDeleted val="0"/>
    <c:plotArea>
      <c:layout>
        <c:manualLayout>
          <c:layoutTarget val="inner"/>
          <c:xMode val="edge"/>
          <c:yMode val="edge"/>
          <c:x val="3.4416371030544263E-2"/>
          <c:y val="0.17324055423304646"/>
          <c:w val="0.9494949494949495"/>
          <c:h val="0.73655701796399542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01600" prst="riblet"/>
              <a:bevelB w="101600" prst="riblet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1-CE95-449A-BC9B-5890BED60D76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3-CE95-449A-BC9B-5890BED60D76}"/>
              </c:ext>
            </c:extLst>
          </c:dPt>
          <c:dLbls>
            <c:dLbl>
              <c:idx val="0"/>
              <c:layout>
                <c:manualLayout>
                  <c:x val="-1.1446886446886446E-2"/>
                  <c:y val="-1.01205857019810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95-449A-BC9B-5890BED60D76}"/>
                </c:ext>
              </c:extLst>
            </c:dLbl>
            <c:dLbl>
              <c:idx val="1"/>
              <c:layout>
                <c:manualLayout>
                  <c:x val="2.2893772893772895E-3"/>
                  <c:y val="-2.4056779724240054E-2"/>
                </c:manualLayout>
              </c:layout>
              <c:tx>
                <c:rich>
                  <a:bodyPr/>
                  <a:lstStyle/>
                  <a:p>
                    <a:fld id="{E797D159-4621-483B-9EE9-7803512FACE5}" type="VALUE">
                      <a:rPr lang="en-US">
                        <a:solidFill>
                          <a:srgbClr val="C00000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E95-449A-BC9B-5890BED60D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00" b="1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'Graph '!$B$24:$B$25</c:f>
              <c:strCache>
                <c:ptCount val="2"/>
                <c:pt idx="0">
                  <c:v>Satisfait</c:v>
                </c:pt>
                <c:pt idx="1">
                  <c:v>Insatisfait</c:v>
                </c:pt>
              </c:strCache>
            </c:strRef>
          </c:cat>
          <c:val>
            <c:numRef>
              <c:f>'Graph '!$D$24:$D$25</c:f>
              <c:numCache>
                <c:formatCode>0%</c:formatCode>
                <c:ptCount val="2"/>
                <c:pt idx="0">
                  <c:v>0.97422680412371132</c:v>
                </c:pt>
                <c:pt idx="1">
                  <c:v>2.5773195876288658E-2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95-449A-BC9B-5890BED60D7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43989744"/>
        <c:axId val="2003262304"/>
      </c:barChart>
      <c:catAx>
        <c:axId val="1943989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2003262304"/>
        <c:crosses val="autoZero"/>
        <c:auto val="1"/>
        <c:lblAlgn val="ctr"/>
        <c:lblOffset val="100"/>
        <c:noMultiLvlLbl val="0"/>
      </c:catAx>
      <c:valAx>
        <c:axId val="200326230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43989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fr-CI" sz="1500" b="1" i="0" u="sng" strike="noStrike" kern="1200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Niveau</a:t>
            </a:r>
            <a:r>
              <a:rPr lang="fr-CI" sz="1500" b="1" i="0" u="sng" strike="noStrike" kern="1200" baseline="0" dirty="0">
                <a:solidFill>
                  <a:srgbClr val="000000">
                    <a:lumMod val="65000"/>
                    <a:lumOff val="3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I" sz="1500" b="1" i="0" u="sng" strike="noStrike" kern="1200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d'effort déployé (CES</a:t>
            </a:r>
            <a:r>
              <a:rPr lang="fr-CI" sz="1500" b="1" i="0" u="sng" strike="noStrike" kern="1200" baseline="0" dirty="0">
                <a:solidFill>
                  <a:srgbClr val="000000">
                    <a:lumMod val="65000"/>
                    <a:lumOff val="3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ysClr val="windowText" lastClr="000000">
                    <a:lumMod val="65000"/>
                    <a:lumOff val="3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fr-CI" sz="15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5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01600" prst="riblet"/>
              <a:bevelB w="101600" prst="riblet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1-0BCC-4AC8-BC3E-FAF9E2233A4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3-0BCC-4AC8-BC3E-FAF9E2233A43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5-0BCC-4AC8-BC3E-FAF9E2233A43}"/>
              </c:ext>
            </c:extLst>
          </c:dPt>
          <c:dLbls>
            <c:dLbl>
              <c:idx val="0"/>
              <c:layout>
                <c:manualLayout>
                  <c:x val="-2.2862368541381097E-3"/>
                  <c:y val="2.6455026455026081E-3"/>
                </c:manualLayout>
              </c:layout>
              <c:tx>
                <c:rich>
                  <a:bodyPr/>
                  <a:lstStyle/>
                  <a:p>
                    <a:fld id="{FFAC8D43-4EBE-4453-BA24-42712C234D02}" type="VALUE"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BCC-4AC8-BC3E-FAF9E2233A43}"/>
                </c:ext>
              </c:extLst>
            </c:dLbl>
            <c:dLbl>
              <c:idx val="1"/>
              <c:layout>
                <c:manualLayout>
                  <c:x val="-2.2862368541380889E-3"/>
                  <c:y val="-2.033079198433529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00" b="1" i="0" u="none" strike="noStrike" kern="1200" baseline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8033A737-20A7-41F0-8B9F-D37BC3FBCA80}" type="VALUE">
                      <a:rPr lang="en-US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 sz="110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[VALEUR]</a:t>
                    </a:fld>
                    <a:endParaRPr lang="fr-F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BCC-4AC8-BC3E-FAF9E2233A43}"/>
                </c:ext>
              </c:extLst>
            </c:dLbl>
            <c:dLbl>
              <c:idx val="2"/>
              <c:layout>
                <c:manualLayout>
                  <c:x val="2.2862368541380889E-3"/>
                  <c:y val="-7.785244793118808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CC-4AC8-BC3E-FAF9E2233A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'Graph '!$B$8:$B$10</c:f>
              <c:strCache>
                <c:ptCount val="3"/>
                <c:pt idx="0">
                  <c:v>Effort faible
(Note de 1 à 2)</c:v>
                </c:pt>
                <c:pt idx="1">
                  <c:v> Effort modéré
(Note de 3 à 4)</c:v>
                </c:pt>
                <c:pt idx="2">
                  <c:v>Effort élevé
(Note de 5 à 7)</c:v>
                </c:pt>
              </c:strCache>
            </c:strRef>
          </c:cat>
          <c:val>
            <c:numRef>
              <c:f>'Graph '!$D$8:$D$10</c:f>
              <c:numCache>
                <c:formatCode>0%</c:formatCode>
                <c:ptCount val="3"/>
                <c:pt idx="0">
                  <c:v>0.74390243902439024</c:v>
                </c:pt>
                <c:pt idx="1">
                  <c:v>9.7560975609756101E-2</c:v>
                </c:pt>
                <c:pt idx="2">
                  <c:v>0.15853658536585366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BCC-4AC8-BC3E-FAF9E2233A4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843850368"/>
        <c:axId val="2009818848"/>
      </c:barChart>
      <c:catAx>
        <c:axId val="1843850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2009818848"/>
        <c:crosses val="autoZero"/>
        <c:auto val="1"/>
        <c:lblAlgn val="ctr"/>
        <c:lblOffset val="100"/>
        <c:noMultiLvlLbl val="0"/>
      </c:catAx>
      <c:valAx>
        <c:axId val="200981884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43850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fr-CI" sz="1500" b="1" i="0" u="sng" strike="noStrike" kern="1200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Niveau de satisfaction (CSAT)</a:t>
            </a:r>
            <a:endParaRPr lang="fr-CI" sz="15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fr-CI"/>
        </a:p>
      </c:txPr>
    </c:title>
    <c:autoTitleDeleted val="0"/>
    <c:plotArea>
      <c:layout>
        <c:manualLayout>
          <c:layoutTarget val="inner"/>
          <c:xMode val="edge"/>
          <c:yMode val="edge"/>
          <c:x val="3.4416371030544263E-2"/>
          <c:y val="0.17324055423304646"/>
          <c:w val="0.9494949494949495"/>
          <c:h val="0.73655701796399542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01600" prst="riblet"/>
              <a:bevelB w="101600" prst="riblet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1-D6B6-4A70-9457-A652FC6BB42B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3-D6B6-4A70-9457-A652FC6BB42B}"/>
              </c:ext>
            </c:extLst>
          </c:dPt>
          <c:dLbls>
            <c:dLbl>
              <c:idx val="0"/>
              <c:layout>
                <c:manualLayout>
                  <c:x val="-1.1446886446886446E-2"/>
                  <c:y val="-1.01205857019810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B6-4A70-9457-A652FC6BB42B}"/>
                </c:ext>
              </c:extLst>
            </c:dLbl>
            <c:dLbl>
              <c:idx val="1"/>
              <c:layout>
                <c:manualLayout>
                  <c:x val="2.2893772893772895E-3"/>
                  <c:y val="-2.4056779724240054E-2"/>
                </c:manualLayout>
              </c:layout>
              <c:tx>
                <c:rich>
                  <a:bodyPr/>
                  <a:lstStyle/>
                  <a:p>
                    <a:fld id="{E797D159-4621-483B-9EE9-7803512FACE5}" type="VALUE">
                      <a:rPr lang="en-US">
                        <a:solidFill>
                          <a:srgbClr val="C00000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6B6-4A70-9457-A652FC6BB42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00" b="1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'Graph '!$B$24:$B$25</c:f>
              <c:strCache>
                <c:ptCount val="2"/>
                <c:pt idx="0">
                  <c:v>Satisfait</c:v>
                </c:pt>
                <c:pt idx="1">
                  <c:v>Insatisfait</c:v>
                </c:pt>
              </c:strCache>
            </c:strRef>
          </c:cat>
          <c:val>
            <c:numRef>
              <c:f>'Graph '!$D$24:$D$25</c:f>
              <c:numCache>
                <c:formatCode>0%</c:formatCode>
                <c:ptCount val="2"/>
                <c:pt idx="0">
                  <c:v>0.79268292682926833</c:v>
                </c:pt>
                <c:pt idx="1">
                  <c:v>0.2073170731707317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B6-4A70-9457-A652FC6BB42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43989744"/>
        <c:axId val="2003262304"/>
      </c:barChart>
      <c:catAx>
        <c:axId val="1943989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2003262304"/>
        <c:crosses val="autoZero"/>
        <c:auto val="1"/>
        <c:lblAlgn val="ctr"/>
        <c:lblOffset val="100"/>
        <c:noMultiLvlLbl val="0"/>
      </c:catAx>
      <c:valAx>
        <c:axId val="200326230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43989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fr-FR" sz="1500" b="1" i="0" u="sng" strike="noStrike" kern="1200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Net Promotion Score (NPS)</a:t>
            </a:r>
          </a:p>
        </c:rich>
      </c:tx>
      <c:layout>
        <c:manualLayout>
          <c:xMode val="edge"/>
          <c:yMode val="edge"/>
          <c:x val="0.22587040861695568"/>
          <c:y val="2.87676965350022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2.7510263769548807E-2"/>
          <c:y val="0.16419505609558127"/>
          <c:w val="0.94956441999082986"/>
          <c:h val="0.72295333712656551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01600" prst="riblet"/>
              <a:bevelB w="101600" prst="riblet"/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1-743C-46F7-93C8-A7A7968D6B2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3-743C-46F7-93C8-A7A7968D6B2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01600" prst="riblet"/>
                <a:bevelB w="101600" prst="riblet"/>
              </a:sp3d>
            </c:spPr>
            <c:extLst>
              <c:ext xmlns:c16="http://schemas.microsoft.com/office/drawing/2014/chart" uri="{C3380CC4-5D6E-409C-BE32-E72D297353CC}">
                <c16:uniqueId val="{00000005-743C-46F7-93C8-A7A7968D6B24}"/>
              </c:ext>
            </c:extLst>
          </c:dPt>
          <c:dLbls>
            <c:dLbl>
              <c:idx val="0"/>
              <c:layout>
                <c:manualLayout>
                  <c:x val="-2.2768670309653918E-3"/>
                  <c:y val="2.5400547088706526E-3"/>
                </c:manualLayout>
              </c:layout>
              <c:tx>
                <c:rich>
                  <a:bodyPr/>
                  <a:lstStyle/>
                  <a:p>
                    <a:fld id="{A7777060-C8B3-44D8-BF57-34DD062E7FA0}" type="VALUE">
                      <a:rPr lang="en-US">
                        <a:solidFill>
                          <a:srgbClr val="C00000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43C-46F7-93C8-A7A7968D6B24}"/>
                </c:ext>
              </c:extLst>
            </c:dLbl>
            <c:dLbl>
              <c:idx val="1"/>
              <c:layout>
                <c:manualLayout>
                  <c:x val="0"/>
                  <c:y val="-5.8222792490916619E-3"/>
                </c:manualLayout>
              </c:layout>
              <c:tx>
                <c:rich>
                  <a:bodyPr/>
                  <a:lstStyle/>
                  <a:p>
                    <a:fld id="{1A316C13-635A-480B-9F95-0B868840CCE5}" type="VALUE">
                      <a:rPr lang="en-US">
                        <a:solidFill>
                          <a:schemeClr val="accent2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43C-46F7-93C8-A7A7968D6B24}"/>
                </c:ext>
              </c:extLst>
            </c:dLbl>
            <c:dLbl>
              <c:idx val="2"/>
              <c:layout>
                <c:manualLayout>
                  <c:x val="4.5537340619306163E-3"/>
                  <c:y val="-1.3677217663149847E-3"/>
                </c:manualLayout>
              </c:layout>
              <c:tx>
                <c:rich>
                  <a:bodyPr/>
                  <a:lstStyle/>
                  <a:p>
                    <a:fld id="{E5D71E64-82D4-43C1-B184-E7A6F98A322D}" type="VALUE"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43C-46F7-93C8-A7A7968D6B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'Graph '!$B$42:$B$44</c:f>
              <c:strCache>
                <c:ptCount val="3"/>
                <c:pt idx="0">
                  <c:v>Détracteur
(Note de 0 à 6)</c:v>
                </c:pt>
                <c:pt idx="1">
                  <c:v>Passif 
(Note de 7 à 8)</c:v>
                </c:pt>
                <c:pt idx="2">
                  <c:v>Promoteur
(Note de 9 à 10)</c:v>
                </c:pt>
              </c:strCache>
            </c:strRef>
          </c:cat>
          <c:val>
            <c:numRef>
              <c:f>'Graph '!$D$42:$D$44</c:f>
              <c:numCache>
                <c:formatCode>0%</c:formatCode>
                <c:ptCount val="3"/>
                <c:pt idx="0">
                  <c:v>0.15853658536585366</c:v>
                </c:pt>
                <c:pt idx="1">
                  <c:v>4.878048780487805E-2</c:v>
                </c:pt>
                <c:pt idx="2">
                  <c:v>0.79268292682926833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3C-46F7-93C8-A7A7968D6B2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70919152"/>
        <c:axId val="500043104"/>
      </c:barChart>
      <c:catAx>
        <c:axId val="470919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500043104"/>
        <c:crosses val="autoZero"/>
        <c:auto val="1"/>
        <c:lblAlgn val="ctr"/>
        <c:lblOffset val="100"/>
        <c:noMultiLvlLbl val="0"/>
      </c:catAx>
      <c:valAx>
        <c:axId val="50004310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70919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A311DD-2EDB-F882-2E95-D68B6AF275D8}"/>
              </a:ext>
            </a:extLst>
          </p:cNvPr>
          <p:cNvSpPr/>
          <p:nvPr userDrawn="1"/>
        </p:nvSpPr>
        <p:spPr>
          <a:xfrm>
            <a:off x="11471564" y="6456218"/>
            <a:ext cx="720435" cy="401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9910FE20-DAB4-5C0A-9E03-F8EF53D449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08"/>
          <a:stretch/>
        </p:blipFill>
        <p:spPr>
          <a:xfrm>
            <a:off x="64655" y="1838036"/>
            <a:ext cx="12192000" cy="50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5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logo&#10;&#10;Description générée automatiquement">
            <a:extLst>
              <a:ext uri="{FF2B5EF4-FFF2-40B4-BE49-F238E27FC236}">
                <a16:creationId xmlns:a16="http://schemas.microsoft.com/office/drawing/2014/main" id="{BC81D47F-08D4-0C3A-4848-034ED35C75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8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Graphique, graphisme&#10;&#10;Description générée automatiquement">
            <a:extLst>
              <a:ext uri="{FF2B5EF4-FFF2-40B4-BE49-F238E27FC236}">
                <a16:creationId xmlns:a16="http://schemas.microsoft.com/office/drawing/2014/main" id="{9DA1AE21-C515-59E6-78A8-ADDEAF1FC1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1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1471564" y="6456218"/>
            <a:ext cx="720435" cy="401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texte, capture d’écran, Police, conception&#10;&#10;Description générée automatiquemen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08"/>
          <a:stretch>
            <a:fillRect/>
          </a:stretch>
        </p:blipFill>
        <p:spPr>
          <a:xfrm>
            <a:off x="64655" y="1838036"/>
            <a:ext cx="12192000" cy="50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39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logo&#10;&#10;Description générée automatiquemen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3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Graphique, graphisme&#10;&#10;Description générée automatiquemen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9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62C2C8E-377A-E342-827B-6E2063DD12F1}"/>
              </a:ext>
            </a:extLst>
          </p:cNvPr>
          <p:cNvSpPr txBox="1">
            <a:spLocks/>
          </p:cNvSpPr>
          <p:nvPr userDrawn="1"/>
        </p:nvSpPr>
        <p:spPr>
          <a:xfrm>
            <a:off x="9486903" y="6561460"/>
            <a:ext cx="2705097" cy="2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fr-FR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385B69-22EB-4742-A598-04DFF1B791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440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 txBox="1"/>
          <p:nvPr userDrawn="1"/>
        </p:nvSpPr>
        <p:spPr>
          <a:xfrm>
            <a:off x="9486903" y="6561460"/>
            <a:ext cx="2705097" cy="2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fr-FR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 panose="020F050202020403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385B69-22EB-4742-A598-04DFF1B79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90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D0136D-E93E-5C2F-A773-B1D7C6588D7A}"/>
              </a:ext>
            </a:extLst>
          </p:cNvPr>
          <p:cNvSpPr/>
          <p:nvPr/>
        </p:nvSpPr>
        <p:spPr>
          <a:xfrm>
            <a:off x="9420047" y="5963206"/>
            <a:ext cx="26164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Département Relation Clients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SUNU Business GIE Côte d’Ivoire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Déc.</a:t>
            </a: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2025</a:t>
            </a:r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8A35C20-D50D-BF37-5523-6C6847543120}"/>
              </a:ext>
            </a:extLst>
          </p:cNvPr>
          <p:cNvSpPr txBox="1">
            <a:spLocks/>
          </p:cNvSpPr>
          <p:nvPr/>
        </p:nvSpPr>
        <p:spPr>
          <a:xfrm>
            <a:off x="2394156" y="2585283"/>
            <a:ext cx="9163664" cy="188347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fr-F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RESTITUTION SONDAGE </a:t>
            </a:r>
          </a:p>
          <a:p>
            <a:pPr algn="ctr">
              <a:lnSpc>
                <a:spcPct val="100000"/>
              </a:lnSpc>
            </a:pPr>
            <a:r>
              <a:rPr lang="fr-F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NPS - CSAT - CES </a:t>
            </a:r>
          </a:p>
          <a:p>
            <a:pPr algn="ctr">
              <a:lnSpc>
                <a:spcPct val="100000"/>
              </a:lnSpc>
            </a:pPr>
            <a:r>
              <a:rPr lang="fr-F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Semaine du 08 au 12 Déc. 2025</a:t>
            </a:r>
          </a:p>
        </p:txBody>
      </p:sp>
    </p:spTree>
    <p:extLst>
      <p:ext uri="{BB962C8B-B14F-4D97-AF65-F5344CB8AC3E}">
        <p14:creationId xmlns:p14="http://schemas.microsoft.com/office/powerpoint/2010/main" val="2645552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321879-5C9D-7940-4F24-100D7348E2BF}"/>
              </a:ext>
            </a:extLst>
          </p:cNvPr>
          <p:cNvSpPr txBox="1">
            <a:spLocks/>
          </p:cNvSpPr>
          <p:nvPr/>
        </p:nvSpPr>
        <p:spPr>
          <a:xfrm>
            <a:off x="1573160" y="3509606"/>
            <a:ext cx="9202733" cy="7081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</a:rPr>
              <a:t>Sous-titre 1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956B110-3ECB-01C6-76DE-4F71EEFB6D0C}"/>
              </a:ext>
            </a:extLst>
          </p:cNvPr>
          <p:cNvSpPr txBox="1">
            <a:spLocks/>
          </p:cNvSpPr>
          <p:nvPr/>
        </p:nvSpPr>
        <p:spPr>
          <a:xfrm>
            <a:off x="1268360" y="188008"/>
            <a:ext cx="9202733" cy="7081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30A43A-F7E5-CA49-C6B9-C44F11A69B9D}"/>
              </a:ext>
            </a:extLst>
          </p:cNvPr>
          <p:cNvSpPr/>
          <p:nvPr/>
        </p:nvSpPr>
        <p:spPr>
          <a:xfrm>
            <a:off x="1775298" y="1471785"/>
            <a:ext cx="9354818" cy="4167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>
              <a:spcAft>
                <a:spcPts val="600"/>
              </a:spcAft>
              <a:defRPr/>
            </a:pPr>
            <a:r>
              <a:rPr lang="en-US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1- Mise en oeuvre…………..…. ……………….….………………….……..…...p3</a:t>
            </a:r>
          </a:p>
          <a:p>
            <a:pPr marL="285750">
              <a:spcAft>
                <a:spcPts val="600"/>
              </a:spcAft>
              <a:defRPr/>
            </a:pPr>
            <a:endParaRPr lang="en-US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>
              <a:spcAft>
                <a:spcPts val="600"/>
              </a:spcAft>
              <a:defRPr/>
            </a:pPr>
            <a:r>
              <a:rPr lang="en-US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2- Restitutions des résultats……………………….….………………..........…p5</a:t>
            </a:r>
          </a:p>
          <a:p>
            <a:pPr marL="285750">
              <a:spcAft>
                <a:spcPts val="600"/>
              </a:spcAft>
              <a:defRPr/>
            </a:pPr>
            <a:endParaRPr lang="en-US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>
              <a:spcAft>
                <a:spcPts val="600"/>
              </a:spcAft>
              <a:defRPr/>
            </a:pPr>
            <a:r>
              <a:rPr lang="en-US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2-1- Presentation générale des résultats: Chiffres……………………p6</a:t>
            </a:r>
          </a:p>
          <a:p>
            <a:pPr marL="285750">
              <a:spcAft>
                <a:spcPts val="600"/>
              </a:spcAft>
              <a:defRPr/>
            </a:pPr>
            <a:r>
              <a:rPr lang="en-US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2-2- Presentation générale des résultats : Commentaires….........…p7</a:t>
            </a:r>
          </a:p>
          <a:p>
            <a:pPr marL="285750">
              <a:spcAft>
                <a:spcPts val="600"/>
              </a:spcAft>
              <a:defRPr/>
            </a:pPr>
            <a:r>
              <a:rPr lang="en-US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2-3- Résultats Périmètre VIE……………………………………..…….... p8</a:t>
            </a:r>
          </a:p>
          <a:p>
            <a:pPr marL="285750">
              <a:spcAft>
                <a:spcPts val="600"/>
              </a:spcAft>
              <a:defRPr/>
            </a:pPr>
            <a:r>
              <a:rPr lang="en-US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2-4- Résultats Périmètre IARD………..………………………….……... p9</a:t>
            </a:r>
          </a:p>
          <a:p>
            <a:pPr marL="285750">
              <a:spcAft>
                <a:spcPts val="600"/>
              </a:spcAft>
              <a:defRPr/>
            </a:pPr>
            <a:r>
              <a:rPr lang="en-US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6695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16F7E-77CC-3A69-D81C-8054A02FFBD4}"/>
              </a:ext>
            </a:extLst>
          </p:cNvPr>
          <p:cNvSpPr txBox="1">
            <a:spLocks/>
          </p:cNvSpPr>
          <p:nvPr/>
        </p:nvSpPr>
        <p:spPr>
          <a:xfrm>
            <a:off x="2991777" y="3032651"/>
            <a:ext cx="7715552" cy="79269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1. Mise en œuvre</a:t>
            </a:r>
            <a:endParaRPr kumimoji="0" lang="fr-FR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235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F2876-0043-0880-3484-10F31F2F4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4AA79D-9992-F9BB-3FC8-15DA6B955872}"/>
              </a:ext>
            </a:extLst>
          </p:cNvPr>
          <p:cNvSpPr txBox="1">
            <a:spLocks/>
          </p:cNvSpPr>
          <p:nvPr/>
        </p:nvSpPr>
        <p:spPr>
          <a:xfrm>
            <a:off x="1238864" y="188009"/>
            <a:ext cx="9202733" cy="7081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1. Mise en œuvre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19A2AC-BA6C-FD0F-DB97-7A1C45B26E06}"/>
              </a:ext>
            </a:extLst>
          </p:cNvPr>
          <p:cNvSpPr txBox="1">
            <a:spLocks/>
          </p:cNvSpPr>
          <p:nvPr/>
        </p:nvSpPr>
        <p:spPr>
          <a:xfrm>
            <a:off x="157316" y="1071716"/>
            <a:ext cx="5594555" cy="5786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6183D"/>
              </a:buClr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­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­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­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Char char="■"/>
              <a:tabLst/>
              <a:defRPr/>
            </a:pPr>
            <a:r>
              <a:rPr kumimoji="0" lang="fr-FR" sz="1300" b="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13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Etape 1: Le cadrage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3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Ciblage :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Les clients : 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 ayant répondu au sondage via le QR Code et  s’étant rendu aux Espaces Conseils Verdier </a:t>
            </a:r>
            <a:r>
              <a:rPr lang="fr-FR" sz="1300" dirty="0">
                <a:solidFill>
                  <a:sysClr val="windowText" lastClr="000000"/>
                </a:solidFill>
              </a:rPr>
              <a:t>, Botreau et 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Cosmos du </a:t>
            </a:r>
            <a:r>
              <a:rPr lang="fr-FR" sz="1300" dirty="0">
                <a:solidFill>
                  <a:sysClr val="windowText" lastClr="000000"/>
                </a:solidFill>
              </a:rPr>
              <a:t>08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au </a:t>
            </a:r>
            <a:r>
              <a:rPr lang="fr-FR" sz="1300" dirty="0">
                <a:solidFill>
                  <a:sysClr val="windowText" lastClr="000000"/>
                </a:solidFill>
              </a:rPr>
              <a:t>12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Déc</a:t>
            </a:r>
            <a:r>
              <a:rPr lang="fr-FR" sz="1300" dirty="0">
                <a:solidFill>
                  <a:sysClr val="windowText" lastClr="000000"/>
                </a:solidFill>
              </a:rPr>
              <a:t>.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2025 (périmètre VIE et IARD) 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2- ayant contacté le Call Center  du 08 </a:t>
            </a:r>
            <a:r>
              <a:rPr lang="fr-FR" sz="1300" dirty="0">
                <a:solidFill>
                  <a:sysClr val="windowText" lastClr="000000"/>
                </a:solidFill>
              </a:rPr>
              <a:t>au 12 Déc.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2025 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(périmètre VIE et IARD) 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3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Echantillon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: 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1" i="1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Appels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50 clients au niveau du Call Center pour la VIE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50 clients au niveau du Call Center pour l’IARD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50 clients au niveau présentiel pour les espaces conseils  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1" i="1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QR Code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94 clients ayant répondu pour la VIE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fr-FR" sz="1300" dirty="0">
                <a:solidFill>
                  <a:sysClr val="windowText" lastClr="000000"/>
                </a:solidFill>
              </a:rPr>
              <a:t>32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clients ayant répondu pour l’IARD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Total base échantillon  : 276 clients</a:t>
            </a: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EFD7E6AA-772C-8797-1407-EFCE966C21C2}"/>
              </a:ext>
            </a:extLst>
          </p:cNvPr>
          <p:cNvSpPr txBox="1">
            <a:spLocks/>
          </p:cNvSpPr>
          <p:nvPr/>
        </p:nvSpPr>
        <p:spPr>
          <a:xfrm>
            <a:off x="6607277" y="1071716"/>
            <a:ext cx="5145792" cy="5598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6183D"/>
              </a:buClr>
              <a:buFont typeface="Arial" panose="020B0604020202020204" pitchFamily="34" charset="0"/>
              <a:buChar char="■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­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­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­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3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Etape 2: L’élaboration du questionnaire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 est composé principalement de  questions reparties selon les thèmes suivants: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 Customer Satisfaction 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(CSAT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, le Customer Effort Score 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(CES) 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 le Net Promotion Score 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(NPS)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	</a:t>
            </a: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 comprend comme type de question: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 questions fermées à échelle ordinale  qui permettent de mesurer avec efficacité et rapidité le degré de satisfaction des clients, l’effort fourni pour avoir accès à l’information avec SUNU Assurances et la propension à recommander SUNU Assurances aux proches et amis 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Char char="■"/>
              <a:tabLst/>
              <a:defRPr/>
            </a:pPr>
            <a:r>
              <a:rPr kumimoji="0" lang="fr-FR" sz="13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Etape 3 : L’administration de l’enquête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L’enquête se fait via QR Code et Appels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3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Dépouillement et analyse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: 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Sosthène NIOBLE, Superviseur Espace Conseils Cosmos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3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Période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Semaine du 08 au 12</a:t>
            </a:r>
            <a:r>
              <a:rPr lang="fr-FR" sz="1300" dirty="0">
                <a:solidFill>
                  <a:sysClr val="windowText" lastClr="000000"/>
                </a:solidFill>
              </a:rPr>
              <a:t> Déc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2025 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79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E2BDA-6574-EF5C-7078-DA1CF2C0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A4724BAB-5FFF-3E9A-6095-E9C43A8B2D49}"/>
              </a:ext>
            </a:extLst>
          </p:cNvPr>
          <p:cNvSpPr txBox="1">
            <a:spLocks/>
          </p:cNvSpPr>
          <p:nvPr/>
        </p:nvSpPr>
        <p:spPr>
          <a:xfrm>
            <a:off x="2922951" y="2636301"/>
            <a:ext cx="7715552" cy="179804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 Restitution des résultats</a:t>
            </a:r>
          </a:p>
        </p:txBody>
      </p:sp>
    </p:spTree>
    <p:extLst>
      <p:ext uri="{BB962C8B-B14F-4D97-AF65-F5344CB8AC3E}">
        <p14:creationId xmlns:p14="http://schemas.microsoft.com/office/powerpoint/2010/main" val="278550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05153-DBF4-C777-41E9-382E6914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D9D6A4-367A-94B2-B58E-C307455F634D}"/>
              </a:ext>
            </a:extLst>
          </p:cNvPr>
          <p:cNvSpPr txBox="1">
            <a:spLocks/>
          </p:cNvSpPr>
          <p:nvPr/>
        </p:nvSpPr>
        <p:spPr>
          <a:xfrm>
            <a:off x="852295" y="175042"/>
            <a:ext cx="10943303" cy="66314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2.1. Présentation globale des résultats : Chiffres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9CF2A7-775F-E210-E66E-A3C86D476674}"/>
              </a:ext>
            </a:extLst>
          </p:cNvPr>
          <p:cNvSpPr txBox="1"/>
          <p:nvPr/>
        </p:nvSpPr>
        <p:spPr>
          <a:xfrm>
            <a:off x="-159298" y="1098247"/>
            <a:ext cx="2879294" cy="5539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CI" sz="1000" b="1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Méthode de calcul NPS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CI" sz="1000" b="1" i="1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(Net Promoter Score)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CI" sz="1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NPS = %promoteur - %détracteur</a:t>
            </a:r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79D94035-DD8A-FE3B-D02B-51521AB925D2}"/>
              </a:ext>
            </a:extLst>
          </p:cNvPr>
          <p:cNvSpPr txBox="1"/>
          <p:nvPr/>
        </p:nvSpPr>
        <p:spPr>
          <a:xfrm>
            <a:off x="36945" y="4971788"/>
            <a:ext cx="2504912" cy="5539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CI" sz="1000" b="1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Méthode de calcul CES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CI" sz="1000" b="1" i="1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(Customer Effort Score)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CI" sz="1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CES = %effort élevé - %effort faible </a:t>
            </a:r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1D1B7147-1A22-B772-3BB8-ED4D63AF9E32}"/>
              </a:ext>
            </a:extLst>
          </p:cNvPr>
          <p:cNvSpPr txBox="1"/>
          <p:nvPr/>
        </p:nvSpPr>
        <p:spPr>
          <a:xfrm>
            <a:off x="0" y="3172142"/>
            <a:ext cx="2528689" cy="5539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CI" sz="1000" b="1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Méthode de calcul CSAT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CI" sz="1000" b="1" i="1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(Customer SATisfaction)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CI" sz="1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CSAT = %satisfait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28049FF-3910-DDB3-0916-9EB301B4B0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563" y="3222351"/>
            <a:ext cx="289073" cy="28645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21C64A3-3022-47D5-BE88-9898048929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683" y="4962328"/>
            <a:ext cx="289073" cy="28645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BB8A8C7-BE28-CA3B-8995-70BED119384C}"/>
              </a:ext>
            </a:extLst>
          </p:cNvPr>
          <p:cNvSpPr txBox="1"/>
          <p:nvPr/>
        </p:nvSpPr>
        <p:spPr>
          <a:xfrm>
            <a:off x="8268929" y="5739773"/>
            <a:ext cx="391192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Tx/>
              <a:buNone/>
              <a:tabLst/>
              <a:defRPr/>
            </a:pPr>
            <a:r>
              <a:rPr kumimoji="0" lang="fr-FR" sz="9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Echantillon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194 clients ont répondu pour le périmètre VIE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82</a:t>
            </a:r>
            <a:r>
              <a:rPr lang="fr-FR" sz="9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clients ont répondu pour le périmètre IARD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6183D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Total base échantillon Sem. du 08 au 12</a:t>
            </a:r>
            <a:r>
              <a:rPr lang="fr-FR" sz="9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Déc. </a:t>
            </a: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2025 : 276 clients 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F74B05B-7B8C-309C-875D-E11063E23E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7914" y="1112016"/>
            <a:ext cx="293984" cy="291325"/>
          </a:xfrm>
          <a:prstGeom prst="rect">
            <a:avLst/>
          </a:prstGeom>
        </p:spPr>
      </p:pic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AED393DA-0C27-8FBC-F38F-91D14A03B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617400"/>
              </p:ext>
            </p:extLst>
          </p:nvPr>
        </p:nvGraphicFramePr>
        <p:xfrm>
          <a:off x="36945" y="1080394"/>
          <a:ext cx="8013700" cy="1991878"/>
        </p:xfrm>
        <a:graphic>
          <a:graphicData uri="http://schemas.openxmlformats.org/drawingml/2006/table">
            <a:tbl>
              <a:tblPr/>
              <a:tblGrid>
                <a:gridCol w="1358900">
                  <a:extLst>
                    <a:ext uri="{9D8B030D-6E8A-4147-A177-3AD203B41FA5}">
                      <a16:colId xmlns:a16="http://schemas.microsoft.com/office/drawing/2014/main" val="286829739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277638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12334037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573731833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356138025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5255546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29145713"/>
                    </a:ext>
                  </a:extLst>
                </a:gridCol>
                <a:gridCol w="756094">
                  <a:extLst>
                    <a:ext uri="{9D8B030D-6E8A-4147-A177-3AD203B41FA5}">
                      <a16:colId xmlns:a16="http://schemas.microsoft.com/office/drawing/2014/main" val="172452913"/>
                    </a:ext>
                  </a:extLst>
                </a:gridCol>
                <a:gridCol w="845574">
                  <a:extLst>
                    <a:ext uri="{9D8B030D-6E8A-4147-A177-3AD203B41FA5}">
                      <a16:colId xmlns:a16="http://schemas.microsoft.com/office/drawing/2014/main" val="2036662976"/>
                    </a:ext>
                  </a:extLst>
                </a:gridCol>
                <a:gridCol w="582732">
                  <a:extLst>
                    <a:ext uri="{9D8B030D-6E8A-4147-A177-3AD203B41FA5}">
                      <a16:colId xmlns:a16="http://schemas.microsoft.com/office/drawing/2014/main" val="541245933"/>
                    </a:ext>
                  </a:extLst>
                </a:gridCol>
              </a:tblGrid>
              <a:tr h="227450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Sem. du 08 au 12 Déc. 25</a:t>
                      </a:r>
                      <a:b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Sem. </a:t>
                      </a:r>
                      <a:b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du 08 au 12 Déc. 25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Sem. </a:t>
                      </a:r>
                      <a:b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du 1er au 05 Déc. 25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720989"/>
                  </a:ext>
                </a:extLst>
              </a:tr>
              <a:tr h="131134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QR Code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Appels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22799"/>
                  </a:ext>
                </a:extLst>
              </a:tr>
              <a:tr h="206068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Var. 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59397"/>
                  </a:ext>
                </a:extLst>
              </a:tr>
              <a:tr h="121767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Périmètre VIE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Promoteurs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276984"/>
                  </a:ext>
                </a:extLst>
              </a:tr>
              <a:tr h="11717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Passifs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585452"/>
                  </a:ext>
                </a:extLst>
              </a:tr>
              <a:tr h="11717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Détracteurs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173617"/>
                  </a:ext>
                </a:extLst>
              </a:tr>
              <a:tr h="12645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NPS Vie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715986"/>
                  </a:ext>
                </a:extLst>
              </a:tr>
              <a:tr h="140501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Périmètre IARD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Promoteurs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983543"/>
                  </a:ext>
                </a:extLst>
              </a:tr>
              <a:tr h="11717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Passifs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887530"/>
                  </a:ext>
                </a:extLst>
              </a:tr>
              <a:tr h="11717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Détracteurs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152888"/>
                  </a:ext>
                </a:extLst>
              </a:tr>
              <a:tr h="11717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NPS IARD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489977"/>
                  </a:ext>
                </a:extLst>
              </a:tr>
              <a:tr h="168601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Nbre total de clients 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870248"/>
                  </a:ext>
                </a:extLst>
              </a:tr>
              <a:tr h="1873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 NPS 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78%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79%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349096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D5471B80-81EA-C274-F038-151CF1AAD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049376"/>
              </p:ext>
            </p:extLst>
          </p:nvPr>
        </p:nvGraphicFramePr>
        <p:xfrm>
          <a:off x="54567" y="3198707"/>
          <a:ext cx="8013700" cy="1693888"/>
        </p:xfrm>
        <a:graphic>
          <a:graphicData uri="http://schemas.openxmlformats.org/drawingml/2006/table">
            <a:tbl>
              <a:tblPr/>
              <a:tblGrid>
                <a:gridCol w="1279800">
                  <a:extLst>
                    <a:ext uri="{9D8B030D-6E8A-4147-A177-3AD203B41FA5}">
                      <a16:colId xmlns:a16="http://schemas.microsoft.com/office/drawing/2014/main" val="2385326700"/>
                    </a:ext>
                  </a:extLst>
                </a:gridCol>
                <a:gridCol w="1337678">
                  <a:extLst>
                    <a:ext uri="{9D8B030D-6E8A-4147-A177-3AD203B41FA5}">
                      <a16:colId xmlns:a16="http://schemas.microsoft.com/office/drawing/2014/main" val="2269900850"/>
                    </a:ext>
                  </a:extLst>
                </a:gridCol>
                <a:gridCol w="576041">
                  <a:extLst>
                    <a:ext uri="{9D8B030D-6E8A-4147-A177-3AD203B41FA5}">
                      <a16:colId xmlns:a16="http://schemas.microsoft.com/office/drawing/2014/main" val="2282126053"/>
                    </a:ext>
                  </a:extLst>
                </a:gridCol>
                <a:gridCol w="586077">
                  <a:extLst>
                    <a:ext uri="{9D8B030D-6E8A-4147-A177-3AD203B41FA5}">
                      <a16:colId xmlns:a16="http://schemas.microsoft.com/office/drawing/2014/main" val="965282553"/>
                    </a:ext>
                  </a:extLst>
                </a:gridCol>
                <a:gridCol w="586077">
                  <a:extLst>
                    <a:ext uri="{9D8B030D-6E8A-4147-A177-3AD203B41FA5}">
                      <a16:colId xmlns:a16="http://schemas.microsoft.com/office/drawing/2014/main" val="4049642725"/>
                    </a:ext>
                  </a:extLst>
                </a:gridCol>
                <a:gridCol w="717644">
                  <a:extLst>
                    <a:ext uri="{9D8B030D-6E8A-4147-A177-3AD203B41FA5}">
                      <a16:colId xmlns:a16="http://schemas.microsoft.com/office/drawing/2014/main" val="2879537105"/>
                    </a:ext>
                  </a:extLst>
                </a:gridCol>
                <a:gridCol w="717644">
                  <a:extLst>
                    <a:ext uri="{9D8B030D-6E8A-4147-A177-3AD203B41FA5}">
                      <a16:colId xmlns:a16="http://schemas.microsoft.com/office/drawing/2014/main" val="492557847"/>
                    </a:ext>
                  </a:extLst>
                </a:gridCol>
                <a:gridCol w="825292">
                  <a:extLst>
                    <a:ext uri="{9D8B030D-6E8A-4147-A177-3AD203B41FA5}">
                      <a16:colId xmlns:a16="http://schemas.microsoft.com/office/drawing/2014/main" val="1536342034"/>
                    </a:ext>
                  </a:extLst>
                </a:gridCol>
                <a:gridCol w="825292">
                  <a:extLst>
                    <a:ext uri="{9D8B030D-6E8A-4147-A177-3AD203B41FA5}">
                      <a16:colId xmlns:a16="http://schemas.microsoft.com/office/drawing/2014/main" val="2368777859"/>
                    </a:ext>
                  </a:extLst>
                </a:gridCol>
                <a:gridCol w="562155">
                  <a:extLst>
                    <a:ext uri="{9D8B030D-6E8A-4147-A177-3AD203B41FA5}">
                      <a16:colId xmlns:a16="http://schemas.microsoft.com/office/drawing/2014/main" val="3546870392"/>
                    </a:ext>
                  </a:extLst>
                </a:gridCol>
              </a:tblGrid>
              <a:tr h="219345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Sem. du 08 au 12 Déc. 25</a:t>
                      </a:r>
                      <a:b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Sem. </a:t>
                      </a:r>
                      <a:b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du 08 au 12 Déc. 25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Sem. </a:t>
                      </a:r>
                      <a:b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du 1er au 05 Déc. 25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786683"/>
                  </a:ext>
                </a:extLst>
              </a:tr>
              <a:tr h="129448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QR Code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Appels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2258"/>
                  </a:ext>
                </a:extLst>
              </a:tr>
              <a:tr h="187477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Var. 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12958"/>
                  </a:ext>
                </a:extLst>
              </a:tr>
              <a:tr h="116058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Périmètre VIE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Satisfaits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767474"/>
                  </a:ext>
                </a:extLst>
              </a:tr>
              <a:tr h="11605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Insatisfaits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96101"/>
                  </a:ext>
                </a:extLst>
              </a:tr>
              <a:tr h="11299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CSAT Vie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381847"/>
                  </a:ext>
                </a:extLst>
              </a:tr>
              <a:tr h="124985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Périmètre IARD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Satisfaits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61746"/>
                  </a:ext>
                </a:extLst>
              </a:tr>
              <a:tr h="11299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Insatisfaits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970295"/>
                  </a:ext>
                </a:extLst>
              </a:tr>
              <a:tr h="11299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CSAT IARD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203717"/>
                  </a:ext>
                </a:extLst>
              </a:tr>
              <a:tr h="160694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Nbre total de clients 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720894"/>
                  </a:ext>
                </a:extLst>
              </a:tr>
              <a:tr h="18747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CSAT 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92%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91%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99928"/>
                  </a:ext>
                </a:extLst>
              </a:tr>
            </a:tbl>
          </a:graphicData>
        </a:graphic>
      </p:graphicFrame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FABE8F38-E79C-A0F0-2AE7-8DCFD956D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83443"/>
              </p:ext>
            </p:extLst>
          </p:nvPr>
        </p:nvGraphicFramePr>
        <p:xfrm>
          <a:off x="54567" y="4983278"/>
          <a:ext cx="8013700" cy="1832622"/>
        </p:xfrm>
        <a:graphic>
          <a:graphicData uri="http://schemas.openxmlformats.org/drawingml/2006/table">
            <a:tbl>
              <a:tblPr/>
              <a:tblGrid>
                <a:gridCol w="1279800">
                  <a:extLst>
                    <a:ext uri="{9D8B030D-6E8A-4147-A177-3AD203B41FA5}">
                      <a16:colId xmlns:a16="http://schemas.microsoft.com/office/drawing/2014/main" val="792274694"/>
                    </a:ext>
                  </a:extLst>
                </a:gridCol>
                <a:gridCol w="1308468">
                  <a:extLst>
                    <a:ext uri="{9D8B030D-6E8A-4147-A177-3AD203B41FA5}">
                      <a16:colId xmlns:a16="http://schemas.microsoft.com/office/drawing/2014/main" val="1414940733"/>
                    </a:ext>
                  </a:extLst>
                </a:gridCol>
                <a:gridCol w="605251">
                  <a:extLst>
                    <a:ext uri="{9D8B030D-6E8A-4147-A177-3AD203B41FA5}">
                      <a16:colId xmlns:a16="http://schemas.microsoft.com/office/drawing/2014/main" val="3239699146"/>
                    </a:ext>
                  </a:extLst>
                </a:gridCol>
                <a:gridCol w="586077">
                  <a:extLst>
                    <a:ext uri="{9D8B030D-6E8A-4147-A177-3AD203B41FA5}">
                      <a16:colId xmlns:a16="http://schemas.microsoft.com/office/drawing/2014/main" val="3194049783"/>
                    </a:ext>
                  </a:extLst>
                </a:gridCol>
                <a:gridCol w="586077">
                  <a:extLst>
                    <a:ext uri="{9D8B030D-6E8A-4147-A177-3AD203B41FA5}">
                      <a16:colId xmlns:a16="http://schemas.microsoft.com/office/drawing/2014/main" val="364908798"/>
                    </a:ext>
                  </a:extLst>
                </a:gridCol>
                <a:gridCol w="717645">
                  <a:extLst>
                    <a:ext uri="{9D8B030D-6E8A-4147-A177-3AD203B41FA5}">
                      <a16:colId xmlns:a16="http://schemas.microsoft.com/office/drawing/2014/main" val="208648778"/>
                    </a:ext>
                  </a:extLst>
                </a:gridCol>
                <a:gridCol w="717645">
                  <a:extLst>
                    <a:ext uri="{9D8B030D-6E8A-4147-A177-3AD203B41FA5}">
                      <a16:colId xmlns:a16="http://schemas.microsoft.com/office/drawing/2014/main" val="3005067685"/>
                    </a:ext>
                  </a:extLst>
                </a:gridCol>
                <a:gridCol w="798866">
                  <a:extLst>
                    <a:ext uri="{9D8B030D-6E8A-4147-A177-3AD203B41FA5}">
                      <a16:colId xmlns:a16="http://schemas.microsoft.com/office/drawing/2014/main" val="2485355899"/>
                    </a:ext>
                  </a:extLst>
                </a:gridCol>
                <a:gridCol w="825910">
                  <a:extLst>
                    <a:ext uri="{9D8B030D-6E8A-4147-A177-3AD203B41FA5}">
                      <a16:colId xmlns:a16="http://schemas.microsoft.com/office/drawing/2014/main" val="663519980"/>
                    </a:ext>
                  </a:extLst>
                </a:gridCol>
                <a:gridCol w="587961">
                  <a:extLst>
                    <a:ext uri="{9D8B030D-6E8A-4147-A177-3AD203B41FA5}">
                      <a16:colId xmlns:a16="http://schemas.microsoft.com/office/drawing/2014/main" val="142989346"/>
                    </a:ext>
                  </a:extLst>
                </a:gridCol>
              </a:tblGrid>
              <a:tr h="173549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Sem. du 08 au 12 Déc. 25</a:t>
                      </a:r>
                      <a:b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Sem. </a:t>
                      </a:r>
                      <a:b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du 08 au 12 Déc. 25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Sem. </a:t>
                      </a:r>
                      <a:b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du 1er au 05 Déc. 25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652824"/>
                  </a:ext>
                </a:extLst>
              </a:tr>
              <a:tr h="130619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QR Code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Appels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888556"/>
                  </a:ext>
                </a:extLst>
              </a:tr>
              <a:tr h="140667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Var. Nbre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953831"/>
                  </a:ext>
                </a:extLst>
              </a:tr>
              <a:tr h="89404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Périmètre VIE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Effort faible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847878"/>
                  </a:ext>
                </a:extLst>
              </a:tr>
              <a:tr h="8940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Effort modéré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913652"/>
                  </a:ext>
                </a:extLst>
              </a:tr>
              <a:tr h="8940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Effort élevé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801211"/>
                  </a:ext>
                </a:extLst>
              </a:tr>
              <a:tr h="9042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CES Vie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-90%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-89%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-90%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99873"/>
                  </a:ext>
                </a:extLst>
              </a:tr>
              <a:tr h="89404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Périmètre IARD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Effort faible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758083"/>
                  </a:ext>
                </a:extLst>
              </a:tr>
              <a:tr h="8940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Effort modéré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929472"/>
                  </a:ext>
                </a:extLst>
              </a:tr>
              <a:tr h="8940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Effort élevé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125287"/>
                  </a:ext>
                </a:extLst>
              </a:tr>
              <a:tr h="8940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CES IARD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-47%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-66%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-59%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311143"/>
                  </a:ext>
                </a:extLst>
              </a:tr>
              <a:tr h="120572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Nbre total de clients 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580109"/>
                  </a:ext>
                </a:extLst>
              </a:tr>
              <a:tr h="144016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CES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-79%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26708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80D51FC-03D1-FB47-7E45-05857C233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67986"/>
              </p:ext>
            </p:extLst>
          </p:nvPr>
        </p:nvGraphicFramePr>
        <p:xfrm>
          <a:off x="8448616" y="1495217"/>
          <a:ext cx="1906966" cy="350520"/>
        </p:xfrm>
        <a:graphic>
          <a:graphicData uri="http://schemas.openxmlformats.org/drawingml/2006/table">
            <a:tbl>
              <a:tblPr/>
              <a:tblGrid>
                <a:gridCol w="953483">
                  <a:extLst>
                    <a:ext uri="{9D8B030D-6E8A-4147-A177-3AD203B41FA5}">
                      <a16:colId xmlns:a16="http://schemas.microsoft.com/office/drawing/2014/main" val="1370947710"/>
                    </a:ext>
                  </a:extLst>
                </a:gridCol>
                <a:gridCol w="953483">
                  <a:extLst>
                    <a:ext uri="{9D8B030D-6E8A-4147-A177-3AD203B41FA5}">
                      <a16:colId xmlns:a16="http://schemas.microsoft.com/office/drawing/2014/main" val="63466843"/>
                    </a:ext>
                  </a:extLst>
                </a:gridCol>
              </a:tblGrid>
              <a:tr h="16761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QR Code: 85%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54195"/>
                  </a:ext>
                </a:extLst>
              </a:tr>
              <a:tr h="1313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Appels: 78%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791066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445DB68-F85E-E733-7CC4-D7AD935C3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693915"/>
              </p:ext>
            </p:extLst>
          </p:nvPr>
        </p:nvGraphicFramePr>
        <p:xfrm>
          <a:off x="8448616" y="5248787"/>
          <a:ext cx="2099144" cy="395681"/>
        </p:xfrm>
        <a:graphic>
          <a:graphicData uri="http://schemas.openxmlformats.org/drawingml/2006/table">
            <a:tbl>
              <a:tblPr/>
              <a:tblGrid>
                <a:gridCol w="1049572">
                  <a:extLst>
                    <a:ext uri="{9D8B030D-6E8A-4147-A177-3AD203B41FA5}">
                      <a16:colId xmlns:a16="http://schemas.microsoft.com/office/drawing/2014/main" val="1370947710"/>
                    </a:ext>
                  </a:extLst>
                </a:gridCol>
                <a:gridCol w="1049572">
                  <a:extLst>
                    <a:ext uri="{9D8B030D-6E8A-4147-A177-3AD203B41FA5}">
                      <a16:colId xmlns:a16="http://schemas.microsoft.com/office/drawing/2014/main" val="63466843"/>
                    </a:ext>
                  </a:extLst>
                </a:gridCol>
              </a:tblGrid>
              <a:tr h="22042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QR Code: -80%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54195"/>
                  </a:ext>
                </a:extLst>
              </a:tr>
              <a:tr h="1301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Appels: -85%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791066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B736A9E2-CBFA-DD3E-CD6F-5815E5004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535170"/>
              </p:ext>
            </p:extLst>
          </p:nvPr>
        </p:nvGraphicFramePr>
        <p:xfrm>
          <a:off x="8513384" y="3598937"/>
          <a:ext cx="2186346" cy="350520"/>
        </p:xfrm>
        <a:graphic>
          <a:graphicData uri="http://schemas.openxmlformats.org/drawingml/2006/table">
            <a:tbl>
              <a:tblPr/>
              <a:tblGrid>
                <a:gridCol w="1093173">
                  <a:extLst>
                    <a:ext uri="{9D8B030D-6E8A-4147-A177-3AD203B41FA5}">
                      <a16:colId xmlns:a16="http://schemas.microsoft.com/office/drawing/2014/main" val="1370947710"/>
                    </a:ext>
                  </a:extLst>
                </a:gridCol>
                <a:gridCol w="1093173">
                  <a:extLst>
                    <a:ext uri="{9D8B030D-6E8A-4147-A177-3AD203B41FA5}">
                      <a16:colId xmlns:a16="http://schemas.microsoft.com/office/drawing/2014/main" val="63466843"/>
                    </a:ext>
                  </a:extLst>
                </a:gridCol>
              </a:tblGrid>
              <a:tr h="16761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QR Code: 95%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54195"/>
                  </a:ext>
                </a:extLst>
              </a:tr>
              <a:tr h="1313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Appels: 89%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791066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385ADBF-AE1D-125A-A597-D8620B05E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007191"/>
              </p:ext>
            </p:extLst>
          </p:nvPr>
        </p:nvGraphicFramePr>
        <p:xfrm>
          <a:off x="8448616" y="1107580"/>
          <a:ext cx="1562836" cy="350521"/>
        </p:xfrm>
        <a:graphic>
          <a:graphicData uri="http://schemas.openxmlformats.org/drawingml/2006/table">
            <a:tbl>
              <a:tblPr/>
              <a:tblGrid>
                <a:gridCol w="1562836">
                  <a:extLst>
                    <a:ext uri="{9D8B030D-6E8A-4147-A177-3AD203B41FA5}">
                      <a16:colId xmlns:a16="http://schemas.microsoft.com/office/drawing/2014/main" val="2360126470"/>
                    </a:ext>
                  </a:extLst>
                </a:gridCol>
              </a:tblGrid>
              <a:tr h="350521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NPS : 81%</a:t>
                      </a:r>
                      <a:r>
                        <a:rPr lang="fr-F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791066"/>
                  </a:ext>
                </a:extLst>
              </a:tr>
            </a:tbl>
          </a:graphicData>
        </a:graphic>
      </p:graphicFrame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163B4BED-677C-3F2D-D537-7F2075C8B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717407"/>
              </p:ext>
            </p:extLst>
          </p:nvPr>
        </p:nvGraphicFramePr>
        <p:xfrm>
          <a:off x="8513384" y="3198707"/>
          <a:ext cx="1562836" cy="350521"/>
        </p:xfrm>
        <a:graphic>
          <a:graphicData uri="http://schemas.openxmlformats.org/drawingml/2006/table">
            <a:tbl>
              <a:tblPr/>
              <a:tblGrid>
                <a:gridCol w="1562836">
                  <a:extLst>
                    <a:ext uri="{9D8B030D-6E8A-4147-A177-3AD203B41FA5}">
                      <a16:colId xmlns:a16="http://schemas.microsoft.com/office/drawing/2014/main" val="2360126470"/>
                    </a:ext>
                  </a:extLst>
                </a:gridCol>
              </a:tblGrid>
              <a:tr h="350521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CSAT : 92%</a:t>
                      </a:r>
                      <a:r>
                        <a:rPr lang="fr-F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791066"/>
                  </a:ext>
                </a:extLst>
              </a:tr>
            </a:tbl>
          </a:graphicData>
        </a:graphic>
      </p:graphicFrame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BA5B5122-EBE9-56E7-97D3-3E5674EB0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822124"/>
              </p:ext>
            </p:extLst>
          </p:nvPr>
        </p:nvGraphicFramePr>
        <p:xfrm>
          <a:off x="8481000" y="4808017"/>
          <a:ext cx="1498068" cy="350521"/>
        </p:xfrm>
        <a:graphic>
          <a:graphicData uri="http://schemas.openxmlformats.org/drawingml/2006/table">
            <a:tbl>
              <a:tblPr/>
              <a:tblGrid>
                <a:gridCol w="1498068">
                  <a:extLst>
                    <a:ext uri="{9D8B030D-6E8A-4147-A177-3AD203B41FA5}">
                      <a16:colId xmlns:a16="http://schemas.microsoft.com/office/drawing/2014/main" val="2360126470"/>
                    </a:ext>
                  </a:extLst>
                </a:gridCol>
              </a:tblGrid>
              <a:tr h="350521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CES : -80%</a:t>
                      </a:r>
                      <a:r>
                        <a:rPr lang="fr-F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79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45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83BF4-E1DD-75B2-08E5-3F341E0CF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D536A-F1B6-B62D-F32B-F96BA340AA24}"/>
              </a:ext>
            </a:extLst>
          </p:cNvPr>
          <p:cNvSpPr txBox="1">
            <a:spLocks/>
          </p:cNvSpPr>
          <p:nvPr/>
        </p:nvSpPr>
        <p:spPr>
          <a:xfrm>
            <a:off x="1032388" y="188008"/>
            <a:ext cx="10903974" cy="7081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2.3. Résultats Périmètre VIE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30D87C2-46C5-BEA4-5078-630E7D317049}"/>
              </a:ext>
            </a:extLst>
          </p:cNvPr>
          <p:cNvSpPr txBox="1"/>
          <p:nvPr/>
        </p:nvSpPr>
        <p:spPr>
          <a:xfrm>
            <a:off x="4286865" y="5094168"/>
            <a:ext cx="3656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97%</a:t>
            </a:r>
            <a:r>
              <a:rPr lang="fr-CI" sz="1200" dirty="0">
                <a:solidFill>
                  <a:srgbClr val="C00000"/>
                </a:solidFill>
                <a:latin typeface="Arial"/>
              </a:rPr>
              <a:t> 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des clients interrogés sont satisfaits du traitement de leurs requêtes contre</a:t>
            </a:r>
          </a:p>
          <a:p>
            <a:pPr algn="just">
              <a:defRPr/>
            </a:pP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3%</a:t>
            </a:r>
            <a:r>
              <a:rPr lang="fr-CI" sz="1200" b="1" dirty="0">
                <a:solidFill>
                  <a:prstClr val="black"/>
                </a:solidFill>
                <a:latin typeface="Arial"/>
              </a:rPr>
              <a:t> 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d’insatisfaits </a:t>
            </a:r>
          </a:p>
          <a:p>
            <a:pPr algn="just">
              <a:defRPr/>
            </a:pPr>
            <a:endParaRPr lang="fr-CI" sz="1200" b="1" i="1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D41E046-87E9-4D48-BA10-542EC0630B83}"/>
              </a:ext>
            </a:extLst>
          </p:cNvPr>
          <p:cNvSpPr txBox="1"/>
          <p:nvPr/>
        </p:nvSpPr>
        <p:spPr>
          <a:xfrm>
            <a:off x="111881" y="1125880"/>
            <a:ext cx="3513044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6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Clients ayant participé le sondage </a:t>
            </a:r>
          </a:p>
          <a:p>
            <a:pPr>
              <a:defRPr/>
            </a:pPr>
            <a:endParaRPr lang="fr-FR" b="1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318167F9-8079-6BA4-47F4-C8EE40846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856099"/>
              </p:ext>
            </p:extLst>
          </p:nvPr>
        </p:nvGraphicFramePr>
        <p:xfrm>
          <a:off x="136282" y="1506826"/>
          <a:ext cx="3488643" cy="311216"/>
        </p:xfrm>
        <a:graphic>
          <a:graphicData uri="http://schemas.openxmlformats.org/drawingml/2006/table">
            <a:tbl>
              <a:tblPr/>
              <a:tblGrid>
                <a:gridCol w="1428683">
                  <a:extLst>
                    <a:ext uri="{9D8B030D-6E8A-4147-A177-3AD203B41FA5}">
                      <a16:colId xmlns:a16="http://schemas.microsoft.com/office/drawing/2014/main" val="3950295724"/>
                    </a:ext>
                  </a:extLst>
                </a:gridCol>
                <a:gridCol w="1029980">
                  <a:extLst>
                    <a:ext uri="{9D8B030D-6E8A-4147-A177-3AD203B41FA5}">
                      <a16:colId xmlns:a16="http://schemas.microsoft.com/office/drawing/2014/main" val="799972902"/>
                    </a:ext>
                  </a:extLst>
                </a:gridCol>
                <a:gridCol w="1029980">
                  <a:extLst>
                    <a:ext uri="{9D8B030D-6E8A-4147-A177-3AD203B41FA5}">
                      <a16:colId xmlns:a16="http://schemas.microsoft.com/office/drawing/2014/main" val="2866897064"/>
                    </a:ext>
                  </a:extLst>
                </a:gridCol>
              </a:tblGrid>
              <a:tr h="31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fr-FR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T</a:t>
                      </a:r>
                      <a:r>
                        <a:rPr lang="fr-CI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fr-FR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194</a:t>
                      </a:r>
                      <a:endParaRPr lang="fr-CI" sz="13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fr-FR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1</a:t>
                      </a:r>
                      <a:r>
                        <a:rPr lang="fr-CI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335216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70F1B3B5-E066-C0FB-1B5C-205B08A157D0}"/>
              </a:ext>
            </a:extLst>
          </p:cNvPr>
          <p:cNvSpPr txBox="1"/>
          <p:nvPr/>
        </p:nvSpPr>
        <p:spPr>
          <a:xfrm>
            <a:off x="111881" y="5925165"/>
            <a:ext cx="3513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93%</a:t>
            </a:r>
            <a:r>
              <a:rPr lang="fr-CI" sz="1200" b="1" dirty="0">
                <a:solidFill>
                  <a:prstClr val="black"/>
                </a:solidFill>
                <a:latin typeface="Arial"/>
              </a:rPr>
              <a:t> 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des clients  interrogés estiment avoir fourni un faible effort  pour avoir accès à l’information recherchée au niveau de la VIE contre </a:t>
            </a:r>
          </a:p>
          <a:p>
            <a:pPr algn="just">
              <a:defRPr/>
            </a:pP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3%</a:t>
            </a:r>
            <a:r>
              <a:rPr lang="fr-CI" sz="1200" b="1" dirty="0">
                <a:solidFill>
                  <a:prstClr val="black"/>
                </a:solidFill>
                <a:latin typeface="Arial"/>
              </a:rPr>
              <a:t> 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d’effort modéré et </a:t>
            </a: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4%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 d’effort élevé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126D804-049B-BD6A-B006-30DD8B4792E0}"/>
              </a:ext>
            </a:extLst>
          </p:cNvPr>
          <p:cNvSpPr txBox="1"/>
          <p:nvPr/>
        </p:nvSpPr>
        <p:spPr>
          <a:xfrm>
            <a:off x="8298427" y="4827638"/>
            <a:ext cx="37816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fr-CI" sz="1200" dirty="0">
                <a:solidFill>
                  <a:prstClr val="black"/>
                </a:solidFill>
                <a:latin typeface="Arial"/>
              </a:rPr>
              <a:t>A la question de savoir, </a:t>
            </a:r>
            <a:r>
              <a:rPr lang="fr-FR" sz="1200" dirty="0">
                <a:solidFill>
                  <a:prstClr val="black"/>
                </a:solidFill>
                <a:latin typeface="Arial"/>
              </a:rPr>
              <a:t>quelle est la probabilité pour vous de recommander SUNU Assurances comme assureur à vos proches, amis et connaissances? </a:t>
            </a:r>
            <a:r>
              <a:rPr lang="fr-FR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93%</a:t>
            </a:r>
            <a:r>
              <a:rPr lang="fr-FR" sz="1200" dirty="0">
                <a:solidFill>
                  <a:srgbClr val="C00000"/>
                </a:solidFill>
                <a:latin typeface="Arial"/>
              </a:rPr>
              <a:t> </a:t>
            </a:r>
            <a:r>
              <a:rPr lang="fr-FR" sz="1200" dirty="0">
                <a:solidFill>
                  <a:prstClr val="black"/>
                </a:solidFill>
                <a:latin typeface="Arial"/>
              </a:rPr>
              <a:t>des clients sondés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 estiment pouvoir recommander fortement SUNU Assurances contre </a:t>
            </a: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3%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 de passifs et </a:t>
            </a: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4% 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de détracteurs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8AC19CF-EFBD-59BF-DEC2-8A8CAC0A1C90}"/>
              </a:ext>
            </a:extLst>
          </p:cNvPr>
          <p:cNvSpPr txBox="1"/>
          <p:nvPr/>
        </p:nvSpPr>
        <p:spPr>
          <a:xfrm>
            <a:off x="4081943" y="6009855"/>
            <a:ext cx="7775759" cy="8309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CI" sz="1200" b="1" u="sng" dirty="0">
                <a:solidFill>
                  <a:prstClr val="black"/>
                </a:solidFill>
                <a:latin typeface="Arial"/>
              </a:rPr>
              <a:t>Conclusion</a:t>
            </a:r>
            <a:r>
              <a:rPr lang="fr-CI" sz="1200" b="1" dirty="0">
                <a:solidFill>
                  <a:prstClr val="black"/>
                </a:solidFill>
                <a:latin typeface="Arial"/>
              </a:rPr>
              <a:t> :</a:t>
            </a:r>
          </a:p>
          <a:p>
            <a:pPr algn="ctr">
              <a:defRPr/>
            </a:pPr>
            <a:r>
              <a:rPr lang="fr-CI" sz="1200" b="1" dirty="0">
                <a:solidFill>
                  <a:prstClr val="black"/>
                </a:solidFill>
                <a:latin typeface="Arial"/>
              </a:rPr>
              <a:t> </a:t>
            </a:r>
            <a:r>
              <a:rPr lang="fr-FR" sz="1200" b="1" dirty="0">
                <a:solidFill>
                  <a:prstClr val="black"/>
                </a:solidFill>
                <a:latin typeface="Arial"/>
              </a:rPr>
              <a:t>Les indicateurs CES et CSAT confirment la confiance que nos clients placent en SUNU Assurances. Cette satisfaction durable renforce notre engagement et transforme nos assurés en partenaires fidèles, prêts à recommander notre compagnie à leurs proches. </a:t>
            </a:r>
            <a:endParaRPr lang="fr-CI" sz="1200" b="1" dirty="0">
              <a:solidFill>
                <a:prstClr val="black"/>
              </a:solidFill>
              <a:latin typeface="Arial"/>
            </a:endParaRPr>
          </a:p>
        </p:txBody>
      </p:sp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3CE6DC59-3CCF-4D2C-8A4D-4E18F22A0C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037167"/>
              </p:ext>
            </p:extLst>
          </p:nvPr>
        </p:nvGraphicFramePr>
        <p:xfrm>
          <a:off x="8360919" y="1125880"/>
          <a:ext cx="3656708" cy="3701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221017E1-A01F-468C-B820-0DF4C0C197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082364"/>
              </p:ext>
            </p:extLst>
          </p:nvPr>
        </p:nvGraphicFramePr>
        <p:xfrm>
          <a:off x="122033" y="1971202"/>
          <a:ext cx="3488642" cy="3682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Graphique 12">
            <a:extLst>
              <a:ext uri="{FF2B5EF4-FFF2-40B4-BE49-F238E27FC236}">
                <a16:creationId xmlns:a16="http://schemas.microsoft.com/office/drawing/2014/main" id="{DBDA6D3E-D1BE-430A-9F47-BEFF38FC4E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6065997"/>
              </p:ext>
            </p:extLst>
          </p:nvPr>
        </p:nvGraphicFramePr>
        <p:xfrm>
          <a:off x="3996776" y="1140463"/>
          <a:ext cx="3978042" cy="3701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16571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2EAEB-DE28-6084-0E71-6545197FD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29B1C5-94D8-5EB0-ACD0-BA25A83E3EA5}"/>
              </a:ext>
            </a:extLst>
          </p:cNvPr>
          <p:cNvSpPr txBox="1">
            <a:spLocks/>
          </p:cNvSpPr>
          <p:nvPr/>
        </p:nvSpPr>
        <p:spPr>
          <a:xfrm>
            <a:off x="1032388" y="188008"/>
            <a:ext cx="10903974" cy="7081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2.4. Résultats Périmètre IARD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2A9C29-7693-83D6-AE8F-898D9C7F654E}"/>
              </a:ext>
            </a:extLst>
          </p:cNvPr>
          <p:cNvSpPr txBox="1"/>
          <p:nvPr/>
        </p:nvSpPr>
        <p:spPr>
          <a:xfrm>
            <a:off x="4339478" y="4966417"/>
            <a:ext cx="3513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79%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 des clients interrogés sont satisfaits du traitement de leurs requêtes contre </a:t>
            </a:r>
          </a:p>
          <a:p>
            <a:pPr algn="just">
              <a:defRPr/>
            </a:pP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21%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 d’insatisfaits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88080A-849A-5E1F-348C-375246263B83}"/>
              </a:ext>
            </a:extLst>
          </p:cNvPr>
          <p:cNvSpPr txBox="1"/>
          <p:nvPr/>
        </p:nvSpPr>
        <p:spPr>
          <a:xfrm>
            <a:off x="111880" y="1125880"/>
            <a:ext cx="3681459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6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Clients ayant participé au sondage </a:t>
            </a:r>
          </a:p>
          <a:p>
            <a:pPr>
              <a:defRPr/>
            </a:pPr>
            <a:endParaRPr lang="fr-FR" b="1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B42B0782-F3F1-0C9D-A5FF-0A6FEC56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057177"/>
              </p:ext>
            </p:extLst>
          </p:nvPr>
        </p:nvGraphicFramePr>
        <p:xfrm>
          <a:off x="136282" y="1506826"/>
          <a:ext cx="3531388" cy="311216"/>
        </p:xfrm>
        <a:graphic>
          <a:graphicData uri="http://schemas.openxmlformats.org/drawingml/2006/table">
            <a:tbl>
              <a:tblPr/>
              <a:tblGrid>
                <a:gridCol w="1446188">
                  <a:extLst>
                    <a:ext uri="{9D8B030D-6E8A-4147-A177-3AD203B41FA5}">
                      <a16:colId xmlns:a16="http://schemas.microsoft.com/office/drawing/2014/main" val="3950295724"/>
                    </a:ext>
                  </a:extLst>
                </a:gridCol>
                <a:gridCol w="1042600">
                  <a:extLst>
                    <a:ext uri="{9D8B030D-6E8A-4147-A177-3AD203B41FA5}">
                      <a16:colId xmlns:a16="http://schemas.microsoft.com/office/drawing/2014/main" val="799972902"/>
                    </a:ext>
                  </a:extLst>
                </a:gridCol>
                <a:gridCol w="1042600">
                  <a:extLst>
                    <a:ext uri="{9D8B030D-6E8A-4147-A177-3AD203B41FA5}">
                      <a16:colId xmlns:a16="http://schemas.microsoft.com/office/drawing/2014/main" val="2866897064"/>
                    </a:ext>
                  </a:extLst>
                </a:gridCol>
              </a:tblGrid>
              <a:tr h="31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fr-FR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T</a:t>
                      </a:r>
                      <a:r>
                        <a:rPr lang="fr-CI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fr-FR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82</a:t>
                      </a:r>
                      <a:endParaRPr lang="fr-CI" sz="13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fr-FR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1</a:t>
                      </a:r>
                      <a:r>
                        <a:rPr lang="fr-CI" sz="13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</a:rPr>
                        <a:t>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335216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4688F008-8477-3CF2-2E8E-7D868130E147}"/>
              </a:ext>
            </a:extLst>
          </p:cNvPr>
          <p:cNvSpPr txBox="1"/>
          <p:nvPr/>
        </p:nvSpPr>
        <p:spPr>
          <a:xfrm>
            <a:off x="39305" y="5889748"/>
            <a:ext cx="3513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74% 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des clients  interrogés estiment avoir fourni un faible effort  pour avoir accès à l’information recherchée au niveau 12e l’IARD contre </a:t>
            </a:r>
          </a:p>
          <a:p>
            <a:pPr algn="just">
              <a:defRPr/>
            </a:pP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10%</a:t>
            </a:r>
            <a:r>
              <a:rPr lang="fr-CI" sz="1200" b="1" dirty="0">
                <a:solidFill>
                  <a:prstClr val="black"/>
                </a:solidFill>
                <a:latin typeface="Arial"/>
              </a:rPr>
              <a:t> 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d’effort modéré et </a:t>
            </a: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16%</a:t>
            </a:r>
            <a:r>
              <a:rPr lang="fr-CI" sz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 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d’effort élevé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309B4B-BB18-2DFF-D242-9CE0DB76896A}"/>
              </a:ext>
            </a:extLst>
          </p:cNvPr>
          <p:cNvSpPr txBox="1"/>
          <p:nvPr/>
        </p:nvSpPr>
        <p:spPr>
          <a:xfrm>
            <a:off x="8093435" y="4689419"/>
            <a:ext cx="40985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fr-CI" sz="1200" dirty="0">
                <a:solidFill>
                  <a:prstClr val="black"/>
                </a:solidFill>
                <a:latin typeface="Arial"/>
              </a:rPr>
              <a:t>A la question de savoir, </a:t>
            </a:r>
            <a:r>
              <a:rPr lang="fr-FR" sz="1200" dirty="0">
                <a:solidFill>
                  <a:prstClr val="black"/>
                </a:solidFill>
                <a:latin typeface="Arial"/>
              </a:rPr>
              <a:t>quelle est la probabilité pour vous de recommander SUNU Assurances comme assureur à vos proches, amis et connaissances? </a:t>
            </a:r>
          </a:p>
          <a:p>
            <a:pPr algn="just">
              <a:defRPr/>
            </a:pPr>
            <a:r>
              <a:rPr lang="fr-FR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79%</a:t>
            </a:r>
            <a:r>
              <a:rPr lang="fr-FR" sz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 </a:t>
            </a:r>
            <a:r>
              <a:rPr lang="fr-FR" sz="1200" dirty="0">
                <a:solidFill>
                  <a:prstClr val="black"/>
                </a:solidFill>
                <a:latin typeface="Arial"/>
              </a:rPr>
              <a:t>des clients sondés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 estiment pouvoir recommander fortement SUNU Assurances contre </a:t>
            </a:r>
            <a:r>
              <a:rPr lang="fr-CI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5%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 de passifs et </a:t>
            </a:r>
          </a:p>
          <a:p>
            <a:pPr algn="just">
              <a:defRPr/>
            </a:pPr>
            <a:r>
              <a:rPr lang="fr-CI" sz="1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16%</a:t>
            </a:r>
            <a:r>
              <a:rPr lang="fr-CI" sz="1200" b="1">
                <a:solidFill>
                  <a:prstClr val="black"/>
                </a:solidFill>
                <a:latin typeface="Arial"/>
              </a:rPr>
              <a:t> </a:t>
            </a:r>
            <a:r>
              <a:rPr lang="fr-CI" sz="1200" dirty="0">
                <a:solidFill>
                  <a:prstClr val="black"/>
                </a:solidFill>
                <a:latin typeface="Arial"/>
              </a:rPr>
              <a:t>de détracteurs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9FCA580-4B7F-E190-241A-584389A11F35}"/>
              </a:ext>
            </a:extLst>
          </p:cNvPr>
          <p:cNvSpPr txBox="1"/>
          <p:nvPr/>
        </p:nvSpPr>
        <p:spPr>
          <a:xfrm>
            <a:off x="4009672" y="5889973"/>
            <a:ext cx="8143023" cy="10156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CI" sz="1200" b="1" u="sng" dirty="0">
                <a:solidFill>
                  <a:prstClr val="black"/>
                </a:solidFill>
                <a:latin typeface="Arial"/>
              </a:rPr>
              <a:t>Conclusion</a:t>
            </a:r>
            <a:r>
              <a:rPr lang="fr-CI" sz="1200" b="1" dirty="0">
                <a:solidFill>
                  <a:prstClr val="black"/>
                </a:solidFill>
                <a:latin typeface="Arial"/>
              </a:rPr>
              <a:t> :</a:t>
            </a:r>
          </a:p>
          <a:p>
            <a:pPr algn="ctr">
              <a:defRPr/>
            </a:pPr>
            <a:r>
              <a:rPr lang="fr-FR" sz="1200" b="1" dirty="0">
                <a:solidFill>
                  <a:prstClr val="black"/>
                </a:solidFill>
                <a:latin typeface="Arial"/>
              </a:rPr>
              <a:t>Les indicateurs CES et CSAT témoignent d’un bon niveau de satisfaction, reflet d’une expérience client réussie chez SUNU Assurances. Cette dynamique fait naturellement de nos assurés de véritables ambassadeurs, enthousiastes à recommander notre compagnie à leur entourage. Cependant un point d’attention particulier devrait être apporté sur les clients détracteurs</a:t>
            </a:r>
            <a:endParaRPr lang="fr-CI" sz="1200" b="1" dirty="0">
              <a:solidFill>
                <a:prstClr val="black"/>
              </a:solidFill>
              <a:latin typeface="Arial"/>
            </a:endParaRPr>
          </a:p>
        </p:txBody>
      </p:sp>
      <p:graphicFrame>
        <p:nvGraphicFramePr>
          <p:cNvPr id="11" name="Graphique 10">
            <a:extLst>
              <a:ext uri="{FF2B5EF4-FFF2-40B4-BE49-F238E27FC236}">
                <a16:creationId xmlns:a16="http://schemas.microsoft.com/office/drawing/2014/main" id="{221017E1-A01F-468C-B820-0DF4C0C197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3583409"/>
              </p:ext>
            </p:extLst>
          </p:nvPr>
        </p:nvGraphicFramePr>
        <p:xfrm>
          <a:off x="111880" y="1965863"/>
          <a:ext cx="3839284" cy="3622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Graphique 12">
            <a:extLst>
              <a:ext uri="{FF2B5EF4-FFF2-40B4-BE49-F238E27FC236}">
                <a16:creationId xmlns:a16="http://schemas.microsoft.com/office/drawing/2014/main" id="{DBDA6D3E-D1BE-430A-9F47-BEFF38FC4E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214739"/>
              </p:ext>
            </p:extLst>
          </p:nvPr>
        </p:nvGraphicFramePr>
        <p:xfrm>
          <a:off x="4487224" y="1099433"/>
          <a:ext cx="3513044" cy="3708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3CE6DC59-3CCF-4D2C-8A4D-4E18F22A0C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9330139"/>
              </p:ext>
            </p:extLst>
          </p:nvPr>
        </p:nvGraphicFramePr>
        <p:xfrm>
          <a:off x="8521358" y="1099432"/>
          <a:ext cx="3242717" cy="3512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2935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4BF5B6-85C3-6A10-B75E-4FDE5FF296E4}"/>
              </a:ext>
            </a:extLst>
          </p:cNvPr>
          <p:cNvSpPr txBox="1">
            <a:spLocks/>
          </p:cNvSpPr>
          <p:nvPr/>
        </p:nvSpPr>
        <p:spPr>
          <a:xfrm>
            <a:off x="2308084" y="3032650"/>
            <a:ext cx="9219888" cy="79269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C6183D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822929078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0E2C262C946447A1DCFDD6355FBC02" ma:contentTypeVersion="13" ma:contentTypeDescription="Crée un document." ma:contentTypeScope="" ma:versionID="37882633a07bd79e6709a2345764face">
  <xsd:schema xmlns:xsd="http://www.w3.org/2001/XMLSchema" xmlns:xs="http://www.w3.org/2001/XMLSchema" xmlns:p="http://schemas.microsoft.com/office/2006/metadata/properties" xmlns:ns2="4587af1c-6693-4a82-a3cb-963b62434259" xmlns:ns3="3503d0c0-fb4f-4fc1-91fe-fb132f70b099" targetNamespace="http://schemas.microsoft.com/office/2006/metadata/properties" ma:root="true" ma:fieldsID="0cb338579dd37b127ca275fd9ec40c96" ns2:_="" ns3:_="">
    <xsd:import namespace="4587af1c-6693-4a82-a3cb-963b62434259"/>
    <xsd:import namespace="3503d0c0-fb4f-4fc1-91fe-fb132f70b0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87af1c-6693-4a82-a3cb-963b624342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9b5b8124-5bbb-4617-8fd1-96ea0cd90b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03d0c0-fb4f-4fc1-91fe-fb132f70b09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87af1c-6693-4a82-a3cb-963b6243425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543B573-3355-44F8-8BAB-A5894C8B56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20ED68-EA97-463A-8D04-C71EE29E25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87af1c-6693-4a82-a3cb-963b62434259"/>
    <ds:schemaRef ds:uri="3503d0c0-fb4f-4fc1-91fe-fb132f70b0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9F70CE-5AE0-4239-9547-D0A4E7B7DB98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3503d0c0-fb4f-4fc1-91fe-fb132f70b099"/>
    <ds:schemaRef ds:uri="4587af1c-6693-4a82-a3cb-963b6243425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4968</TotalTime>
  <Words>1391</Words>
  <Application>Microsoft Office PowerPoint</Application>
  <PresentationFormat>Grand écran</PresentationFormat>
  <Paragraphs>413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Wingdings</vt:lpstr>
      <vt:lpstr>1_Thème Office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Josias KINDIA</dc:creator>
  <cp:lastModifiedBy>Mamadou Cherif BALDE</cp:lastModifiedBy>
  <cp:revision>54</cp:revision>
  <dcterms:created xsi:type="dcterms:W3CDTF">2025-01-20T08:34:27Z</dcterms:created>
  <dcterms:modified xsi:type="dcterms:W3CDTF">2026-06-22T07:10:58Z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0x010100F50E2C262C946447A1DCFDD6355FBC02</vt:lpwstr>
  </property>
</Properties>
</file>