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56" r:id="rId5"/>
  </p:sldMasterIdLst>
  <p:sldIdLst>
    <p:sldId id="274" r:id="rId6"/>
    <p:sldId id="275" r:id="rId7"/>
    <p:sldId id="257" r:id="rId8"/>
    <p:sldId id="283" r:id="rId9"/>
    <p:sldId id="280" r:id="rId10"/>
    <p:sldId id="874" r:id="rId11"/>
    <p:sldId id="277"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016-7E9F-485D-94B8-FD3FB8C732AA}" v="47" dt="2025-11-30T07:41:59.0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themeOverride" Target="../theme/themeOverrid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themeOverride" Target="../theme/themeOverrid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329749055E-2"/>
          <c:y val="0.16333293532424323"/>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E039-45EB-AAB3-A43CCA9C4E86}"/>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E039-45EB-AAB3-A43CCA9C4E86}"/>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E039-45EB-AAB3-A43CCA9C4E86}"/>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039-45EB-AAB3-A43CCA9C4E86}"/>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39-45EB-AAB3-A43CCA9C4E86}"/>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039-45EB-AAB3-A43CCA9C4E8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Sheet1!$B$2:$B$4</c:f>
              <c:numCache>
                <c:formatCode>General</c:formatCode>
                <c:ptCount val="3"/>
                <c:pt idx="0">
                  <c:v>0.0</c:v>
                </c:pt>
                <c:pt idx="1">
                  <c:v>1.0</c:v>
                </c:pt>
                <c:pt idx="2">
                  <c:v>0.0</c:v>
                </c:pt>
              </c:numCache>
            </c:numRef>
          </c:val>
          <c:extLst>
            <c:ext xmlns:c16="http://schemas.microsoft.com/office/drawing/2014/chart" uri="{C3380CC4-5D6E-409C-BE32-E72D297353CC}">
              <c16:uniqueId val="{00000006-E039-45EB-AAB3-A43CCA9C4E86}"/>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B171-4700-AC0A-216B7E9DDF5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B171-4700-AC0A-216B7E9DDF54}"/>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B171-4700-AC0A-216B7E9DDF54}"/>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71-4700-AC0A-216B7E9DDF54}"/>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171-4700-AC0A-216B7E9DDF54}"/>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1-4700-AC0A-216B7E9DDF5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1.0</c:v>
                </c:pt>
                <c:pt idx="1">
                  <c:v>0.0</c:v>
                </c:pt>
                <c:pt idx="2">
                  <c:v>0.0</c:v>
                </c:pt>
              </c:numCache>
            </c:numRef>
          </c:val>
          <c:extLst>
            <c:ext xmlns:c16="http://schemas.microsoft.com/office/drawing/2014/chart" uri="{C3380CC4-5D6E-409C-BE32-E72D297353CC}">
              <c16:uniqueId val="{00000006-B171-4700-AC0A-216B7E9DDF54}"/>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CE95-449A-BC9B-5890BED60D76}"/>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CE95-449A-BC9B-5890BED60D76}"/>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95-449A-BC9B-5890BED60D76}"/>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95-449A-BC9B-5890BED60D76}"/>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Sheet1!$B$2:$B$3</c:f>
              <c:numCache>
                <c:formatCode>General</c:formatCode>
                <c:ptCount val="2"/>
                <c:pt idx="0">
                  <c:v>1.0</c:v>
                </c:pt>
                <c:pt idx="1">
                  <c:v>0.0</c:v>
                </c:pt>
              </c:numCache>
            </c:numRef>
          </c:val>
          <c:extLst>
            <c:ext xmlns:c16="http://schemas.microsoft.com/office/drawing/2014/chart" uri="{C3380CC4-5D6E-409C-BE32-E72D297353CC}">
              <c16:uniqueId val="{00000004-CE95-449A-BC9B-5890BED60D76}"/>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0BCC-4AC8-BC3E-FAF9E2233A43}"/>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0BCC-4AC8-BC3E-FAF9E2233A43}"/>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0BCC-4AC8-BC3E-FAF9E2233A43}"/>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CC-4AC8-BC3E-FAF9E2233A43}"/>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CC-4AC8-BC3E-FAF9E2233A43}"/>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BCC-4AC8-BC3E-FAF9E2233A4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1.0</c:v>
                </c:pt>
              </c:numCache>
            </c:numRef>
          </c:val>
          <c:extLst>
            <c:ext xmlns:c16="http://schemas.microsoft.com/office/drawing/2014/chart" uri="{C3380CC4-5D6E-409C-BE32-E72D297353CC}">
              <c16:uniqueId val="{00000006-0BCC-4AC8-BC3E-FAF9E2233A43}"/>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D6B6-4A70-9457-A652FC6BB42B}"/>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D6B6-4A70-9457-A652FC6BB42B}"/>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6-4A70-9457-A652FC6BB42B}"/>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B6-4A70-9457-A652FC6BB42B}"/>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Sheet1!$B$2:$B$4</c:f>
              <c:numCache>
                <c:formatCode>General</c:formatCode>
                <c:ptCount val="3"/>
                <c:pt idx="0">
                  <c:v>1.0</c:v>
                </c:pt>
                <c:pt idx="1">
                  <c:v>0.0</c:v>
                </c:pt>
                <c:pt idx="2">
                  <c:v>0.0</c:v>
                </c:pt>
              </c:numCache>
            </c:numRef>
          </c:val>
          <c:extLst>
            <c:ext xmlns:c16="http://schemas.microsoft.com/office/drawing/2014/chart" uri="{C3380CC4-5D6E-409C-BE32-E72D297353CC}">
              <c16:uniqueId val="{00000004-D6B6-4A70-9457-A652FC6BB42B}"/>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769548807E-2"/>
          <c:y val="0.16419505609558127"/>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743C-46F7-93C8-A7A7968D6B2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743C-46F7-93C8-A7A7968D6B24}"/>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743C-46F7-93C8-A7A7968D6B24}"/>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3C-46F7-93C8-A7A7968D6B24}"/>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3C-46F7-93C8-A7A7968D6B24}"/>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3C-46F7-93C8-A7A7968D6B2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Sheet1!$B$2:$B$3</c:f>
              <c:numCache>
                <c:formatCode>General</c:formatCode>
                <c:ptCount val="2"/>
                <c:pt idx="0">
                  <c:v>1.0</c:v>
                </c:pt>
                <c:pt idx="1">
                  <c:v>0.0</c:v>
                </c:pt>
              </c:numCache>
            </c:numRef>
          </c:val>
          <c:extLst>
            <c:ext xmlns:c16="http://schemas.microsoft.com/office/drawing/2014/chart" uri="{C3380CC4-5D6E-409C-BE32-E72D297353CC}">
              <c16:uniqueId val="{00000006-743C-46F7-93C8-A7A7968D6B24}"/>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A311DD-2EDB-F882-2E95-D68B6AF275D8}"/>
              </a:ext>
            </a:extLst>
          </p:cNvPr>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a:extLst>
              <a:ext uri="{FF2B5EF4-FFF2-40B4-BE49-F238E27FC236}">
                <a16:creationId xmlns:a16="http://schemas.microsoft.com/office/drawing/2014/main" id="{9910FE20-DAB4-5C0A-9E03-F8EF53D4494C}"/>
              </a:ext>
            </a:extLst>
          </p:cNvPr>
          <p:cNvPicPr>
            <a:picLocks noChangeAspect="1"/>
          </p:cNvPicPr>
          <p:nvPr userDrawn="1"/>
        </p:nvPicPr>
        <p:blipFill>
          <a:blip r:embed="rId2">
            <a:extLst>
              <a:ext uri="{28A0092B-C50C-407E-A947-70E740481C1C}">
                <a14:useLocalDpi xmlns:a14="http://schemas.microsoft.com/office/drawing/2010/main" val="0"/>
              </a:ext>
            </a:extLst>
          </a:blip>
          <a:srcRect t="26808"/>
          <a:stretch/>
        </p:blipFill>
        <p:spPr>
          <a:xfrm>
            <a:off x="64655" y="1838036"/>
            <a:ext cx="12192000" cy="5018250"/>
          </a:xfrm>
          <a:prstGeom prst="rect">
            <a:avLst/>
          </a:prstGeom>
        </p:spPr>
      </p:pic>
    </p:spTree>
    <p:extLst>
      <p:ext uri="{BB962C8B-B14F-4D97-AF65-F5344CB8AC3E}">
        <p14:creationId xmlns:p14="http://schemas.microsoft.com/office/powerpoint/2010/main" val="324735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a:extLst>
              <a:ext uri="{FF2B5EF4-FFF2-40B4-BE49-F238E27FC236}">
                <a16:creationId xmlns:a16="http://schemas.microsoft.com/office/drawing/2014/main" id="{BC81D47F-08D4-0C3A-4848-034ED35C75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248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a:extLst>
              <a:ext uri="{FF2B5EF4-FFF2-40B4-BE49-F238E27FC236}">
                <a16:creationId xmlns:a16="http://schemas.microsoft.com/office/drawing/2014/main" id="{9DA1AE21-C515-59E6-78A8-ADDEAF1FC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372341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rcRect t="26808"/>
          <a:stretch>
            <a:fillRect/>
          </a:stretch>
        </p:blipFill>
        <p:spPr>
          <a:xfrm>
            <a:off x="64655" y="1838036"/>
            <a:ext cx="12192000" cy="5018250"/>
          </a:xfrm>
          <a:prstGeom prst="rect">
            <a:avLst/>
          </a:prstGeom>
        </p:spPr>
      </p:pic>
    </p:spTree>
    <p:extLst>
      <p:ext uri="{BB962C8B-B14F-4D97-AF65-F5344CB8AC3E}">
        <p14:creationId xmlns:p14="http://schemas.microsoft.com/office/powerpoint/2010/main" val="391083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503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244379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a:extLst>
              <a:ext uri="{FF2B5EF4-FFF2-40B4-BE49-F238E27FC236}">
                <a16:creationId xmlns:a16="http://schemas.microsoft.com/office/drawing/2014/main" id="{962C2C8E-377A-E342-827B-6E2063DD12F1}"/>
              </a:ext>
            </a:extLst>
          </p:cNvPr>
          <p:cNvSpPr txBox="1">
            <a:spLocks/>
          </p:cNvSpPr>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tabLst/>
              <a:defRPr lang="fr-FR" sz="1200" b="0" i="0" u="none" strike="noStrike" kern="1200" cap="none" spc="0" baseline="0">
                <a:solidFill>
                  <a:srgbClr val="898989"/>
                </a:solidFill>
                <a:uFillTx/>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pPr/>
              <a:t>‹N°›</a:t>
            </a:fld>
            <a:endParaRPr lang="fr-FR" dirty="0"/>
          </a:p>
        </p:txBody>
      </p:sp>
    </p:spTree>
    <p:extLst>
      <p:ext uri="{BB962C8B-B14F-4D97-AF65-F5344CB8AC3E}">
        <p14:creationId xmlns:p14="http://schemas.microsoft.com/office/powerpoint/2010/main" val="34844068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p:cNvSpPr txBox="1"/>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defRPr lang="fr-FR" sz="1200" b="0" i="0" u="none" strike="noStrike" kern="1200" cap="none" spc="0" baseline="0">
                <a:solidFill>
                  <a:srgbClr val="898989"/>
                </a:solidFill>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t>‹N°›</a:t>
            </a:fld>
            <a:endParaRPr lang="fr-FR"/>
          </a:p>
        </p:txBody>
      </p:sp>
    </p:spTree>
    <p:extLst>
      <p:ext uri="{BB962C8B-B14F-4D97-AF65-F5344CB8AC3E}">
        <p14:creationId xmlns:p14="http://schemas.microsoft.com/office/powerpoint/2010/main" val="342990739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0136D-E93E-5C2F-A773-B1D7C6588D7A}"/>
              </a:ext>
            </a:extLst>
          </p:cNvPr>
          <p:cNvSpPr/>
          <p:nvPr/>
        </p:nvSpPr>
        <p:spPr>
          <a:xfrm>
            <a:off x="9420047" y="5963206"/>
            <a:ext cx="2616422" cy="646331"/>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Département Relation Clients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SUNU Business GIE Côte d’Ivoire</a:t>
            </a: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i="1" dirty="0">
                <a:solidFill>
                  <a:prstClr val="black"/>
                </a:solidFill>
                <a:latin typeface="Arial" panose="020B0604020202020204" pitchFamily="34" charset="0"/>
                <a:cs typeface="Arial" panose="020B0604020202020204" pitchFamily="34" charset="0"/>
              </a:rPr>
              <a:t>12 Déc.</a:t>
            </a: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2025</a:t>
            </a:r>
            <a:endParaRPr kumimoji="0" lang="en-US"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re 1">
            <a:extLst>
              <a:ext uri="{FF2B5EF4-FFF2-40B4-BE49-F238E27FC236}">
                <a16:creationId xmlns:a16="http://schemas.microsoft.com/office/drawing/2014/main" id="{88A35C20-D50D-BF37-5523-6C6847543120}"/>
              </a:ext>
            </a:extLst>
          </p:cNvPr>
          <p:cNvSpPr txBox="1">
            <a:spLocks/>
          </p:cNvSpPr>
          <p:nvPr/>
        </p:nvSpPr>
        <p:spPr>
          <a:xfrm>
            <a:off x="2394156" y="2585283"/>
            <a:ext cx="9163664" cy="1883478"/>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RESTITUTION SONDAGE 
NPS - CSAT - CES 
Juin 2026</a:t>
            </a:r>
          </a:p>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a:p>
            <a:pPr algn="ctr">
              <a:lnSpc>
                <a:spcPct val="100000"/>
              </a:lnSpc>
            </a:pPr>
            <a:r>
              <a:rPr lang="fr-FR" sz="3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p:txBody>
      </p:sp>
    </p:spTree>
    <p:extLst>
      <p:ext uri="{BB962C8B-B14F-4D97-AF65-F5344CB8AC3E}">
        <p14:creationId xmlns:p14="http://schemas.microsoft.com/office/powerpoint/2010/main" val="264555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1879-5C9D-7940-4F24-100D7348E2BF}"/>
              </a:ext>
            </a:extLst>
          </p:cNvPr>
          <p:cNvSpPr txBox="1">
            <a:spLocks/>
          </p:cNvSpPr>
          <p:nvPr/>
        </p:nvSpPr>
        <p:spPr>
          <a:xfrm>
            <a:off x="1573160" y="3509606"/>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Aptos" panose="02110004020202020204"/>
                <a:ea typeface="+mj-ea"/>
                <a:cs typeface="+mj-cs"/>
              </a:rPr>
              <a:t>Sous-titre 1</a:t>
            </a:r>
          </a:p>
        </p:txBody>
      </p:sp>
      <p:sp>
        <p:nvSpPr>
          <p:cNvPr id="4" name="Titre 1">
            <a:extLst>
              <a:ext uri="{FF2B5EF4-FFF2-40B4-BE49-F238E27FC236}">
                <a16:creationId xmlns:a16="http://schemas.microsoft.com/office/drawing/2014/main" id="{3956B110-3ECB-01C6-76DE-4F71EEFB6D0C}"/>
              </a:ext>
            </a:extLst>
          </p:cNvPr>
          <p:cNvSpPr txBox="1">
            <a:spLocks/>
          </p:cNvSpPr>
          <p:nvPr/>
        </p:nvSpPr>
        <p:spPr>
          <a:xfrm>
            <a:off x="1268360" y="188008"/>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Sommaire</a:t>
            </a:r>
          </a:p>
        </p:txBody>
      </p:sp>
      <p:sp>
        <p:nvSpPr>
          <p:cNvPr id="3" name="Rectangle 2">
            <a:extLst>
              <a:ext uri="{FF2B5EF4-FFF2-40B4-BE49-F238E27FC236}">
                <a16:creationId xmlns:a16="http://schemas.microsoft.com/office/drawing/2014/main" id="{8930A43A-F7E5-CA49-C6B9-C44F11A69B9D}"/>
              </a:ext>
            </a:extLst>
          </p:cNvPr>
          <p:cNvSpPr/>
          <p:nvPr/>
        </p:nvSpPr>
        <p:spPr>
          <a:xfrm>
            <a:off x="1775298" y="1471785"/>
            <a:ext cx="9354818" cy="4167015"/>
          </a:xfrm>
          <a:prstGeom prst="rect">
            <a:avLst/>
          </a:prstGeom>
        </p:spPr>
        <p:txBody>
          <a:bodyPr vert="horz" lIns="91440" tIns="45720" rIns="91440" bIns="45720" rtlCol="0" anchor="ctr">
            <a:noAutofit/>
          </a:bodyPr>
          <a:lstStyle/>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oeuvre…………..…. ……………….….………………….……..…...p3</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Restitutions des résultats……………………….….………………..........…p5</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2-1- Presentation générale des résultats: Chiffres……………………p6</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2-2- Presentation générale des résultats : Commentaires….........…p7</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2-3- Résultats Périmètre VIE……………………………………..…….... p8</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2-4- Résultats Périmètre IARD………..………………………….……... p9</a:t>
            </a:r>
          </a:p>
          <a:p>
            <a:pPr marL="285750">
              <a:spcAft>
                <a:spcPts val="600"/>
              </a:spcAft>
              <a:defRPr/>
            </a:pPr>
            <a:r>
              <a:rPr lang="en-US" sz="2000" b="1"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6695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16F7E-77CC-3A69-D81C-8054A02FFBD4}"/>
              </a:ext>
            </a:extLst>
          </p:cNvPr>
          <p:cNvSpPr txBox="1">
            <a:spLocks/>
          </p:cNvSpPr>
          <p:nvPr/>
        </p:nvSpPr>
        <p:spPr>
          <a:xfrm>
            <a:off x="2991777" y="3032651"/>
            <a:ext cx="7715552"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60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œuvre</a:t>
            </a:r>
            <a:endPar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62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2876-0043-0880-3484-10F31F2F46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AA79D-9992-F9BB-3FC8-15DA6B955872}"/>
              </a:ext>
            </a:extLst>
          </p:cNvPr>
          <p:cNvSpPr txBox="1">
            <a:spLocks/>
          </p:cNvSpPr>
          <p:nvPr/>
        </p:nvSpPr>
        <p:spPr>
          <a:xfrm>
            <a:off x="1238864" y="188009"/>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1. Mise en œuvre</a:t>
            </a:r>
          </a:p>
        </p:txBody>
      </p:sp>
      <p:sp>
        <p:nvSpPr>
          <p:cNvPr id="3" name="Espace réservé du contenu 2">
            <a:extLst>
              <a:ext uri="{FF2B5EF4-FFF2-40B4-BE49-F238E27FC236}">
                <a16:creationId xmlns:a16="http://schemas.microsoft.com/office/drawing/2014/main" id="{BA19A2AC-BA6C-FD0F-DB97-7A1C45B26E06}"/>
              </a:ext>
            </a:extLst>
          </p:cNvPr>
          <p:cNvSpPr txBox="1">
            <a:spLocks/>
          </p:cNvSpPr>
          <p:nvPr/>
        </p:nvSpPr>
        <p:spPr>
          <a:xfrm>
            <a:off x="157316" y="1071716"/>
            <a:ext cx="5594555" cy="5786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0"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Etape 1: Le cadrage</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Ciblage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Les clients :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1- ayant répondu au sondage via le QR Code et  s’étant rendu aux Espaces Conseils Verdier </a:t>
            </a:r>
            <a:r>
              <a:rPr lang="fr-FR" sz="1300" dirty="0">
                <a:solidFill>
                  <a:sysClr val="windowText" lastClr="000000"/>
                </a:solidFill>
              </a:rPr>
              <a:t>, Botreau et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Cosmos du </a:t>
            </a:r>
            <a:r>
              <a:rPr lang="fr-FR" sz="1300" dirty="0">
                <a:solidFill>
                  <a:sysClr val="windowText" lastClr="000000"/>
                </a:solidFill>
              </a:rPr>
              <a:t>08</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au </a:t>
            </a:r>
            <a:r>
              <a:rPr lang="fr-FR" sz="1300" dirty="0">
                <a:solidFill>
                  <a:sysClr val="windowText" lastClr="000000"/>
                </a:solidFill>
              </a:rPr>
              <a:t>12</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Déc</a:t>
            </a:r>
            <a:r>
              <a:rPr lang="fr-FR" sz="1300" dirty="0">
                <a:solidFill>
                  <a:sysClr val="windowText" lastClr="000000"/>
                </a:solidFill>
              </a:rPr>
              <a:t>.</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2025 (périmètre VIE et IARD)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2- ayant contacté le Call Center  du 08 </a:t>
            </a:r>
            <a:r>
              <a:rPr lang="fr-FR" sz="1300" dirty="0">
                <a:solidFill>
                  <a:sysClr val="windowText" lastClr="000000"/>
                </a:solidFill>
              </a:rPr>
              <a:t>au 12 Déc.</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2025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(périmètre VIE et IARD)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Echantillon</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Appels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50 clients au niveau du Call Center pour la VIE</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50 clients au niveau du Call Center pour l’IARD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50 clients au niveau présentiel pour les espaces conseils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QR Code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94 clients ayant répondu pour la VIE</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lang="fr-FR" sz="1300" dirty="0">
                <a:solidFill>
                  <a:sysClr val="windowText" lastClr="000000"/>
                </a:solidFill>
              </a:rPr>
              <a:t>32</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clients ayant répondu pour l’IARD</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Total base échantillon  : 276 clients</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 name="Espace réservé du contenu 2">
            <a:extLst>
              <a:ext uri="{FF2B5EF4-FFF2-40B4-BE49-F238E27FC236}">
                <a16:creationId xmlns:a16="http://schemas.microsoft.com/office/drawing/2014/main" id="{EFD7E6AA-772C-8797-1407-EFCE966C21C2}"/>
              </a:ext>
            </a:extLst>
          </p:cNvPr>
          <p:cNvSpPr txBox="1">
            <a:spLocks/>
          </p:cNvSpPr>
          <p:nvPr/>
        </p:nvSpPr>
        <p:spPr>
          <a:xfrm>
            <a:off x="6607277" y="1071716"/>
            <a:ext cx="5145792" cy="55982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2: L’élaboration du questionnaire</a:t>
            </a:r>
          </a:p>
          <a:p>
            <a:pPr marL="0" marR="0" lvl="0" indent="0" algn="just" defTabSz="914400" rtl="0" eaLnBrk="1" fontAlgn="auto" latinLnBrk="0" hangingPunct="1">
              <a:lnSpc>
                <a:spcPct val="9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Il est composé principalement de  questions reparties selon les thèmes suivants:</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Le Customer Satisfaction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(CSAT</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 le Customer Effort Score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(CES)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et le Net Promotion Score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(NPS)</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Il comprend comme type de question:</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des questions fermées à échelle ordinale  qui permettent de mesurer avec efficacité et rapidité le degré de satisfaction des clients, l’effort fourni pour avoir accès à l’information avec SUNU Assurances et la propension à recommander SUNU Assurances aux proches et amis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3 : L’administration de l’enquête</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sym typeface="Wingdings" panose="05000000000000000000" pitchFamily="2" charset="2"/>
              </a:rPr>
              <a:t>L’enquête se fait via QR Code et Appels</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Dépouillement et analyse</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Sosthène NIOBLE, Superviseur Espace Conseils Cosmos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Période</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Semaine du 08 au 12</a:t>
            </a:r>
            <a:r>
              <a:rPr lang="fr-FR" sz="1300" dirty="0">
                <a:solidFill>
                  <a:sysClr val="windowText" lastClr="000000"/>
                </a:solidFill>
              </a:rPr>
              <a:t> Déc</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2025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5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53791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2BDA-6574-EF5C-7078-DA1CF2C0E12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4724BAB-5FFF-3E9A-6095-E9C43A8B2D49}"/>
              </a:ext>
            </a:extLst>
          </p:cNvPr>
          <p:cNvSpPr txBox="1">
            <a:spLocks/>
          </p:cNvSpPr>
          <p:nvPr/>
        </p:nvSpPr>
        <p:spPr>
          <a:xfrm>
            <a:off x="2922951" y="2636301"/>
            <a:ext cx="7715552" cy="1798047"/>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 Restitution des résultats</a:t>
            </a:r>
          </a:p>
        </p:txBody>
      </p:sp>
    </p:spTree>
    <p:extLst>
      <p:ext uri="{BB962C8B-B14F-4D97-AF65-F5344CB8AC3E}">
        <p14:creationId xmlns:p14="http://schemas.microsoft.com/office/powerpoint/2010/main" val="278550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5153-DBF4-C777-41E9-382E69146A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9D6A4-367A-94B2-B58E-C307455F634D}"/>
              </a:ext>
            </a:extLst>
          </p:cNvPr>
          <p:cNvSpPr txBox="1">
            <a:spLocks/>
          </p:cNvSpPr>
          <p:nvPr/>
        </p:nvSpPr>
        <p:spPr>
          <a:xfrm>
            <a:off x="852295" y="175042"/>
            <a:ext cx="10943303" cy="663148"/>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2.1. Présentation globale des résultats : Chiffres </a:t>
            </a:r>
          </a:p>
        </p:txBody>
      </p:sp>
      <p:sp>
        <p:nvSpPr>
          <p:cNvPr id="3" name="ZoneTexte 2">
            <a:extLst>
              <a:ext uri="{FF2B5EF4-FFF2-40B4-BE49-F238E27FC236}">
                <a16:creationId xmlns:a16="http://schemas.microsoft.com/office/drawing/2014/main" id="{329CF2A7-775F-E210-E66E-A3C86D476674}"/>
              </a:ext>
            </a:extLst>
          </p:cNvPr>
          <p:cNvSpPr txBox="1"/>
          <p:nvPr/>
        </p:nvSpPr>
        <p:spPr>
          <a:xfrm>
            <a:off x="-159298" y="1098247"/>
            <a:ext cx="2879294"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NPS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(Net Promoter Score)</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NPS = %promoteur - %détracteur</a:t>
            </a:r>
          </a:p>
        </p:txBody>
      </p:sp>
      <p:sp>
        <p:nvSpPr>
          <p:cNvPr id="4" name="ZoneTexte 5">
            <a:extLst>
              <a:ext uri="{FF2B5EF4-FFF2-40B4-BE49-F238E27FC236}">
                <a16:creationId xmlns:a16="http://schemas.microsoft.com/office/drawing/2014/main" id="{79D94035-DD8A-FE3B-D02B-51521AB925D2}"/>
              </a:ext>
            </a:extLst>
          </p:cNvPr>
          <p:cNvSpPr txBox="1"/>
          <p:nvPr/>
        </p:nvSpPr>
        <p:spPr>
          <a:xfrm>
            <a:off x="36945" y="4971788"/>
            <a:ext cx="2504912"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CES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Effort Score)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CES = %effort élevé - %effort faible </a:t>
            </a:r>
          </a:p>
        </p:txBody>
      </p:sp>
      <p:sp>
        <p:nvSpPr>
          <p:cNvPr id="5" name="ZoneTexte 5">
            <a:extLst>
              <a:ext uri="{FF2B5EF4-FFF2-40B4-BE49-F238E27FC236}">
                <a16:creationId xmlns:a16="http://schemas.microsoft.com/office/drawing/2014/main" id="{1D1B7147-1A22-B772-3BB8-ED4D63AF9E32}"/>
              </a:ext>
            </a:extLst>
          </p:cNvPr>
          <p:cNvSpPr txBox="1"/>
          <p:nvPr/>
        </p:nvSpPr>
        <p:spPr>
          <a:xfrm>
            <a:off x="0" y="3172142"/>
            <a:ext cx="2528689"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CSAT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SATisfaction)</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CSAT = %satisfait</a:t>
            </a:r>
          </a:p>
        </p:txBody>
      </p:sp>
      <p:pic>
        <p:nvPicPr>
          <p:cNvPr id="9" name="Image 8">
            <a:extLst>
              <a:ext uri="{FF2B5EF4-FFF2-40B4-BE49-F238E27FC236}">
                <a16:creationId xmlns:a16="http://schemas.microsoft.com/office/drawing/2014/main" id="{E28049FF-3910-DDB3-0916-9EB301B4B0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1563" y="3222351"/>
            <a:ext cx="289073" cy="286459"/>
          </a:xfrm>
          <a:prstGeom prst="rect">
            <a:avLst/>
          </a:prstGeom>
        </p:spPr>
      </p:pic>
      <p:pic>
        <p:nvPicPr>
          <p:cNvPr id="11" name="Image 10">
            <a:extLst>
              <a:ext uri="{FF2B5EF4-FFF2-40B4-BE49-F238E27FC236}">
                <a16:creationId xmlns:a16="http://schemas.microsoft.com/office/drawing/2014/main" id="{821C64A3-3022-47D5-BE88-9898048929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1683" y="4962328"/>
            <a:ext cx="289073" cy="286459"/>
          </a:xfrm>
          <a:prstGeom prst="rect">
            <a:avLst/>
          </a:prstGeom>
        </p:spPr>
      </p:pic>
      <p:sp>
        <p:nvSpPr>
          <p:cNvPr id="12" name="ZoneTexte 11">
            <a:extLst>
              <a:ext uri="{FF2B5EF4-FFF2-40B4-BE49-F238E27FC236}">
                <a16:creationId xmlns:a16="http://schemas.microsoft.com/office/drawing/2014/main" id="{FBB8A8C7-BE28-CA3B-8995-70BED119384C}"/>
              </a:ext>
            </a:extLst>
          </p:cNvPr>
          <p:cNvSpPr txBox="1"/>
          <p:nvPr/>
        </p:nvSpPr>
        <p:spPr>
          <a:xfrm>
            <a:off x="8268929" y="5739773"/>
            <a:ext cx="3911924" cy="1031051"/>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
                <a:srgbClr val="C6183D"/>
              </a:buClr>
              <a:buSzTx/>
              <a:buFontTx/>
              <a:buNone/>
              <a:tabLst/>
              <a:defRPr/>
            </a:pPr>
            <a:r>
              <a:rPr kumimoji="0" lang="fr-FR" sz="9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Echantillon : 
 1 clients ont répondu pour le périmètre VIE
 1 clients ont répondu pour le périmètre IARD
Total base échantillon Juin 2026 : 2 clients</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dirty="0">
                <a:solidFill>
                  <a:sysClr val="windowText" lastClr="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171450" marR="0" lvl="0" indent="-17145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q"/>
              <a:tabLst/>
              <a:defRPr/>
            </a:pP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p:txBody>
      </p:sp>
      <p:pic>
        <p:nvPicPr>
          <p:cNvPr id="16" name="Image 15">
            <a:extLst>
              <a:ext uri="{FF2B5EF4-FFF2-40B4-BE49-F238E27FC236}">
                <a16:creationId xmlns:a16="http://schemas.microsoft.com/office/drawing/2014/main" id="{1F74B05B-7B8C-309C-875D-E11063E23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7914" y="1112016"/>
            <a:ext cx="293984" cy="291325"/>
          </a:xfrm>
          <a:prstGeom prst="rect">
            <a:avLst/>
          </a:prstGeom>
        </p:spPr>
      </p:pic>
      <p:graphicFrame>
        <p:nvGraphicFramePr>
          <p:cNvPr id="17" name="Tableau 16">
            <a:extLst>
              <a:ext uri="{FF2B5EF4-FFF2-40B4-BE49-F238E27FC236}">
                <a16:creationId xmlns:a16="http://schemas.microsoft.com/office/drawing/2014/main" id="{AED393DA-0C27-8FBC-F38F-91D14A03BC23}"/>
              </a:ext>
            </a:extLst>
          </p:cNvPr>
          <p:cNvGraphicFramePr>
            <a:graphicFrameLocks noGrp="1"/>
          </p:cNvGraphicFramePr>
          <p:nvPr>
            <p:extLst>
              <p:ext uri="{D42A27DB-BD31-4B8C-83A1-F6EECF244321}">
                <p14:modId xmlns:p14="http://schemas.microsoft.com/office/powerpoint/2010/main" val="2937617400"/>
              </p:ext>
            </p:extLst>
          </p:nvPr>
        </p:nvGraphicFramePr>
        <p:xfrm>
          <a:off x="36945" y="1080394"/>
          <a:ext cx="8013700" cy="1991878"/>
        </p:xfrm>
        <a:graphic>
          <a:graphicData uri="http://schemas.openxmlformats.org/drawingml/2006/table">
            <a:tbl>
              <a:tblPr/>
              <a:tblGrid>
                <a:gridCol w="1358900">
                  <a:extLst>
                    <a:ext uri="{9D8B030D-6E8A-4147-A177-3AD203B41FA5}">
                      <a16:colId xmlns:a16="http://schemas.microsoft.com/office/drawing/2014/main" val="2868297391"/>
                    </a:ext>
                  </a:extLst>
                </a:gridCol>
                <a:gridCol w="1295400">
                  <a:extLst>
                    <a:ext uri="{9D8B030D-6E8A-4147-A177-3AD203B41FA5}">
                      <a16:colId xmlns:a16="http://schemas.microsoft.com/office/drawing/2014/main" val="1277638003"/>
                    </a:ext>
                  </a:extLst>
                </a:gridCol>
                <a:gridCol w="736600">
                  <a:extLst>
                    <a:ext uri="{9D8B030D-6E8A-4147-A177-3AD203B41FA5}">
                      <a16:colId xmlns:a16="http://schemas.microsoft.com/office/drawing/2014/main" val="2123340379"/>
                    </a:ext>
                  </a:extLst>
                </a:gridCol>
                <a:gridCol w="520700">
                  <a:extLst>
                    <a:ext uri="{9D8B030D-6E8A-4147-A177-3AD203B41FA5}">
                      <a16:colId xmlns:a16="http://schemas.microsoft.com/office/drawing/2014/main" val="2573731833"/>
                    </a:ext>
                  </a:extLst>
                </a:gridCol>
                <a:gridCol w="622300">
                  <a:extLst>
                    <a:ext uri="{9D8B030D-6E8A-4147-A177-3AD203B41FA5}">
                      <a16:colId xmlns:a16="http://schemas.microsoft.com/office/drawing/2014/main" val="3561380254"/>
                    </a:ext>
                  </a:extLst>
                </a:gridCol>
                <a:gridCol w="533400">
                  <a:extLst>
                    <a:ext uri="{9D8B030D-6E8A-4147-A177-3AD203B41FA5}">
                      <a16:colId xmlns:a16="http://schemas.microsoft.com/office/drawing/2014/main" val="4252555466"/>
                    </a:ext>
                  </a:extLst>
                </a:gridCol>
                <a:gridCol w="762000">
                  <a:extLst>
                    <a:ext uri="{9D8B030D-6E8A-4147-A177-3AD203B41FA5}">
                      <a16:colId xmlns:a16="http://schemas.microsoft.com/office/drawing/2014/main" val="1929145713"/>
                    </a:ext>
                  </a:extLst>
                </a:gridCol>
                <a:gridCol w="756094">
                  <a:extLst>
                    <a:ext uri="{9D8B030D-6E8A-4147-A177-3AD203B41FA5}">
                      <a16:colId xmlns:a16="http://schemas.microsoft.com/office/drawing/2014/main" val="172452913"/>
                    </a:ext>
                  </a:extLst>
                </a:gridCol>
                <a:gridCol w="845574">
                  <a:extLst>
                    <a:ext uri="{9D8B030D-6E8A-4147-A177-3AD203B41FA5}">
                      <a16:colId xmlns:a16="http://schemas.microsoft.com/office/drawing/2014/main" val="2036662976"/>
                    </a:ext>
                  </a:extLst>
                </a:gridCol>
                <a:gridCol w="582732">
                  <a:extLst>
                    <a:ext uri="{9D8B030D-6E8A-4147-A177-3AD203B41FA5}">
                      <a16:colId xmlns:a16="http://schemas.microsoft.com/office/drawing/2014/main" val="541245933"/>
                    </a:ext>
                  </a:extLst>
                </a:gridCol>
              </a:tblGrid>
              <a:tr h="227450">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lgn="ctr" rtl="0" fontAlgn="t">
                        <a:buNone/>
                      </a:pPr>
                      <a:r>
                        <a:rPr lang="fr-FR" sz="800" b="1" i="0" u="none" strike="noStrike">
                          <a:solidFill>
                            <a:srgbClr val="FFFFFF"/>
                          </a:solidFill>
                          <a:effectLst/>
                          <a:latin typeface="Arial" panose="020B0604020202020204" pitchFamily="34" charset="0"/>
                        </a:rPr>
                        <a:t>Sem. du 08 au 12 Déc. 25</a:t>
                      </a:r>
                      <a:br>
                        <a:rPr lang="fr-FR" sz="800" b="1" i="0" u="none" strike="noStrike">
                          <a:solidFill>
                            <a:srgbClr val="FFFFFF"/>
                          </a:solidFill>
                          <a:effectLst/>
                          <a:latin typeface="Arial" panose="020B0604020202020204" pitchFamily="34" charset="0"/>
                        </a:rPr>
                      </a:br>
                      <a:endParaRPr lang="fr-FR" sz="800" b="1" i="0" u="none" strike="noStrike">
                        <a:solidFill>
                          <a:srgbClr val="FFFFFF"/>
                        </a:solidFill>
                        <a:effectLst/>
                        <a:latin typeface="Arial" panose="020B0604020202020204" pitchFamily="34" charset="0"/>
                      </a:endParaRP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08 au 12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1er au 05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a:txBody>
                    <a:bodyPr/>
                    <a:lstStyle/>
                    <a:p>
                      <a:pPr algn="ctr"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3720989"/>
                  </a:ext>
                </a:extLst>
              </a:tr>
              <a:tr h="131134">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77922799"/>
                  </a:ext>
                </a:extLst>
              </a:tr>
              <a:tr h="20606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56259397"/>
                  </a:ext>
                </a:extLst>
              </a:tr>
              <a:tr h="121767">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88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276984"/>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585452"/>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0173617"/>
                  </a:ext>
                </a:extLst>
              </a:tr>
              <a:tr h="12645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87%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194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89%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99715986"/>
                  </a:ext>
                </a:extLst>
              </a:tr>
              <a:tr h="140501">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39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983543"/>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887530"/>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-19%</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2152888"/>
                  </a:ext>
                </a:extLst>
              </a:tr>
              <a:tr h="11717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32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60%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C00000"/>
                          </a:solidFill>
                          <a:effectLst/>
                          <a:latin typeface="Arial" panose="020B0604020202020204" pitchFamily="34" charset="0"/>
                        </a:rPr>
                        <a:t>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fr-FR" sz="800" b="1" i="0" u="none" strike="noStrike">
                          <a:solidFill>
                            <a:srgbClr val="FFFFFF"/>
                          </a:solidFill>
                          <a:effectLst/>
                          <a:latin typeface="Arial" panose="020B0604020202020204" pitchFamily="34" charset="0"/>
                        </a:rPr>
                        <a:t>63%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001489977"/>
                  </a:ext>
                </a:extLst>
              </a:tr>
              <a:tr h="168601">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lgn="ctr" fontAlgn="ctr">
                        <a:buNone/>
                      </a:pPr>
                      <a:r>
                        <a:rPr lang="fr-FR" sz="800" b="1" i="0" u="none" strike="noStrike">
                          <a:solidFill>
                            <a:srgbClr val="000000"/>
                          </a:solidFill>
                          <a:effectLst/>
                          <a:latin typeface="Arial" panose="020B0604020202020204" pitchFamily="34" charset="0"/>
                        </a:rPr>
                        <a:t>126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150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276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C00000"/>
                          </a:solidFill>
                          <a:effectLst/>
                          <a:latin typeface="Arial" panose="020B0604020202020204" pitchFamily="34" charset="0"/>
                        </a:rPr>
                        <a:t>2%</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664870248"/>
                  </a:ext>
                </a:extLst>
              </a:tr>
              <a:tr h="187334">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 NPS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lgn="ctr" fontAlgn="ctr">
                        <a:buNone/>
                      </a:pPr>
                      <a:r>
                        <a:rPr lang="fr-FR" sz="800" b="1" i="0" u="none" strike="noStrike">
                          <a:solidFill>
                            <a:srgbClr val="C00000"/>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78%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2349096"/>
                  </a:ext>
                </a:extLst>
              </a:tr>
            </a:tbl>
          </a:graphicData>
        </a:graphic>
      </p:graphicFrame>
      <p:graphicFrame>
        <p:nvGraphicFramePr>
          <p:cNvPr id="18" name="Tableau 17">
            <a:extLst>
              <a:ext uri="{FF2B5EF4-FFF2-40B4-BE49-F238E27FC236}">
                <a16:creationId xmlns:a16="http://schemas.microsoft.com/office/drawing/2014/main" id="{D5471B80-81EA-C274-F038-151CF1AADFD0}"/>
              </a:ext>
            </a:extLst>
          </p:cNvPr>
          <p:cNvGraphicFramePr>
            <a:graphicFrameLocks noGrp="1"/>
          </p:cNvGraphicFramePr>
          <p:nvPr>
            <p:extLst>
              <p:ext uri="{D42A27DB-BD31-4B8C-83A1-F6EECF244321}">
                <p14:modId xmlns:p14="http://schemas.microsoft.com/office/powerpoint/2010/main" val="3234049376"/>
              </p:ext>
            </p:extLst>
          </p:nvPr>
        </p:nvGraphicFramePr>
        <p:xfrm>
          <a:off x="54567" y="3198707"/>
          <a:ext cx="8013700" cy="1693888"/>
        </p:xfrm>
        <a:graphic>
          <a:graphicData uri="http://schemas.openxmlformats.org/drawingml/2006/table">
            <a:tbl>
              <a:tblPr/>
              <a:tblGrid>
                <a:gridCol w="1279800">
                  <a:extLst>
                    <a:ext uri="{9D8B030D-6E8A-4147-A177-3AD203B41FA5}">
                      <a16:colId xmlns:a16="http://schemas.microsoft.com/office/drawing/2014/main" val="2385326700"/>
                    </a:ext>
                  </a:extLst>
                </a:gridCol>
                <a:gridCol w="1337678">
                  <a:extLst>
                    <a:ext uri="{9D8B030D-6E8A-4147-A177-3AD203B41FA5}">
                      <a16:colId xmlns:a16="http://schemas.microsoft.com/office/drawing/2014/main" val="2269900850"/>
                    </a:ext>
                  </a:extLst>
                </a:gridCol>
                <a:gridCol w="576041">
                  <a:extLst>
                    <a:ext uri="{9D8B030D-6E8A-4147-A177-3AD203B41FA5}">
                      <a16:colId xmlns:a16="http://schemas.microsoft.com/office/drawing/2014/main" val="2282126053"/>
                    </a:ext>
                  </a:extLst>
                </a:gridCol>
                <a:gridCol w="586077">
                  <a:extLst>
                    <a:ext uri="{9D8B030D-6E8A-4147-A177-3AD203B41FA5}">
                      <a16:colId xmlns:a16="http://schemas.microsoft.com/office/drawing/2014/main" val="965282553"/>
                    </a:ext>
                  </a:extLst>
                </a:gridCol>
                <a:gridCol w="586077">
                  <a:extLst>
                    <a:ext uri="{9D8B030D-6E8A-4147-A177-3AD203B41FA5}">
                      <a16:colId xmlns:a16="http://schemas.microsoft.com/office/drawing/2014/main" val="4049642725"/>
                    </a:ext>
                  </a:extLst>
                </a:gridCol>
                <a:gridCol w="717644">
                  <a:extLst>
                    <a:ext uri="{9D8B030D-6E8A-4147-A177-3AD203B41FA5}">
                      <a16:colId xmlns:a16="http://schemas.microsoft.com/office/drawing/2014/main" val="2879537105"/>
                    </a:ext>
                  </a:extLst>
                </a:gridCol>
                <a:gridCol w="717644">
                  <a:extLst>
                    <a:ext uri="{9D8B030D-6E8A-4147-A177-3AD203B41FA5}">
                      <a16:colId xmlns:a16="http://schemas.microsoft.com/office/drawing/2014/main" val="492557847"/>
                    </a:ext>
                  </a:extLst>
                </a:gridCol>
                <a:gridCol w="825292">
                  <a:extLst>
                    <a:ext uri="{9D8B030D-6E8A-4147-A177-3AD203B41FA5}">
                      <a16:colId xmlns:a16="http://schemas.microsoft.com/office/drawing/2014/main" val="1536342034"/>
                    </a:ext>
                  </a:extLst>
                </a:gridCol>
                <a:gridCol w="825292">
                  <a:extLst>
                    <a:ext uri="{9D8B030D-6E8A-4147-A177-3AD203B41FA5}">
                      <a16:colId xmlns:a16="http://schemas.microsoft.com/office/drawing/2014/main" val="2368777859"/>
                    </a:ext>
                  </a:extLst>
                </a:gridCol>
                <a:gridCol w="562155">
                  <a:extLst>
                    <a:ext uri="{9D8B030D-6E8A-4147-A177-3AD203B41FA5}">
                      <a16:colId xmlns:a16="http://schemas.microsoft.com/office/drawing/2014/main" val="3546870392"/>
                    </a:ext>
                  </a:extLst>
                </a:gridCol>
              </a:tblGrid>
              <a:tr h="219345">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lgn="ctr" rtl="0" fontAlgn="t">
                        <a:buNone/>
                      </a:pPr>
                      <a:r>
                        <a:rPr lang="fr-FR" sz="800" b="1" i="0" u="none" strike="noStrike">
                          <a:solidFill>
                            <a:srgbClr val="FFFFFF"/>
                          </a:solidFill>
                          <a:effectLst/>
                          <a:latin typeface="Arial" panose="020B0604020202020204" pitchFamily="34" charset="0"/>
                        </a:rPr>
                        <a:t>Sem. du 08 au 12 Déc. 25</a:t>
                      </a:r>
                      <a:br>
                        <a:rPr lang="fr-FR" sz="800" b="1" i="0" u="none" strike="noStrike">
                          <a:solidFill>
                            <a:srgbClr val="FFFFFF"/>
                          </a:solidFill>
                          <a:effectLst/>
                          <a:latin typeface="Arial" panose="020B0604020202020204" pitchFamily="34" charset="0"/>
                        </a:rPr>
                      </a:br>
                      <a:endParaRPr lang="fr-FR" sz="800" b="1" i="0" u="none" strike="noStrike">
                        <a:solidFill>
                          <a:srgbClr val="FFFFFF"/>
                        </a:solidFill>
                        <a:effectLst/>
                        <a:latin typeface="Arial" panose="020B0604020202020204" pitchFamily="34" charset="0"/>
                      </a:endParaRP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08 au 12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1er au 05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47786683"/>
                  </a:ext>
                </a:extLst>
              </a:tr>
              <a:tr h="12944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492258"/>
                  </a:ext>
                </a:extLst>
              </a:tr>
              <a:tr h="18747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11912958"/>
                  </a:ext>
                </a:extLst>
              </a:tr>
              <a:tr h="116058">
                <a:tc rowSpan="3">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1767474"/>
                  </a:ext>
                </a:extLst>
              </a:tr>
              <a:tr h="116058">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25%</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96101"/>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99%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96%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194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97%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63381847"/>
                  </a:ext>
                </a:extLst>
              </a:tr>
              <a:tr h="124985">
                <a:tc rowSpan="3">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27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84%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661746"/>
                  </a:ext>
                </a:extLst>
              </a:tr>
              <a:tr h="112996">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-15%</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970295"/>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32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84%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86203717"/>
                  </a:ext>
                </a:extLst>
              </a:tr>
              <a:tr h="160694">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lgn="ctr" fontAlgn="ctr">
                        <a:buNone/>
                      </a:pPr>
                      <a:r>
                        <a:rPr lang="fr-FR" sz="800" b="1" i="0" u="none" strike="noStrike">
                          <a:solidFill>
                            <a:srgbClr val="000000"/>
                          </a:solidFill>
                          <a:effectLst/>
                          <a:latin typeface="Arial" panose="020B0604020202020204" pitchFamily="34" charset="0"/>
                        </a:rPr>
                        <a:t>126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150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276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C00000"/>
                          </a:solidFill>
                          <a:effectLst/>
                          <a:latin typeface="Arial" panose="020B0604020202020204" pitchFamily="34" charset="0"/>
                        </a:rPr>
                        <a:t>2%</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063720894"/>
                  </a:ext>
                </a:extLst>
              </a:tr>
              <a:tr h="187477">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lgn="ctr" fontAlgn="ctr">
                        <a:buNone/>
                      </a:pPr>
                      <a:r>
                        <a:rPr lang="fr-FR" sz="800" b="1" i="0" u="none" strike="noStrike">
                          <a:solidFill>
                            <a:srgbClr val="C00000"/>
                          </a:solidFill>
                          <a:effectLst/>
                          <a:latin typeface="Arial" panose="020B0604020202020204" pitchFamily="34" charset="0"/>
                        </a:rPr>
                        <a:t>95%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89%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5299928"/>
                  </a:ext>
                </a:extLst>
              </a:tr>
            </a:tbl>
          </a:graphicData>
        </a:graphic>
      </p:graphicFrame>
      <p:graphicFrame>
        <p:nvGraphicFramePr>
          <p:cNvPr id="19" name="Tableau 18">
            <a:extLst>
              <a:ext uri="{FF2B5EF4-FFF2-40B4-BE49-F238E27FC236}">
                <a16:creationId xmlns:a16="http://schemas.microsoft.com/office/drawing/2014/main" id="{FABE8F38-E79C-A0F0-2AE7-8DCFD956DD54}"/>
              </a:ext>
            </a:extLst>
          </p:cNvPr>
          <p:cNvGraphicFramePr>
            <a:graphicFrameLocks noGrp="1"/>
          </p:cNvGraphicFramePr>
          <p:nvPr>
            <p:extLst>
              <p:ext uri="{D42A27DB-BD31-4B8C-83A1-F6EECF244321}">
                <p14:modId xmlns:p14="http://schemas.microsoft.com/office/powerpoint/2010/main" val="3095783443"/>
              </p:ext>
            </p:extLst>
          </p:nvPr>
        </p:nvGraphicFramePr>
        <p:xfrm>
          <a:off x="54567" y="4983278"/>
          <a:ext cx="8013700" cy="1832622"/>
        </p:xfrm>
        <a:graphic>
          <a:graphicData uri="http://schemas.openxmlformats.org/drawingml/2006/table">
            <a:tbl>
              <a:tblPr/>
              <a:tblGrid>
                <a:gridCol w="1279800">
                  <a:extLst>
                    <a:ext uri="{9D8B030D-6E8A-4147-A177-3AD203B41FA5}">
                      <a16:colId xmlns:a16="http://schemas.microsoft.com/office/drawing/2014/main" val="792274694"/>
                    </a:ext>
                  </a:extLst>
                </a:gridCol>
                <a:gridCol w="1308468">
                  <a:extLst>
                    <a:ext uri="{9D8B030D-6E8A-4147-A177-3AD203B41FA5}">
                      <a16:colId xmlns:a16="http://schemas.microsoft.com/office/drawing/2014/main" val="1414940733"/>
                    </a:ext>
                  </a:extLst>
                </a:gridCol>
                <a:gridCol w="605251">
                  <a:extLst>
                    <a:ext uri="{9D8B030D-6E8A-4147-A177-3AD203B41FA5}">
                      <a16:colId xmlns:a16="http://schemas.microsoft.com/office/drawing/2014/main" val="3239699146"/>
                    </a:ext>
                  </a:extLst>
                </a:gridCol>
                <a:gridCol w="586077">
                  <a:extLst>
                    <a:ext uri="{9D8B030D-6E8A-4147-A177-3AD203B41FA5}">
                      <a16:colId xmlns:a16="http://schemas.microsoft.com/office/drawing/2014/main" val="3194049783"/>
                    </a:ext>
                  </a:extLst>
                </a:gridCol>
                <a:gridCol w="586077">
                  <a:extLst>
                    <a:ext uri="{9D8B030D-6E8A-4147-A177-3AD203B41FA5}">
                      <a16:colId xmlns:a16="http://schemas.microsoft.com/office/drawing/2014/main" val="364908798"/>
                    </a:ext>
                  </a:extLst>
                </a:gridCol>
                <a:gridCol w="717645">
                  <a:extLst>
                    <a:ext uri="{9D8B030D-6E8A-4147-A177-3AD203B41FA5}">
                      <a16:colId xmlns:a16="http://schemas.microsoft.com/office/drawing/2014/main" val="208648778"/>
                    </a:ext>
                  </a:extLst>
                </a:gridCol>
                <a:gridCol w="717645">
                  <a:extLst>
                    <a:ext uri="{9D8B030D-6E8A-4147-A177-3AD203B41FA5}">
                      <a16:colId xmlns:a16="http://schemas.microsoft.com/office/drawing/2014/main" val="3005067685"/>
                    </a:ext>
                  </a:extLst>
                </a:gridCol>
                <a:gridCol w="798866">
                  <a:extLst>
                    <a:ext uri="{9D8B030D-6E8A-4147-A177-3AD203B41FA5}">
                      <a16:colId xmlns:a16="http://schemas.microsoft.com/office/drawing/2014/main" val="2485355899"/>
                    </a:ext>
                  </a:extLst>
                </a:gridCol>
                <a:gridCol w="825910">
                  <a:extLst>
                    <a:ext uri="{9D8B030D-6E8A-4147-A177-3AD203B41FA5}">
                      <a16:colId xmlns:a16="http://schemas.microsoft.com/office/drawing/2014/main" val="663519980"/>
                    </a:ext>
                  </a:extLst>
                </a:gridCol>
                <a:gridCol w="587961">
                  <a:extLst>
                    <a:ext uri="{9D8B030D-6E8A-4147-A177-3AD203B41FA5}">
                      <a16:colId xmlns:a16="http://schemas.microsoft.com/office/drawing/2014/main" val="142989346"/>
                    </a:ext>
                  </a:extLst>
                </a:gridCol>
              </a:tblGrid>
              <a:tr h="17354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lgn="ctr" rtl="0" fontAlgn="t">
                        <a:buNone/>
                      </a:pPr>
                      <a:r>
                        <a:rPr lang="fr-FR" sz="800" b="1" i="0" u="none" strike="noStrike">
                          <a:solidFill>
                            <a:srgbClr val="FFFFFF"/>
                          </a:solidFill>
                          <a:effectLst/>
                          <a:latin typeface="Arial" panose="020B0604020202020204" pitchFamily="34" charset="0"/>
                        </a:rPr>
                        <a:t>Sem. du 08 au 12 Déc. 25</a:t>
                      </a:r>
                      <a:br>
                        <a:rPr lang="fr-FR" sz="800" b="1" i="0" u="none" strike="noStrike">
                          <a:solidFill>
                            <a:srgbClr val="FFFFFF"/>
                          </a:solidFill>
                          <a:effectLst/>
                          <a:latin typeface="Arial" panose="020B0604020202020204" pitchFamily="34" charset="0"/>
                        </a:rPr>
                      </a:br>
                      <a:endParaRPr lang="fr-FR" sz="800" b="1" i="0" u="none" strike="noStrike">
                        <a:solidFill>
                          <a:srgbClr val="FFFFFF"/>
                        </a:solidFill>
                        <a:effectLst/>
                        <a:latin typeface="Arial" panose="020B0604020202020204" pitchFamily="34" charset="0"/>
                      </a:endParaRP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08 au 12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lgn="ctr" rtl="0" fontAlgn="ctr">
                        <a:buNone/>
                      </a:pPr>
                      <a:r>
                        <a:rPr lang="fr-FR" sz="800" b="1" i="0" u="none" strike="noStrike">
                          <a:solidFill>
                            <a:srgbClr val="FFFFFF"/>
                          </a:solidFill>
                          <a:effectLst/>
                          <a:latin typeface="Arial" panose="020B0604020202020204" pitchFamily="34" charset="0"/>
                        </a:rPr>
                        <a:t>Total Sem. </a:t>
                      </a:r>
                      <a:br>
                        <a:rPr lang="fr-FR" sz="800" b="1" i="0" u="none" strike="noStrike">
                          <a:solidFill>
                            <a:srgbClr val="FFFFFF"/>
                          </a:solidFill>
                          <a:effectLst/>
                          <a:latin typeface="Arial" panose="020B0604020202020204" pitchFamily="34" charset="0"/>
                        </a:rPr>
                      </a:br>
                      <a:r>
                        <a:rPr lang="fr-FR" sz="800" b="1" i="0" u="none" strike="noStrike">
                          <a:solidFill>
                            <a:srgbClr val="FFFFFF"/>
                          </a:solidFill>
                          <a:effectLst/>
                          <a:latin typeface="Arial" panose="020B0604020202020204" pitchFamily="34" charset="0"/>
                        </a:rPr>
                        <a:t>du 1er au 05 Déc. 25</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9652824"/>
                  </a:ext>
                </a:extLst>
              </a:tr>
              <a:tr h="13061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4888556"/>
                  </a:ext>
                </a:extLst>
              </a:tr>
              <a:tr h="14066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636953831"/>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88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93%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847878"/>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91365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1211"/>
                  </a:ext>
                </a:extLst>
              </a:tr>
              <a:tr h="90429">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-89%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194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-90%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595899873"/>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21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-12%</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9758083"/>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33%</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492947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30%</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6125287"/>
                  </a:ext>
                </a:extLst>
              </a:tr>
              <a:tr h="89404">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32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-47%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-66%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C00000"/>
                          </a:solidFill>
                          <a:effectLst/>
                          <a:latin typeface="Arial" panose="020B0604020202020204" pitchFamily="34" charset="0"/>
                        </a:rPr>
                        <a:t>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fr-FR" sz="800" b="1" i="0" u="none" strike="noStrike">
                          <a:solidFill>
                            <a:srgbClr val="FFFFFF"/>
                          </a:solidFill>
                          <a:effectLst/>
                          <a:latin typeface="Arial" panose="020B0604020202020204" pitchFamily="34" charset="0"/>
                        </a:rPr>
                        <a:t>-59%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978311143"/>
                  </a:ext>
                </a:extLst>
              </a:tr>
              <a:tr h="120572">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lgn="ctr" fontAlgn="ctr">
                        <a:buNone/>
                      </a:pPr>
                      <a:r>
                        <a:rPr lang="fr-FR" sz="800" b="1" i="0" u="none" strike="noStrike">
                          <a:solidFill>
                            <a:srgbClr val="000000"/>
                          </a:solidFill>
                          <a:effectLst/>
                          <a:latin typeface="Arial" panose="020B0604020202020204" pitchFamily="34" charset="0"/>
                        </a:rPr>
                        <a:t>126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150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rtl="0" fontAlgn="ctr">
                        <a:buNone/>
                      </a:pPr>
                      <a:r>
                        <a:rPr lang="fr-FR" sz="800" b="0" i="0" u="none" strike="noStrike">
                          <a:solidFill>
                            <a:srgbClr val="0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000000"/>
                          </a:solidFill>
                          <a:effectLst/>
                          <a:latin typeface="Arial" panose="020B0604020202020204" pitchFamily="34" charset="0"/>
                        </a:rPr>
                        <a:t>276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C00000"/>
                          </a:solidFill>
                          <a:effectLst/>
                          <a:latin typeface="Arial" panose="020B0604020202020204" pitchFamily="34" charset="0"/>
                        </a:rPr>
                        <a:t>2%</a:t>
                      </a: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354580109"/>
                  </a:ext>
                </a:extLst>
              </a:tr>
              <a:tr h="144016">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buNone/>
                      </a:pPr>
                      <a:r>
                        <a:rPr lang="fr-FR" sz="800" b="1" i="0" u="none" strike="noStrike">
                          <a:solidFill>
                            <a:srgbClr val="C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-83%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b">
                        <a:buNone/>
                      </a:pPr>
                      <a:endParaRPr lang="fr-FR" sz="8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5626708"/>
                  </a:ext>
                </a:extLst>
              </a:tr>
            </a:tbl>
          </a:graphicData>
        </a:graphic>
      </p:graphicFrame>
      <p:graphicFrame>
        <p:nvGraphicFramePr>
          <p:cNvPr id="6" name="Tableau 5">
            <a:extLst>
              <a:ext uri="{FF2B5EF4-FFF2-40B4-BE49-F238E27FC236}">
                <a16:creationId xmlns:a16="http://schemas.microsoft.com/office/drawing/2014/main" id="{E80D51FC-03D1-FB47-7E45-05857C233704}"/>
              </a:ext>
            </a:extLst>
          </p:cNvPr>
          <p:cNvGraphicFramePr>
            <a:graphicFrameLocks noGrp="1"/>
          </p:cNvGraphicFramePr>
          <p:nvPr>
            <p:extLst>
              <p:ext uri="{D42A27DB-BD31-4B8C-83A1-F6EECF244321}">
                <p14:modId xmlns:p14="http://schemas.microsoft.com/office/powerpoint/2010/main" val="212267986"/>
              </p:ext>
            </p:extLst>
          </p:nvPr>
        </p:nvGraphicFramePr>
        <p:xfrm>
          <a:off x="8448616" y="1495217"/>
          <a:ext cx="1906966" cy="350520"/>
        </p:xfrm>
        <a:graphic>
          <a:graphicData uri="http://schemas.openxmlformats.org/drawingml/2006/table">
            <a:tbl>
              <a:tblPr/>
              <a:tblGrid>
                <a:gridCol w="953483">
                  <a:extLst>
                    <a:ext uri="{9D8B030D-6E8A-4147-A177-3AD203B41FA5}">
                      <a16:colId xmlns:a16="http://schemas.microsoft.com/office/drawing/2014/main" val="1370947710"/>
                    </a:ext>
                  </a:extLst>
                </a:gridCol>
                <a:gridCol w="953483">
                  <a:extLst>
                    <a:ext uri="{9D8B030D-6E8A-4147-A177-3AD203B41FA5}">
                      <a16:colId xmlns:a16="http://schemas.microsoft.com/office/drawing/2014/main" val="63466843"/>
                    </a:ext>
                  </a:extLst>
                </a:gridCol>
              </a:tblGrid>
              <a:tr h="167615">
                <a:tc>
                  <a:txBody>
                    <a:bodyPr/>
                    <a:lstStyle/>
                    <a:p>
                      <a:r>
                        <a:t>NPS : 50.0%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78%</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7" name="Tableau 6">
            <a:extLst>
              <a:ext uri="{FF2B5EF4-FFF2-40B4-BE49-F238E27FC236}">
                <a16:creationId xmlns:a16="http://schemas.microsoft.com/office/drawing/2014/main" id="{2445DB68-F85E-E733-7CC4-D7AD935C30BD}"/>
              </a:ext>
            </a:extLst>
          </p:cNvPr>
          <p:cNvGraphicFramePr>
            <a:graphicFrameLocks noGrp="1"/>
          </p:cNvGraphicFramePr>
          <p:nvPr>
            <p:extLst>
              <p:ext uri="{D42A27DB-BD31-4B8C-83A1-F6EECF244321}">
                <p14:modId xmlns:p14="http://schemas.microsoft.com/office/powerpoint/2010/main" val="1316693915"/>
              </p:ext>
            </p:extLst>
          </p:nvPr>
        </p:nvGraphicFramePr>
        <p:xfrm>
          <a:off x="8448616" y="5248787"/>
          <a:ext cx="2099144" cy="395681"/>
        </p:xfrm>
        <a:graphic>
          <a:graphicData uri="http://schemas.openxmlformats.org/drawingml/2006/table">
            <a:tbl>
              <a:tblPr/>
              <a:tblGrid>
                <a:gridCol w="1049572">
                  <a:extLst>
                    <a:ext uri="{9D8B030D-6E8A-4147-A177-3AD203B41FA5}">
                      <a16:colId xmlns:a16="http://schemas.microsoft.com/office/drawing/2014/main" val="1370947710"/>
                    </a:ext>
                  </a:extLst>
                </a:gridCol>
                <a:gridCol w="1049572">
                  <a:extLst>
                    <a:ext uri="{9D8B030D-6E8A-4147-A177-3AD203B41FA5}">
                      <a16:colId xmlns:a16="http://schemas.microsoft.com/office/drawing/2014/main" val="63466843"/>
                    </a:ext>
                  </a:extLst>
                </a:gridCol>
              </a:tblGrid>
              <a:tr h="220421">
                <a:tc>
                  <a:txBody>
                    <a:bodyPr/>
                    <a:lstStyle/>
                    <a:p>
                      <a:r>
                        <a:t>CSAT : 100.0%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01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-85%</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8" name="Tableau 7">
            <a:extLst>
              <a:ext uri="{FF2B5EF4-FFF2-40B4-BE49-F238E27FC236}">
                <a16:creationId xmlns:a16="http://schemas.microsoft.com/office/drawing/2014/main" id="{B736A9E2-CBFA-DD3E-CD6F-5815E50042A2}"/>
              </a:ext>
            </a:extLst>
          </p:cNvPr>
          <p:cNvGraphicFramePr>
            <a:graphicFrameLocks noGrp="1"/>
          </p:cNvGraphicFramePr>
          <p:nvPr>
            <p:extLst>
              <p:ext uri="{D42A27DB-BD31-4B8C-83A1-F6EECF244321}">
                <p14:modId xmlns:p14="http://schemas.microsoft.com/office/powerpoint/2010/main" val="1750535170"/>
              </p:ext>
            </p:extLst>
          </p:nvPr>
        </p:nvGraphicFramePr>
        <p:xfrm>
          <a:off x="8513384" y="3598937"/>
          <a:ext cx="2186346" cy="350520"/>
        </p:xfrm>
        <a:graphic>
          <a:graphicData uri="http://schemas.openxmlformats.org/drawingml/2006/table">
            <a:tbl>
              <a:tblPr/>
              <a:tblGrid>
                <a:gridCol w="1093173">
                  <a:extLst>
                    <a:ext uri="{9D8B030D-6E8A-4147-A177-3AD203B41FA5}">
                      <a16:colId xmlns:a16="http://schemas.microsoft.com/office/drawing/2014/main" val="1370947710"/>
                    </a:ext>
                  </a:extLst>
                </a:gridCol>
                <a:gridCol w="1093173">
                  <a:extLst>
                    <a:ext uri="{9D8B030D-6E8A-4147-A177-3AD203B41FA5}">
                      <a16:colId xmlns:a16="http://schemas.microsoft.com/office/drawing/2014/main" val="63466843"/>
                    </a:ext>
                  </a:extLst>
                </a:gridCol>
              </a:tblGrid>
              <a:tr h="167615">
                <a:tc>
                  <a:txBody>
                    <a:bodyPr/>
                    <a:lstStyle/>
                    <a:p>
                      <a:r>
                        <a:t>CES : -100.0%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89%</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3" name="Tableau 12">
            <a:extLst>
              <a:ext uri="{FF2B5EF4-FFF2-40B4-BE49-F238E27FC236}">
                <a16:creationId xmlns:a16="http://schemas.microsoft.com/office/drawing/2014/main" id="{8385ADBF-AE1D-125A-A597-D8620B05EDA3}"/>
              </a:ext>
            </a:extLst>
          </p:cNvPr>
          <p:cNvGraphicFramePr>
            <a:graphicFrameLocks noGrp="1"/>
          </p:cNvGraphicFramePr>
          <p:nvPr>
            <p:extLst>
              <p:ext uri="{D42A27DB-BD31-4B8C-83A1-F6EECF244321}">
                <p14:modId xmlns:p14="http://schemas.microsoft.com/office/powerpoint/2010/main" val="997007191"/>
              </p:ext>
            </p:extLst>
          </p:nvPr>
        </p:nvGraphicFramePr>
        <p:xfrm>
          <a:off x="8448616" y="1107580"/>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NPS : 81%</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4" name="Tableau 13">
            <a:extLst>
              <a:ext uri="{FF2B5EF4-FFF2-40B4-BE49-F238E27FC236}">
                <a16:creationId xmlns:a16="http://schemas.microsoft.com/office/drawing/2014/main" id="{163B4BED-677C-3F2D-D537-7F2075C8BAC2}"/>
              </a:ext>
            </a:extLst>
          </p:cNvPr>
          <p:cNvGraphicFramePr>
            <a:graphicFrameLocks noGrp="1"/>
          </p:cNvGraphicFramePr>
          <p:nvPr>
            <p:extLst>
              <p:ext uri="{D42A27DB-BD31-4B8C-83A1-F6EECF244321}">
                <p14:modId xmlns:p14="http://schemas.microsoft.com/office/powerpoint/2010/main" val="562717407"/>
              </p:ext>
            </p:extLst>
          </p:nvPr>
        </p:nvGraphicFramePr>
        <p:xfrm>
          <a:off x="8513384" y="3198707"/>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 92%</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5" name="Tableau 14">
            <a:extLst>
              <a:ext uri="{FF2B5EF4-FFF2-40B4-BE49-F238E27FC236}">
                <a16:creationId xmlns:a16="http://schemas.microsoft.com/office/drawing/2014/main" id="{BA5B5122-EBE9-56E7-97D3-3E5674EB05DE}"/>
              </a:ext>
            </a:extLst>
          </p:cNvPr>
          <p:cNvGraphicFramePr>
            <a:graphicFrameLocks noGrp="1"/>
          </p:cNvGraphicFramePr>
          <p:nvPr>
            <p:extLst>
              <p:ext uri="{D42A27DB-BD31-4B8C-83A1-F6EECF244321}">
                <p14:modId xmlns:p14="http://schemas.microsoft.com/office/powerpoint/2010/main" val="601822124"/>
              </p:ext>
            </p:extLst>
          </p:nvPr>
        </p:nvGraphicFramePr>
        <p:xfrm>
          <a:off x="8481000" y="4808017"/>
          <a:ext cx="1498068" cy="350521"/>
        </p:xfrm>
        <a:graphic>
          <a:graphicData uri="http://schemas.openxmlformats.org/drawingml/2006/table">
            <a:tbl>
              <a:tblPr/>
              <a:tblGrid>
                <a:gridCol w="1498068">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 : -80%</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spTree>
    <p:extLst>
      <p:ext uri="{BB962C8B-B14F-4D97-AF65-F5344CB8AC3E}">
        <p14:creationId xmlns:p14="http://schemas.microsoft.com/office/powerpoint/2010/main" val="23254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BF4-E1DD-75B2-08E5-3F341E0CF9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5D536A-F1B6-B62D-F32B-F96BA340AA24}"/>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Résultats Périmètre VIE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30D87C2-46C5-BEA4-5078-630E7D317049}"/>
              </a:ext>
            </a:extLst>
          </p:cNvPr>
          <p:cNvSpPr txBox="1"/>
          <p:nvPr/>
        </p:nvSpPr>
        <p:spPr>
          <a:xfrm>
            <a:off x="4286865" y="5094168"/>
            <a:ext cx="3656707"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sont satisfaits du traitement de leurs requêtes contre 0.0% d'insatisfaits</a:t>
            </a:r>
            <a:r>
              <a:rPr lang="fr-CI" sz="1200" dirty="0">
                <a:solidFill>
                  <a:srgbClr val="C00000"/>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p>
          <a:p>
            <a:pPr algn="just">
              <a:defRPr/>
            </a:pPr>
            <a:endParaRPr lang="fr-CI" sz="1200" b="1" i="1" dirty="0">
              <a:solidFill>
                <a:srgbClr val="C00000"/>
              </a:solidFill>
              <a:latin typeface="Arial"/>
            </a:endParaRPr>
          </a:p>
        </p:txBody>
      </p:sp>
      <p:sp>
        <p:nvSpPr>
          <p:cNvPr id="4" name="ZoneTexte 3">
            <a:extLst>
              <a:ext uri="{FF2B5EF4-FFF2-40B4-BE49-F238E27FC236}">
                <a16:creationId xmlns:a16="http://schemas.microsoft.com/office/drawing/2014/main" id="{7D41E046-87E9-4D48-BA10-542EC0630B83}"/>
              </a:ext>
            </a:extLst>
          </p:cNvPr>
          <p:cNvSpPr txBox="1"/>
          <p:nvPr/>
        </p:nvSpPr>
        <p:spPr>
          <a:xfrm>
            <a:off x="111881" y="1125880"/>
            <a:ext cx="3513044"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le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318167F9-8079-6BA4-47F4-C8EE40846778}"/>
              </a:ext>
            </a:extLst>
          </p:cNvPr>
          <p:cNvGraphicFramePr>
            <a:graphicFrameLocks noGrp="1"/>
          </p:cNvGraphicFramePr>
          <p:nvPr>
            <p:extLst>
              <p:ext uri="{D42A27DB-BD31-4B8C-83A1-F6EECF244321}">
                <p14:modId xmlns:p14="http://schemas.microsoft.com/office/powerpoint/2010/main" val="1768856099"/>
              </p:ext>
            </p:extLst>
          </p:nvPr>
        </p:nvGraphicFramePr>
        <p:xfrm>
          <a:off x="136282" y="1506826"/>
          <a:ext cx="3488643" cy="311216"/>
        </p:xfrm>
        <a:graphic>
          <a:graphicData uri="http://schemas.openxmlformats.org/drawingml/2006/table">
            <a:tbl>
              <a:tblPr/>
              <a:tblGrid>
                <a:gridCol w="1428683">
                  <a:extLst>
                    <a:ext uri="{9D8B030D-6E8A-4147-A177-3AD203B41FA5}">
                      <a16:colId xmlns:a16="http://schemas.microsoft.com/office/drawing/2014/main" val="3950295724"/>
                    </a:ext>
                  </a:extLst>
                </a:gridCol>
                <a:gridCol w="1029980">
                  <a:extLst>
                    <a:ext uri="{9D8B030D-6E8A-4147-A177-3AD203B41FA5}">
                      <a16:colId xmlns:a16="http://schemas.microsoft.com/office/drawing/2014/main" val="799972902"/>
                    </a:ext>
                  </a:extLst>
                </a:gridCol>
                <a:gridCol w="102998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70F1B3B5-E066-C0FB-1B5C-205B08A157D0}"/>
              </a:ext>
            </a:extLst>
          </p:cNvPr>
          <p:cNvSpPr txBox="1"/>
          <p:nvPr/>
        </p:nvSpPr>
        <p:spPr>
          <a:xfrm>
            <a:off x="111881" y="5925165"/>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estiment avoir fourni un faible effort pour avoir accès à l'information recherchée au niveau de la VIE</a:t>
            </a:r>
            <a:r>
              <a:rPr lang="fr-CI" sz="1200" b="1" dirty="0">
                <a:solidFill>
                  <a:prstClr val="black"/>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8126D804-049B-BD6A-B006-30DD8B4792E0}"/>
              </a:ext>
            </a:extLst>
          </p:cNvPr>
          <p:cNvSpPr txBox="1"/>
          <p:nvPr/>
        </p:nvSpPr>
        <p:spPr>
          <a:xfrm>
            <a:off x="8298427" y="4827638"/>
            <a:ext cx="3781692"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0.0%, les clients sondés restent globalement favorables à SUNU Assurances, mais la proportion de détracteurs reste à surveiller</a:t>
            </a:r>
            <a:r>
              <a:rPr lang="fr-FR" sz="1200" dirty="0">
                <a:solidFill>
                  <a:prstClr val="black"/>
                </a:solidFill>
                <a:latin typeface="Arial"/>
              </a:rPr>
              <a:t/>
            </a: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F8AC19CF-EFBD-59BF-DEC2-8A8CAC0A1C90}"/>
              </a:ext>
            </a:extLst>
          </p:cNvPr>
          <p:cNvSpPr txBox="1"/>
          <p:nvPr/>
        </p:nvSpPr>
        <p:spPr>
          <a:xfrm>
            <a:off x="4081943" y="6009855"/>
            <a:ext cx="7775759" cy="830997"/>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témoignent d'un niveau de satisfaction correct sur le périmètre VIE. Cependant, un point d'attention particulier devrait être apporté aux clients détracteurs et insatisfaits afin de consolider cette dynamique.</a:t>
            </a:r>
            <a:r>
              <a:rPr lang="fr-CI" sz="1200" b="1" dirty="0">
                <a:solidFill>
                  <a:prstClr val="black"/>
                </a:solidFill>
                <a:latin typeface="Arial"/>
              </a:rPr>
              <a:t/>
            </a:r>
          </a:p>
          <a:p>
            <a:pPr algn="ctr">
              <a:defRPr/>
            </a:pPr>
            <a:r>
              <a:rPr lang="fr-CI" sz="1200" b="1" dirty="0">
                <a:solidFill>
                  <a:prstClr val="black"/>
                </a:solidFill>
                <a:latin typeface="Arial"/>
              </a:rPr>
              <a:t/>
            </a:r>
            <a:r>
              <a:rPr lang="fr-FR" sz="1200" b="1" dirty="0">
                <a:solidFill>
                  <a:prstClr val="black"/>
                </a:solidFill>
                <a:latin typeface="Arial"/>
              </a:rPr>
              <a:t/>
            </a:r>
            <a:endParaRPr lang="fr-CI" sz="1200" b="1" dirty="0">
              <a:solidFill>
                <a:prstClr val="black"/>
              </a:solidFill>
              <a:latin typeface="Arial"/>
            </a:endParaRPr>
          </a:p>
        </p:txBody>
      </p:sp>
      <p:graphicFrame>
        <p:nvGraphicFramePr>
          <p:cNvPr id="9" name="Graphique 8">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6037167"/>
              </p:ext>
            </p:extLst>
          </p:nvPr>
        </p:nvGraphicFramePr>
        <p:xfrm>
          <a:off x="8360919" y="1125880"/>
          <a:ext cx="3656708" cy="37017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aphique 9">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1054082364"/>
              </p:ext>
            </p:extLst>
          </p:nvPr>
        </p:nvGraphicFramePr>
        <p:xfrm>
          <a:off x="122033" y="1971202"/>
          <a:ext cx="3488642" cy="368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4046065997"/>
              </p:ext>
            </p:extLst>
          </p:nvPr>
        </p:nvGraphicFramePr>
        <p:xfrm>
          <a:off x="3996776" y="1140463"/>
          <a:ext cx="3978042" cy="37017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7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EAEB-DE28-6084-0E71-6545197FDD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29B1C5-94D8-5EB0-ACD0-BA25A83E3EA5}"/>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Résultats Périmètre IARD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B2A9C29-7693-83D6-AE8F-898D9C7F654E}"/>
              </a:ext>
            </a:extLst>
          </p:cNvPr>
          <p:cNvSpPr txBox="1"/>
          <p:nvPr/>
        </p:nvSpPr>
        <p:spPr>
          <a:xfrm>
            <a:off x="4339478" y="4966417"/>
            <a:ext cx="3513043" cy="646331"/>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sont satisfaits du traitement de leurs requêtes contre 0.0% d'insatisfaits</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4" name="ZoneTexte 3">
            <a:extLst>
              <a:ext uri="{FF2B5EF4-FFF2-40B4-BE49-F238E27FC236}">
                <a16:creationId xmlns:a16="http://schemas.microsoft.com/office/drawing/2014/main" id="{0688080A-849A-5E1F-348C-375246263B83}"/>
              </a:ext>
            </a:extLst>
          </p:cNvPr>
          <p:cNvSpPr txBox="1"/>
          <p:nvPr/>
        </p:nvSpPr>
        <p:spPr>
          <a:xfrm>
            <a:off x="111880" y="1125880"/>
            <a:ext cx="3681459"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au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B42B0782-F3F1-0C9D-A5FF-0A6FEC56BA7E}"/>
              </a:ext>
            </a:extLst>
          </p:cNvPr>
          <p:cNvGraphicFramePr>
            <a:graphicFrameLocks noGrp="1"/>
          </p:cNvGraphicFramePr>
          <p:nvPr>
            <p:extLst>
              <p:ext uri="{D42A27DB-BD31-4B8C-83A1-F6EECF244321}">
                <p14:modId xmlns:p14="http://schemas.microsoft.com/office/powerpoint/2010/main" val="3803057177"/>
              </p:ext>
            </p:extLst>
          </p:nvPr>
        </p:nvGraphicFramePr>
        <p:xfrm>
          <a:off x="136282" y="1506826"/>
          <a:ext cx="3531388" cy="311216"/>
        </p:xfrm>
        <a:graphic>
          <a:graphicData uri="http://schemas.openxmlformats.org/drawingml/2006/table">
            <a:tbl>
              <a:tblPr/>
              <a:tblGrid>
                <a:gridCol w="1446188">
                  <a:extLst>
                    <a:ext uri="{9D8B030D-6E8A-4147-A177-3AD203B41FA5}">
                      <a16:colId xmlns:a16="http://schemas.microsoft.com/office/drawing/2014/main" val="3950295724"/>
                    </a:ext>
                  </a:extLst>
                </a:gridCol>
                <a:gridCol w="1042600">
                  <a:extLst>
                    <a:ext uri="{9D8B030D-6E8A-4147-A177-3AD203B41FA5}">
                      <a16:colId xmlns:a16="http://schemas.microsoft.com/office/drawing/2014/main" val="799972902"/>
                    </a:ext>
                  </a:extLst>
                </a:gridCol>
                <a:gridCol w="104260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4688F008-8477-3CF2-2E8E-7D868130E147}"/>
              </a:ext>
            </a:extLst>
          </p:cNvPr>
          <p:cNvSpPr txBox="1"/>
          <p:nvPr/>
        </p:nvSpPr>
        <p:spPr>
          <a:xfrm>
            <a:off x="39305" y="5889748"/>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estiment avoir fourni un faible effort pour avoir accès à l'information recherchée au niveau de l'IARD</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C6309B4B-BB18-2DFF-D242-9CE0DB76896A}"/>
              </a:ext>
            </a:extLst>
          </p:cNvPr>
          <p:cNvSpPr txBox="1"/>
          <p:nvPr/>
        </p:nvSpPr>
        <p:spPr>
          <a:xfrm>
            <a:off x="8093435" y="4689419"/>
            <a:ext cx="4098565"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100.0%, les clients sondés affichent une forte propension à recommander SUNU Assurances à leurs proches, amis et connaissances</a:t>
            </a:r>
            <a:r>
              <a:rPr lang="fr-FR" sz="1200" dirty="0">
                <a:solidFill>
                  <a:prstClr val="black"/>
                </a:solidFill>
                <a:latin typeface="Arial"/>
              </a:rPr>
              <a:t/>
            </a:r>
          </a:p>
          <a:p>
            <a:pPr algn="just">
              <a:defRPr/>
            </a:pP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effectLst>
                  <a:outerShdw blurRad="38100" dist="38100" dir="2700000" algn="tl">
                    <a:srgbClr val="000000">
                      <a:alpha val="43137"/>
                    </a:srgbClr>
                  </a:outerShdw>
                </a:effectLst>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a:p>
            <a:pPr algn="just">
              <a:defRPr/>
            </a:pPr>
            <a:r>
              <a:rPr lang="fr-CI" sz="1200" b="1">
                <a:solidFill>
                  <a:srgbClr val="C00000"/>
                </a:solidFill>
                <a:effectLst>
                  <a:outerShdw blurRad="38100" dist="38100" dir="2700000" algn="tl">
                    <a:srgbClr val="000000">
                      <a:alpha val="43137"/>
                    </a:srgbClr>
                  </a:outerShdw>
                </a:effectLst>
                <a:latin typeface="Arial"/>
              </a:rPr>
              <a:t/>
            </a:r>
            <a:r>
              <a:rPr lang="fr-CI" sz="1200" b="1">
                <a:solidFill>
                  <a:prstClr val="black"/>
                </a:solidFill>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A9FCA580-4B7F-E190-241A-584389A11F35}"/>
              </a:ext>
            </a:extLst>
          </p:cNvPr>
          <p:cNvSpPr txBox="1"/>
          <p:nvPr/>
        </p:nvSpPr>
        <p:spPr>
          <a:xfrm>
            <a:off x="4009672" y="5889973"/>
            <a:ext cx="8143023" cy="1015663"/>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confirment la confiance que nos clients placent en SUNU Assurances sur le périmètre IARD. Cette satisfaction durable renforce notre engagement et transforme nos assurés en partenaires fidèles, prêts à recommander notre compagnie à leurs proches.</a:t>
            </a:r>
            <a:r>
              <a:rPr lang="fr-CI" sz="1200" b="1" dirty="0">
                <a:solidFill>
                  <a:prstClr val="black"/>
                </a:solidFill>
                <a:latin typeface="Arial"/>
              </a:rPr>
              <a:t/>
            </a:r>
          </a:p>
          <a:p>
            <a:pPr algn="ctr">
              <a:defRPr/>
            </a:pPr>
            <a:r>
              <a:rPr lang="fr-FR" sz="1200" b="1" dirty="0">
                <a:solidFill>
                  <a:prstClr val="black"/>
                </a:solidFill>
                <a:latin typeface="Arial"/>
              </a:rPr>
              <a:t/>
            </a:r>
            <a:endParaRPr lang="fr-CI" sz="1200" b="1" dirty="0">
              <a:solidFill>
                <a:prstClr val="black"/>
              </a:solidFill>
              <a:latin typeface="Arial"/>
            </a:endParaRPr>
          </a:p>
        </p:txBody>
      </p:sp>
      <p:graphicFrame>
        <p:nvGraphicFramePr>
          <p:cNvPr id="11" name="Graphique 10">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2043583409"/>
              </p:ext>
            </p:extLst>
          </p:nvPr>
        </p:nvGraphicFramePr>
        <p:xfrm>
          <a:off x="111880" y="1965863"/>
          <a:ext cx="3839284" cy="3622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1745214739"/>
              </p:ext>
            </p:extLst>
          </p:nvPr>
        </p:nvGraphicFramePr>
        <p:xfrm>
          <a:off x="4487224" y="1099433"/>
          <a:ext cx="3513044" cy="37085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phique 13">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9330139"/>
              </p:ext>
            </p:extLst>
          </p:nvPr>
        </p:nvGraphicFramePr>
        <p:xfrm>
          <a:off x="8521358" y="1099432"/>
          <a:ext cx="3242717" cy="35124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935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BF5B6-85C3-6A10-B75E-4FDE5FF296E4}"/>
              </a:ext>
            </a:extLst>
          </p:cNvPr>
          <p:cNvSpPr txBox="1">
            <a:spLocks/>
          </p:cNvSpPr>
          <p:nvPr/>
        </p:nvSpPr>
        <p:spPr>
          <a:xfrm>
            <a:off x="2308084" y="3032650"/>
            <a:ext cx="9219888"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Merci de votre attention</a:t>
            </a:r>
          </a:p>
        </p:txBody>
      </p:sp>
    </p:spTree>
    <p:extLst>
      <p:ext uri="{BB962C8B-B14F-4D97-AF65-F5344CB8AC3E}">
        <p14:creationId xmlns:p14="http://schemas.microsoft.com/office/powerpoint/2010/main" val="82292907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0E2C262C946447A1DCFDD6355FBC02" ma:contentTypeVersion="13" ma:contentTypeDescription="Crée un document." ma:contentTypeScope="" ma:versionID="37882633a07bd79e6709a2345764face">
  <xsd:schema xmlns:xsd="http://www.w3.org/2001/XMLSchema" xmlns:xs="http://www.w3.org/2001/XMLSchema" xmlns:p="http://schemas.microsoft.com/office/2006/metadata/properties" xmlns:ns2="4587af1c-6693-4a82-a3cb-963b62434259" xmlns:ns3="3503d0c0-fb4f-4fc1-91fe-fb132f70b099" targetNamespace="http://schemas.microsoft.com/office/2006/metadata/properties" ma:root="true" ma:fieldsID="0cb338579dd37b127ca275fd9ec40c96" ns2:_="" ns3:_="">
    <xsd:import namespace="4587af1c-6693-4a82-a3cb-963b62434259"/>
    <xsd:import namespace="3503d0c0-fb4f-4fc1-91fe-fb132f70b09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7af1c-6693-4a82-a3cb-963b62434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9b5b8124-5bbb-4617-8fd1-96ea0cd90bd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03d0c0-fb4f-4fc1-91fe-fb132f70b09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87af1c-6693-4a82-a3cb-963b62434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43B573-3355-44F8-8BAB-A5894C8B56EE}">
  <ds:schemaRefs>
    <ds:schemaRef ds:uri="http://schemas.microsoft.com/sharepoint/v3/contenttype/forms"/>
  </ds:schemaRefs>
</ds:datastoreItem>
</file>

<file path=customXml/itemProps2.xml><?xml version="1.0" encoding="utf-8"?>
<ds:datastoreItem xmlns:ds="http://schemas.openxmlformats.org/officeDocument/2006/customXml" ds:itemID="{A320ED68-EA97-463A-8D04-C71EE29E25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87af1c-6693-4a82-a3cb-963b62434259"/>
    <ds:schemaRef ds:uri="3503d0c0-fb4f-4fc1-91fe-fb132f70b0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9F70CE-5AE0-4239-9547-D0A4E7B7DB98}">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3503d0c0-fb4f-4fc1-91fe-fb132f70b099"/>
    <ds:schemaRef ds:uri="4587af1c-6693-4a82-a3cb-963b6243425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4968</TotalTime>
  <Words>1391</Words>
  <Application>Microsoft Office PowerPoint</Application>
  <PresentationFormat>Grand écran</PresentationFormat>
  <Paragraphs>413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Aptos</vt:lpstr>
      <vt:lpstr>Arial</vt:lpstr>
      <vt:lpstr>Calibri</vt:lpstr>
      <vt:lpstr>Wingdings</vt:lpstr>
      <vt:lpstr>1_Thème Office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KINDIA</dc:creator>
  <cp:lastModifiedBy>Mamadou Cherif BALDE</cp:lastModifiedBy>
  <cp:revision>54</cp:revision>
  <dcterms:created xsi:type="dcterms:W3CDTF">2025-01-20T08:34:27Z</dcterms:created>
  <dcterms:modified xsi:type="dcterms:W3CDTF">2026-06-22T07:10:58Z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0x010100F50E2C262C946447A1DCFDD6355FBC02</vt:lpwstr>
  </property>
</Properties>
</file>