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2" r:id="rId4"/>
    <p:sldMasterId id="2147483656" r:id="rId5"/>
  </p:sldMasterIdLst>
  <p:sldIdLst>
    <p:sldId id="274" r:id="rId6"/>
    <p:sldId id="275" r:id="rId7"/>
    <p:sldId id="257" r:id="rId8"/>
    <p:sldId id="283" r:id="rId9"/>
    <p:sldId id="280" r:id="rId10"/>
    <p:sldId id="874" r:id="rId11"/>
    <p:sldId id="277" r:id="rId12"/>
    <p:sldId id="281" r:id="rId13"/>
    <p:sldId id="282" r:id="rId14"/>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22BF016-7E9F-485D-94B8-FD3FB8C732AA}" v="47" dt="2025-11-30T07:41:59.097"/>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19"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themeOverride" Target="../theme/themeOverride1.xml"/><Relationship Id="rId4"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themeOverride" Target="../theme/themeOverride2.xml"/><Relationship Id="rId4"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themeOverride" Target="../theme/themeOverride3.xml"/><Relationship Id="rId4"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themeOverride" Target="../theme/themeOverride4.xml"/><Relationship Id="rId4"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themeOverride" Target="../theme/themeOverride5.xml"/><Relationship Id="rId4"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themeOverride" Target="../theme/themeOverride6.xml"/><Relationship Id="rId4"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ct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r>
              <a:rPr lang="fr-FR"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Net Promotion Score (NPS)</a:t>
            </a:r>
          </a:p>
        </c:rich>
      </c:tx>
      <c:layout>
        <c:manualLayout>
          <c:xMode val="edge"/>
          <c:yMode val="edge"/>
          <c:x val="0.22587040861695568"/>
          <c:y val="2.8767696535002291E-2"/>
        </c:manualLayout>
      </c:layout>
      <c:overlay val="0"/>
      <c:spPr>
        <a:noFill/>
        <a:ln>
          <a:noFill/>
        </a:ln>
        <a:effectLst/>
      </c:spPr>
      <c:txPr>
        <a:bodyPr rot="0" spcFirstLastPara="1" vertOverflow="ellipsis" vert="horz" wrap="square" anchor="ctr" anchorCtr="1"/>
        <a:lstStyle/>
        <a:p>
          <a:pPr algn="ct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endParaRPr lang="fr-FR"/>
        </a:p>
      </c:txPr>
    </c:title>
    <c:autoTitleDeleted val="0"/>
    <c:plotArea>
      <c:layout>
        <c:manualLayout>
          <c:layoutTarget val="inner"/>
          <c:xMode val="edge"/>
          <c:yMode val="edge"/>
          <c:x val="2.7510263329749055E-2"/>
          <c:y val="0.16333293532424323"/>
          <c:w val="0.94956441999082986"/>
          <c:h val="0.72295333712656551"/>
        </c:manualLayout>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E039-45EB-AAB3-A43CCA9C4E86}"/>
              </c:ext>
            </c:extLst>
          </c:dPt>
          <c:dPt>
            <c:idx val="1"/>
            <c:invertIfNegative val="0"/>
            <c:bubble3D val="0"/>
            <c:spPr>
              <a:solidFill>
                <a:schemeClr val="accent2"/>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E039-45EB-AAB3-A43CCA9C4E86}"/>
              </c:ext>
            </c:extLst>
          </c:dPt>
          <c:dPt>
            <c:idx val="2"/>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5-E039-45EB-AAB3-A43CCA9C4E86}"/>
              </c:ext>
            </c:extLst>
          </c:dPt>
          <c:dLbls>
            <c:dLbl>
              <c:idx val="0"/>
              <c:layout>
                <c:manualLayout>
                  <c:x val="-2.2768670309653918E-3"/>
                  <c:y val="2.5400547088706526E-3"/>
                </c:manualLayout>
              </c:layout>
              <c:tx>
                <c:rich>
                  <a:bodyPr/>
                  <a:lstStyle/>
                  <a:p>
                    <a:fld id="{A7777060-C8B3-44D8-BF57-34DD062E7FA0}" type="VALUE">
                      <a:rPr lang="en-US">
                        <a:solidFill>
                          <a:srgbClr val="C00000"/>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E039-45EB-AAB3-A43CCA9C4E86}"/>
                </c:ext>
              </c:extLst>
            </c:dLbl>
            <c:dLbl>
              <c:idx val="1"/>
              <c:layout>
                <c:manualLayout>
                  <c:x val="0"/>
                  <c:y val="-5.8222792490916619E-3"/>
                </c:manualLayout>
              </c:layout>
              <c:tx>
                <c:rich>
                  <a:bodyPr/>
                  <a:lstStyle/>
                  <a:p>
                    <a:fld id="{1A316C13-635A-480B-9F95-0B868840CCE5}" type="VALUE">
                      <a:rPr lang="en-US">
                        <a:solidFill>
                          <a:schemeClr val="accent2"/>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E039-45EB-AAB3-A43CCA9C4E86}"/>
                </c:ext>
              </c:extLst>
            </c:dLbl>
            <c:dLbl>
              <c:idx val="2"/>
              <c:layout>
                <c:manualLayout>
                  <c:x val="4.5537340619306163E-3"/>
                  <c:y val="-1.3677217663149847E-3"/>
                </c:manualLayout>
              </c:layout>
              <c:tx>
                <c:rich>
                  <a:bodyPr/>
                  <a:lstStyle/>
                  <a:p>
                    <a:fld id="{E5D71E64-82D4-43C1-B184-E7A6F98A322D}" type="VALUE">
                      <a:rPr lang="en-US">
                        <a:solidFill>
                          <a:schemeClr val="accent6">
                            <a:lumMod val="75000"/>
                          </a:schemeClr>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E039-45EB-AAB3-A43CCA9C4E86}"/>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Détracteur
(Note de 0 à 6)</c:v>
                </c:pt>
                <c:pt idx="1">
                  <c:v>Passif 
(Note de 7 à 8)</c:v>
                </c:pt>
                <c:pt idx="2">
                  <c:v>Promoteur
(Note de 9 à 10)</c:v>
                </c:pt>
              </c:strCache>
            </c:strRef>
          </c:cat>
          <c:val>
            <c:numRef>
              <c:f>Sheet1!$B$2:$B$4</c:f>
              <c:numCache>
                <c:formatCode>General</c:formatCode>
                <c:ptCount val="3"/>
                <c:pt idx="0">
                  <c:v>0.0</c:v>
                </c:pt>
                <c:pt idx="1">
                  <c:v>0.0</c:v>
                </c:pt>
                <c:pt idx="2">
                  <c:v>0.0</c:v>
                </c:pt>
              </c:numCache>
            </c:numRef>
          </c:val>
          <c:extLst>
            <c:ext xmlns:c16="http://schemas.microsoft.com/office/drawing/2014/chart" uri="{C3380CC4-5D6E-409C-BE32-E72D297353CC}">
              <c16:uniqueId val="{00000006-E039-45EB-AAB3-A43CCA9C4E86}"/>
            </c:ext>
          </c:extLst>
        </c:ser>
        <c:dLbls>
          <c:dLblPos val="inEnd"/>
          <c:showLegendKey val="0"/>
          <c:showVal val="1"/>
          <c:showCatName val="0"/>
          <c:showSerName val="0"/>
          <c:showPercent val="0"/>
          <c:showBubbleSize val="0"/>
        </c:dLbls>
        <c:gapWidth val="41"/>
        <c:axId val="470919152"/>
        <c:axId val="500043104"/>
      </c:barChart>
      <c:catAx>
        <c:axId val="47091915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500043104"/>
        <c:crosses val="autoZero"/>
        <c:auto val="1"/>
        <c:lblAlgn val="ctr"/>
        <c:lblOffset val="100"/>
        <c:noMultiLvlLbl val="0"/>
      </c:catAx>
      <c:valAx>
        <c:axId val="500043104"/>
        <c:scaling>
          <c:orientation val="minMax"/>
        </c:scaling>
        <c:delete val="1"/>
        <c:axPos val="l"/>
        <c:numFmt formatCode="0%" sourceLinked="1"/>
        <c:majorTickMark val="none"/>
        <c:minorTickMark val="none"/>
        <c:tickLblPos val="nextTo"/>
        <c:crossAx val="4709191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500" b="0" i="0" u="none" strike="noStrike" kern="1200" baseline="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Niveau</a:t>
            </a:r>
            <a:r>
              <a:rPr lang="fr-CI" sz="1500" b="1" i="0" u="sng" strike="noStrike" kern="1200" baseline="0" dirty="0">
                <a:solidFill>
                  <a:srgbClr val="000000">
                    <a:lumMod val="65000"/>
                    <a:lumOff val="35000"/>
                  </a:srgb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d'effort déployé (CES</a:t>
            </a:r>
            <a:r>
              <a:rPr lang="fr-CI" sz="1500" b="1" i="0" u="sng" strike="noStrike" kern="1200" baseline="0" dirty="0">
                <a:solidFill>
                  <a:srgbClr val="000000">
                    <a:lumMod val="65000"/>
                    <a:lumOff val="35000"/>
                  </a:srgb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t>
            </a:r>
          </a:p>
          <a:p>
            <a:pPr marL="0" marR="0" lvl="0" indent="0" algn="ctr" defTabSz="914400" rtl="0" eaLnBrk="1" fontAlgn="auto" latinLnBrk="0" hangingPunct="1">
              <a:lnSpc>
                <a:spcPct val="100000"/>
              </a:lnSpc>
              <a:spcBef>
                <a:spcPts val="0"/>
              </a:spcBef>
              <a:spcAft>
                <a:spcPts val="0"/>
              </a:spcAft>
              <a:buClrTx/>
              <a:buSzTx/>
              <a:buFontTx/>
              <a:buNone/>
              <a:tabLst/>
              <a:defRPr sz="150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pPr>
            <a:endParaRPr lang="fr-CI" sz="150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500" b="0" i="0" u="none" strike="noStrike" kern="1200" baseline="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title>
    <c:autoTitleDeleted val="0"/>
    <c:plotArea>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B171-4700-AC0A-216B7E9DDF54}"/>
              </c:ext>
            </c:extLst>
          </c:dPt>
          <c:dPt>
            <c:idx val="1"/>
            <c:invertIfNegative val="0"/>
            <c:bubble3D val="0"/>
            <c:spPr>
              <a:solidFill>
                <a:schemeClr val="accent2"/>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B171-4700-AC0A-216B7E9DDF54}"/>
              </c:ext>
            </c:extLst>
          </c:dPt>
          <c:dPt>
            <c:idx val="2"/>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5-B171-4700-AC0A-216B7E9DDF54}"/>
              </c:ext>
            </c:extLst>
          </c:dPt>
          <c:dLbls>
            <c:dLbl>
              <c:idx val="0"/>
              <c:layout>
                <c:manualLayout>
                  <c:x val="-2.2862368541381097E-3"/>
                  <c:y val="2.6455026455026081E-3"/>
                </c:manualLayout>
              </c:layout>
              <c:tx>
                <c:rich>
                  <a:bodyPr/>
                  <a:lstStyle/>
                  <a:p>
                    <a:fld id="{FFAC8D43-4EBE-4453-BA24-42712C234D02}" type="VALUE">
                      <a:rPr lang="en-US">
                        <a:solidFill>
                          <a:schemeClr val="accent6">
                            <a:lumMod val="75000"/>
                          </a:schemeClr>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B171-4700-AC0A-216B7E9DDF54}"/>
                </c:ext>
              </c:extLst>
            </c:dLbl>
            <c:dLbl>
              <c:idx val="1"/>
              <c:layout>
                <c:manualLayout>
                  <c:x val="-2.2862368541380889E-3"/>
                  <c:y val="-2.0330791984335291E-2"/>
                </c:manualLayout>
              </c:layout>
              <c:tx>
                <c:rich>
                  <a:bodyPr rot="0" spcFirstLastPara="1" vertOverflow="ellipsis" vert="horz" wrap="square" lIns="38100" tIns="19050" rIns="38100" bIns="19050" anchor="ctr" anchorCtr="1">
                    <a:spAutoFit/>
                  </a:bodyPr>
                  <a:lstStyle/>
                  <a:p>
                    <a:pPr>
                      <a:defRPr sz="1100" b="1" i="0" u="none" strike="noStrike" kern="1200" baseline="0">
                        <a:solidFill>
                          <a:schemeClr val="accent2"/>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fld id="{8033A737-20A7-41F0-8B9F-D37BC3FBCA80}" type="VALUE">
                      <a:rPr lang="en-US">
                        <a:solidFill>
                          <a:schemeClr val="accent2"/>
                        </a:solidFill>
                        <a:effectLst>
                          <a:outerShdw blurRad="38100" dist="38100" dir="2700000" algn="tl">
                            <a:srgbClr val="000000">
                              <a:alpha val="43137"/>
                            </a:srgbClr>
                          </a:outerShdw>
                        </a:effectLst>
                      </a:rPr>
                      <a:pPr>
                        <a:defRPr sz="1100">
                          <a:solidFill>
                            <a:schemeClr val="accent2"/>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pPr>
                      <a:t>[VALEUR]</a:t>
                    </a:fld>
                    <a:endParaRPr lang="fr-FR"/>
                  </a:p>
                </c:rich>
              </c:tx>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2"/>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B171-4700-AC0A-216B7E9DDF54}"/>
                </c:ext>
              </c:extLst>
            </c:dLbl>
            <c:dLbl>
              <c:idx val="2"/>
              <c:layout>
                <c:manualLayout>
                  <c:x val="2.2862368541380889E-3"/>
                  <c:y val="-7.7852447931188087E-3"/>
                </c:manualLayout>
              </c:layout>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rgbClr val="C0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171-4700-AC0A-216B7E9DDF54}"/>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Effort faible
(Note de 1 à 2)</c:v>
                </c:pt>
                <c:pt idx="1">
                  <c:v> Effort modéré
(Note de 3 à 4)</c:v>
                </c:pt>
                <c:pt idx="2">
                  <c:v>Effort élevé
(Note de 5 à 7)</c:v>
                </c:pt>
              </c:strCache>
            </c:strRef>
          </c:cat>
          <c:val>
            <c:numRef>
              <c:f>Sheet1!$B$2:$B$4</c:f>
              <c:numCache>
                <c:formatCode>General</c:formatCode>
                <c:ptCount val="3"/>
                <c:pt idx="0">
                  <c:v>0.0</c:v>
                </c:pt>
                <c:pt idx="1">
                  <c:v>0.0</c:v>
                </c:pt>
                <c:pt idx="2">
                  <c:v>0.0</c:v>
                </c:pt>
              </c:numCache>
            </c:numRef>
          </c:val>
          <c:extLst>
            <c:ext xmlns:c16="http://schemas.microsoft.com/office/drawing/2014/chart" uri="{C3380CC4-5D6E-409C-BE32-E72D297353CC}">
              <c16:uniqueId val="{00000006-B171-4700-AC0A-216B7E9DDF54}"/>
            </c:ext>
          </c:extLst>
        </c:ser>
        <c:dLbls>
          <c:dLblPos val="inEnd"/>
          <c:showLegendKey val="0"/>
          <c:showVal val="1"/>
          <c:showCatName val="0"/>
          <c:showSerName val="0"/>
          <c:showPercent val="0"/>
          <c:showBubbleSize val="0"/>
        </c:dLbls>
        <c:gapWidth val="41"/>
        <c:axId val="1843850368"/>
        <c:axId val="2009818848"/>
      </c:barChart>
      <c:catAx>
        <c:axId val="184385036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ysClr val="windowText" lastClr="00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2009818848"/>
        <c:crosses val="autoZero"/>
        <c:auto val="1"/>
        <c:lblAlgn val="ctr"/>
        <c:lblOffset val="100"/>
        <c:noMultiLvlLbl val="0"/>
      </c:catAx>
      <c:valAx>
        <c:axId val="2009818848"/>
        <c:scaling>
          <c:orientation val="minMax"/>
        </c:scaling>
        <c:delete val="1"/>
        <c:axPos val="l"/>
        <c:numFmt formatCode="0%" sourceLinked="1"/>
        <c:majorTickMark val="none"/>
        <c:minorTickMark val="none"/>
        <c:tickLblPos val="nextTo"/>
        <c:crossAx val="184385036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Niveau de satisfaction (CSAT)</a:t>
            </a:r>
            <a:endParaRPr lang="fr-CI" sz="1500">
              <a:effectLst>
                <a:outerShdw blurRad="38100" dist="38100" dir="2700000" algn="tl">
                  <a:srgbClr val="000000">
                    <a:alpha val="43137"/>
                  </a:srgbClr>
                </a:outerShdw>
              </a:effectLst>
            </a:endParaRPr>
          </a:p>
        </c:rich>
      </c:tx>
      <c:overlay val="0"/>
      <c:spPr>
        <a:noFill/>
        <a:ln>
          <a:noFill/>
        </a:ln>
        <a:effectLst/>
      </c:spPr>
      <c:txPr>
        <a:bodyPr rot="0" spcFirstLastPara="1" vertOverflow="ellipsis" vert="horz" wrap="square" anchor="ctr" anchorCtr="1"/>
        <a:lstStyle/>
        <a:p>
          <a:pP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endParaRPr lang="fr-CI"/>
        </a:p>
      </c:txPr>
    </c:title>
    <c:autoTitleDeleted val="0"/>
    <c:plotArea>
      <c:layout>
        <c:manualLayout>
          <c:layoutTarget val="inner"/>
          <c:xMode val="edge"/>
          <c:yMode val="edge"/>
          <c:x val="3.4416371030544263E-2"/>
          <c:y val="0.17324055423304646"/>
          <c:w val="0.9494949494949495"/>
          <c:h val="0.73655701796399542"/>
        </c:manualLayout>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CE95-449A-BC9B-5890BED60D76}"/>
              </c:ext>
            </c:extLst>
          </c:dPt>
          <c:dPt>
            <c:idx val="1"/>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CE95-449A-BC9B-5890BED60D76}"/>
              </c:ext>
            </c:extLst>
          </c:dPt>
          <c:dLbls>
            <c:dLbl>
              <c:idx val="0"/>
              <c:layout>
                <c:manualLayout>
                  <c:x val="-1.1446886446886446E-2"/>
                  <c:y val="-1.012058570198109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CE95-449A-BC9B-5890BED60D76}"/>
                </c:ext>
              </c:extLst>
            </c:dLbl>
            <c:dLbl>
              <c:idx val="1"/>
              <c:layout>
                <c:manualLayout>
                  <c:x val="2.2893772893772895E-3"/>
                  <c:y val="-2.4056779724240054E-2"/>
                </c:manualLayout>
              </c:layout>
              <c:tx>
                <c:rich>
                  <a:bodyPr/>
                  <a:lstStyle/>
                  <a:p>
                    <a:fld id="{E797D159-4621-483B-9EE9-7803512FACE5}" type="VALUE">
                      <a:rPr lang="en-US">
                        <a:solidFill>
                          <a:srgbClr val="C00000"/>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CE95-449A-BC9B-5890BED60D76}"/>
                </c:ext>
              </c:extLst>
            </c:dLbl>
            <c:spPr>
              <a:noFill/>
              <a:ln>
                <a:noFill/>
              </a:ln>
              <a:effectLst/>
            </c:spPr>
            <c:txPr>
              <a:bodyPr rot="0" spcFirstLastPara="1" vertOverflow="ellipsis" vert="horz" wrap="square" lIns="38100" tIns="19050" rIns="38100" bIns="19050" anchor="ctr" anchorCtr="1">
                <a:spAutoFit/>
              </a:bodyPr>
              <a:lstStyle/>
              <a:p>
                <a:pPr>
                  <a:defRPr lang="en-US" sz="1100" b="1" i="0" u="none" strike="noStrike" kern="1200" baseline="0">
                    <a:solidFill>
                      <a:schemeClr val="accent6">
                        <a:lumMod val="75000"/>
                      </a:scheme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Sheet1!$A$2:$A$3</c:f>
              <c:strCache>
                <c:ptCount val="2"/>
                <c:pt idx="0">
                  <c:v>Satisfait</c:v>
                </c:pt>
                <c:pt idx="1">
                  <c:v>Insatisfait</c:v>
                </c:pt>
              </c:strCache>
            </c:strRef>
          </c:cat>
          <c:val>
            <c:numRef>
              <c:f>Sheet1!$B$2:$B$3</c:f>
              <c:numCache>
                <c:formatCode>General</c:formatCode>
                <c:ptCount val="2"/>
                <c:pt idx="0">
                  <c:v>0.0</c:v>
                </c:pt>
                <c:pt idx="1">
                  <c:v>0.0</c:v>
                </c:pt>
              </c:numCache>
            </c:numRef>
          </c:val>
          <c:extLst>
            <c:ext xmlns:c16="http://schemas.microsoft.com/office/drawing/2014/chart" uri="{C3380CC4-5D6E-409C-BE32-E72D297353CC}">
              <c16:uniqueId val="{00000004-CE95-449A-BC9B-5890BED60D76}"/>
            </c:ext>
          </c:extLst>
        </c:ser>
        <c:dLbls>
          <c:dLblPos val="inEnd"/>
          <c:showLegendKey val="0"/>
          <c:showVal val="1"/>
          <c:showCatName val="0"/>
          <c:showSerName val="0"/>
          <c:showPercent val="0"/>
          <c:showBubbleSize val="0"/>
        </c:dLbls>
        <c:gapWidth val="41"/>
        <c:axId val="1943989744"/>
        <c:axId val="2003262304"/>
      </c:barChart>
      <c:catAx>
        <c:axId val="194398974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2003262304"/>
        <c:crosses val="autoZero"/>
        <c:auto val="1"/>
        <c:lblAlgn val="ctr"/>
        <c:lblOffset val="100"/>
        <c:noMultiLvlLbl val="0"/>
      </c:catAx>
      <c:valAx>
        <c:axId val="2003262304"/>
        <c:scaling>
          <c:orientation val="minMax"/>
        </c:scaling>
        <c:delete val="1"/>
        <c:axPos val="l"/>
        <c:numFmt formatCode="0%" sourceLinked="1"/>
        <c:majorTickMark val="none"/>
        <c:minorTickMark val="none"/>
        <c:tickLblPos val="nextTo"/>
        <c:crossAx val="19439897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500" b="0" i="0" u="none" strike="noStrike" kern="1200" baseline="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Niveau</a:t>
            </a:r>
            <a:r>
              <a:rPr lang="fr-CI" sz="1500" b="1" i="0" u="sng" strike="noStrike" kern="1200" baseline="0" dirty="0">
                <a:solidFill>
                  <a:srgbClr val="000000">
                    <a:lumMod val="65000"/>
                    <a:lumOff val="35000"/>
                  </a:srgb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t>
            </a: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d'effort déployé (CES</a:t>
            </a:r>
            <a:r>
              <a:rPr lang="fr-CI" sz="1500" b="1" i="0" u="sng" strike="noStrike" kern="1200" baseline="0" dirty="0">
                <a:solidFill>
                  <a:srgbClr val="000000">
                    <a:lumMod val="65000"/>
                    <a:lumOff val="35000"/>
                  </a:srgb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a:t>
            </a:r>
          </a:p>
          <a:p>
            <a:pPr marL="0" marR="0" lvl="0" indent="0" algn="ctr" defTabSz="914400" rtl="0" eaLnBrk="1" fontAlgn="auto" latinLnBrk="0" hangingPunct="1">
              <a:lnSpc>
                <a:spcPct val="100000"/>
              </a:lnSpc>
              <a:spcBef>
                <a:spcPts val="0"/>
              </a:spcBef>
              <a:spcAft>
                <a:spcPts val="0"/>
              </a:spcAft>
              <a:buClrTx/>
              <a:buSzTx/>
              <a:buFontTx/>
              <a:buNone/>
              <a:tabLst/>
              <a:defRPr sz="150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pPr>
            <a:endParaRPr lang="fr-CI" sz="1500">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500" b="0" i="0" u="none" strike="noStrike" kern="1200" baseline="0">
              <a:solidFill>
                <a:sysClr val="windowText" lastClr="000000">
                  <a:lumMod val="65000"/>
                  <a:lumOff val="35000"/>
                </a:sys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title>
    <c:autoTitleDeleted val="0"/>
    <c:plotArea>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0BCC-4AC8-BC3E-FAF9E2233A43}"/>
              </c:ext>
            </c:extLst>
          </c:dPt>
          <c:dPt>
            <c:idx val="1"/>
            <c:invertIfNegative val="0"/>
            <c:bubble3D val="0"/>
            <c:spPr>
              <a:solidFill>
                <a:schemeClr val="accent2"/>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0BCC-4AC8-BC3E-FAF9E2233A43}"/>
              </c:ext>
            </c:extLst>
          </c:dPt>
          <c:dPt>
            <c:idx val="2"/>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5-0BCC-4AC8-BC3E-FAF9E2233A43}"/>
              </c:ext>
            </c:extLst>
          </c:dPt>
          <c:dLbls>
            <c:dLbl>
              <c:idx val="0"/>
              <c:layout>
                <c:manualLayout>
                  <c:x val="-2.2862368541381097E-3"/>
                  <c:y val="2.6455026455026081E-3"/>
                </c:manualLayout>
              </c:layout>
              <c:tx>
                <c:rich>
                  <a:bodyPr/>
                  <a:lstStyle/>
                  <a:p>
                    <a:fld id="{FFAC8D43-4EBE-4453-BA24-42712C234D02}" type="VALUE">
                      <a:rPr lang="en-US">
                        <a:solidFill>
                          <a:schemeClr val="accent6">
                            <a:lumMod val="75000"/>
                          </a:schemeClr>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0BCC-4AC8-BC3E-FAF9E2233A43}"/>
                </c:ext>
              </c:extLst>
            </c:dLbl>
            <c:dLbl>
              <c:idx val="1"/>
              <c:layout>
                <c:manualLayout>
                  <c:x val="-2.2862368541380889E-3"/>
                  <c:y val="-2.0330791984335291E-2"/>
                </c:manualLayout>
              </c:layout>
              <c:tx>
                <c:rich>
                  <a:bodyPr rot="0" spcFirstLastPara="1" vertOverflow="ellipsis" vert="horz" wrap="square" lIns="38100" tIns="19050" rIns="38100" bIns="19050" anchor="ctr" anchorCtr="1">
                    <a:spAutoFit/>
                  </a:bodyPr>
                  <a:lstStyle/>
                  <a:p>
                    <a:pPr>
                      <a:defRPr sz="1100" b="1" i="0" u="none" strike="noStrike" kern="1200" baseline="0">
                        <a:solidFill>
                          <a:schemeClr val="accent2"/>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fld id="{8033A737-20A7-41F0-8B9F-D37BC3FBCA80}" type="VALUE">
                      <a:rPr lang="en-US">
                        <a:solidFill>
                          <a:schemeClr val="accent2"/>
                        </a:solidFill>
                        <a:effectLst>
                          <a:outerShdw blurRad="38100" dist="38100" dir="2700000" algn="tl">
                            <a:srgbClr val="000000">
                              <a:alpha val="43137"/>
                            </a:srgbClr>
                          </a:outerShdw>
                        </a:effectLst>
                      </a:rPr>
                      <a:pPr>
                        <a:defRPr sz="1100">
                          <a:solidFill>
                            <a:schemeClr val="accent2"/>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defRPr>
                      </a:pPr>
                      <a:t>[VALEUR]</a:t>
                    </a:fld>
                    <a:endParaRPr lang="fr-FR"/>
                  </a:p>
                </c:rich>
              </c:tx>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accent2"/>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0BCC-4AC8-BC3E-FAF9E2233A43}"/>
                </c:ext>
              </c:extLst>
            </c:dLbl>
            <c:dLbl>
              <c:idx val="2"/>
              <c:layout>
                <c:manualLayout>
                  <c:x val="2.2862368541380889E-3"/>
                  <c:y val="-7.7852447931188087E-3"/>
                </c:manualLayout>
              </c:layout>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rgbClr val="C0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0BCC-4AC8-BC3E-FAF9E2233A43}"/>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Effort faible
(Note de 1 à 2)</c:v>
                </c:pt>
                <c:pt idx="1">
                  <c:v> Effort modéré
(Note de 3 à 4)</c:v>
                </c:pt>
                <c:pt idx="2">
                  <c:v>Effort élevé
(Note de 5 à 7)</c:v>
                </c:pt>
              </c:strCache>
            </c:strRef>
          </c:cat>
          <c:val>
            <c:numRef>
              <c:f>Sheet1!$B$2:$B$4</c:f>
              <c:numCache>
                <c:formatCode>General</c:formatCode>
                <c:ptCount val="3"/>
                <c:pt idx="0">
                  <c:v>0.0</c:v>
                </c:pt>
                <c:pt idx="1">
                  <c:v>0.0</c:v>
                </c:pt>
                <c:pt idx="2">
                  <c:v>0.0</c:v>
                </c:pt>
              </c:numCache>
            </c:numRef>
          </c:val>
          <c:extLst>
            <c:ext xmlns:c16="http://schemas.microsoft.com/office/drawing/2014/chart" uri="{C3380CC4-5D6E-409C-BE32-E72D297353CC}">
              <c16:uniqueId val="{00000006-0BCC-4AC8-BC3E-FAF9E2233A43}"/>
            </c:ext>
          </c:extLst>
        </c:ser>
        <c:dLbls>
          <c:dLblPos val="inEnd"/>
          <c:showLegendKey val="0"/>
          <c:showVal val="1"/>
          <c:showCatName val="0"/>
          <c:showSerName val="0"/>
          <c:showPercent val="0"/>
          <c:showBubbleSize val="0"/>
        </c:dLbls>
        <c:gapWidth val="41"/>
        <c:axId val="1843850368"/>
        <c:axId val="2009818848"/>
      </c:barChart>
      <c:catAx>
        <c:axId val="1843850368"/>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ysClr val="windowText" lastClr="000000"/>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2009818848"/>
        <c:crosses val="autoZero"/>
        <c:auto val="1"/>
        <c:lblAlgn val="ctr"/>
        <c:lblOffset val="100"/>
        <c:noMultiLvlLbl val="0"/>
      </c:catAx>
      <c:valAx>
        <c:axId val="2009818848"/>
        <c:scaling>
          <c:orientation val="minMax"/>
        </c:scaling>
        <c:delete val="1"/>
        <c:axPos val="l"/>
        <c:numFmt formatCode="0%" sourceLinked="1"/>
        <c:majorTickMark val="none"/>
        <c:minorTickMark val="none"/>
        <c:tickLblPos val="nextTo"/>
        <c:crossAx val="184385036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r>
              <a:rPr lang="fr-CI"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Niveau de satisfaction (CSAT)</a:t>
            </a:r>
            <a:endParaRPr lang="fr-CI" sz="1500">
              <a:effectLst>
                <a:outerShdw blurRad="38100" dist="38100" dir="2700000" algn="tl">
                  <a:srgbClr val="000000">
                    <a:alpha val="43137"/>
                  </a:srgbClr>
                </a:outerShdw>
              </a:effectLst>
            </a:endParaRPr>
          </a:p>
        </c:rich>
      </c:tx>
      <c:overlay val="0"/>
      <c:spPr>
        <a:noFill/>
        <a:ln>
          <a:noFill/>
        </a:ln>
        <a:effectLst/>
      </c:spPr>
      <c:txPr>
        <a:bodyPr rot="0" spcFirstLastPara="1" vertOverflow="ellipsis" vert="horz" wrap="square" anchor="ctr" anchorCtr="1"/>
        <a:lstStyle/>
        <a:p>
          <a:pP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endParaRPr lang="fr-CI"/>
        </a:p>
      </c:txPr>
    </c:title>
    <c:autoTitleDeleted val="0"/>
    <c:plotArea>
      <c:layout>
        <c:manualLayout>
          <c:layoutTarget val="inner"/>
          <c:xMode val="edge"/>
          <c:yMode val="edge"/>
          <c:x val="3.4416371030544263E-2"/>
          <c:y val="0.17324055423304646"/>
          <c:w val="0.9494949494949495"/>
          <c:h val="0.73655701796399542"/>
        </c:manualLayout>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D6B6-4A70-9457-A652FC6BB42B}"/>
              </c:ext>
            </c:extLst>
          </c:dPt>
          <c:dPt>
            <c:idx val="1"/>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D6B6-4A70-9457-A652FC6BB42B}"/>
              </c:ext>
            </c:extLst>
          </c:dPt>
          <c:dLbls>
            <c:dLbl>
              <c:idx val="0"/>
              <c:layout>
                <c:manualLayout>
                  <c:x val="-1.1446886446886446E-2"/>
                  <c:y val="-1.0120585701981091E-2"/>
                </c:manualLayout>
              </c:layout>
              <c:dLblPos val="outEnd"/>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D6B6-4A70-9457-A652FC6BB42B}"/>
                </c:ext>
              </c:extLst>
            </c:dLbl>
            <c:dLbl>
              <c:idx val="1"/>
              <c:layout>
                <c:manualLayout>
                  <c:x val="2.2893772893772895E-3"/>
                  <c:y val="-2.4056779724240054E-2"/>
                </c:manualLayout>
              </c:layout>
              <c:tx>
                <c:rich>
                  <a:bodyPr/>
                  <a:lstStyle/>
                  <a:p>
                    <a:fld id="{E797D159-4621-483B-9EE9-7803512FACE5}" type="VALUE">
                      <a:rPr lang="en-US">
                        <a:solidFill>
                          <a:srgbClr val="C00000"/>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D6B6-4A70-9457-A652FC6BB42B}"/>
                </c:ext>
              </c:extLst>
            </c:dLbl>
            <c:spPr>
              <a:noFill/>
              <a:ln>
                <a:noFill/>
              </a:ln>
              <a:effectLst/>
            </c:spPr>
            <c:txPr>
              <a:bodyPr rot="0" spcFirstLastPara="1" vertOverflow="ellipsis" vert="horz" wrap="square" lIns="38100" tIns="19050" rIns="38100" bIns="19050" anchor="ctr" anchorCtr="1">
                <a:spAutoFit/>
              </a:bodyPr>
              <a:lstStyle/>
              <a:p>
                <a:pPr>
                  <a:defRPr lang="en-US" sz="1100" b="1" i="0" u="none" strike="noStrike" kern="1200" baseline="0">
                    <a:solidFill>
                      <a:schemeClr val="accent6">
                        <a:lumMod val="75000"/>
                      </a:schemeClr>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Sheet1!$A$2:$A$3</c:f>
              <c:strCache>
                <c:ptCount val="2"/>
                <c:pt idx="0">
                  <c:v>Satisfait</c:v>
                </c:pt>
                <c:pt idx="1">
                  <c:v>Insatisfait</c:v>
                </c:pt>
              </c:strCache>
            </c:strRef>
          </c:cat>
          <c:val>
            <c:numRef>
              <c:f>Sheet1!$B$2:$B$4</c:f>
              <c:numCache>
                <c:formatCode>General</c:formatCode>
                <c:ptCount val="3"/>
                <c:pt idx="0">
                  <c:v>0.0</c:v>
                </c:pt>
                <c:pt idx="1">
                  <c:v>0.0</c:v>
                </c:pt>
                <c:pt idx="2">
                  <c:v>0.0</c:v>
                </c:pt>
              </c:numCache>
            </c:numRef>
          </c:val>
          <c:extLst>
            <c:ext xmlns:c16="http://schemas.microsoft.com/office/drawing/2014/chart" uri="{C3380CC4-5D6E-409C-BE32-E72D297353CC}">
              <c16:uniqueId val="{00000004-D6B6-4A70-9457-A652FC6BB42B}"/>
            </c:ext>
          </c:extLst>
        </c:ser>
        <c:dLbls>
          <c:dLblPos val="inEnd"/>
          <c:showLegendKey val="0"/>
          <c:showVal val="1"/>
          <c:showCatName val="0"/>
          <c:showSerName val="0"/>
          <c:showPercent val="0"/>
          <c:showBubbleSize val="0"/>
        </c:dLbls>
        <c:gapWidth val="41"/>
        <c:axId val="1943989744"/>
        <c:axId val="2003262304"/>
      </c:barChart>
      <c:catAx>
        <c:axId val="1943989744"/>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2003262304"/>
        <c:crosses val="autoZero"/>
        <c:auto val="1"/>
        <c:lblAlgn val="ctr"/>
        <c:lblOffset val="100"/>
        <c:noMultiLvlLbl val="0"/>
      </c:catAx>
      <c:valAx>
        <c:axId val="2003262304"/>
        <c:scaling>
          <c:orientation val="minMax"/>
        </c:scaling>
        <c:delete val="1"/>
        <c:axPos val="l"/>
        <c:numFmt formatCode="0%" sourceLinked="1"/>
        <c:majorTickMark val="none"/>
        <c:minorTickMark val="none"/>
        <c:tickLblPos val="nextTo"/>
        <c:crossAx val="1943989744"/>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fr-FR"/>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title>
      <c:tx>
        <c:rich>
          <a:bodyPr rot="0" spcFirstLastPara="1" vertOverflow="ellipsis" vert="horz" wrap="square" anchor="ctr" anchorCtr="1"/>
          <a:lstStyle/>
          <a:p>
            <a:pPr algn="ct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r>
              <a:rPr lang="fr-FR" sz="1500" b="1" i="0" u="sng" strike="noStrike" kern="1200" spc="0" baseline="0" dirty="0">
                <a:solidFill>
                  <a:schemeClr val="tx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Net Promotion Score (NPS)</a:t>
            </a:r>
          </a:p>
        </c:rich>
      </c:tx>
      <c:layout>
        <c:manualLayout>
          <c:xMode val="edge"/>
          <c:yMode val="edge"/>
          <c:x val="0.22587040861695568"/>
          <c:y val="2.8767696535002291E-2"/>
        </c:manualLayout>
      </c:layout>
      <c:overlay val="0"/>
      <c:spPr>
        <a:noFill/>
        <a:ln>
          <a:noFill/>
        </a:ln>
        <a:effectLst/>
      </c:spPr>
      <c:txPr>
        <a:bodyPr rot="0" spcFirstLastPara="1" vertOverflow="ellipsis" vert="horz" wrap="square" anchor="ctr" anchorCtr="1"/>
        <a:lstStyle/>
        <a:p>
          <a:pPr algn="ctr">
            <a:defRPr sz="1500" b="0" i="0" u="none" strike="noStrike" kern="1200" baseline="0">
              <a:solidFill>
                <a:schemeClr val="dk1">
                  <a:lumMod val="65000"/>
                  <a:lumOff val="35000"/>
                </a:schemeClr>
              </a:solidFill>
              <a:effectLst>
                <a:outerShdw blurRad="38100" dist="38100" dir="2700000" algn="tl">
                  <a:srgbClr val="000000">
                    <a:alpha val="43137"/>
                  </a:srgbClr>
                </a:outerShdw>
              </a:effectLst>
              <a:latin typeface="+mn-lt"/>
              <a:ea typeface="+mn-ea"/>
              <a:cs typeface="+mn-cs"/>
            </a:defRPr>
          </a:pPr>
          <a:endParaRPr lang="fr-FR"/>
        </a:p>
      </c:txPr>
    </c:title>
    <c:autoTitleDeleted val="0"/>
    <c:plotArea>
      <c:layout>
        <c:manualLayout>
          <c:layoutTarget val="inner"/>
          <c:xMode val="edge"/>
          <c:yMode val="edge"/>
          <c:x val="2.7510263769548807E-2"/>
          <c:y val="0.16419505609558127"/>
          <c:w val="0.94956441999082986"/>
          <c:h val="0.72295333712656551"/>
        </c:manualLayout>
      </c:layout>
      <c:barChart>
        <c:barDir val="col"/>
        <c:grouping val="clustered"/>
        <c:varyColors val="0"/>
        <c:ser>
          <c:idx val="0"/>
          <c:order val="0"/>
          <c:tx>
            <c:strRef>
              <c:f>Sheet1!$B$1</c:f>
              <c:strCache>
                <c:ptCount val="1"/>
                <c:pt idx="0">
                  <c:v>Série</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invertIfNegative val="0"/>
          <c:dPt>
            <c:idx val="0"/>
            <c:invertIfNegative val="0"/>
            <c:bubble3D val="0"/>
            <c:spPr>
              <a:solidFill>
                <a:srgbClr val="C00000"/>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1-743C-46F7-93C8-A7A7968D6B24}"/>
              </c:ext>
            </c:extLst>
          </c:dPt>
          <c:dPt>
            <c:idx val="1"/>
            <c:invertIfNegative val="0"/>
            <c:bubble3D val="0"/>
            <c:spPr>
              <a:solidFill>
                <a:schemeClr val="accent2"/>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3-743C-46F7-93C8-A7A7968D6B24}"/>
              </c:ext>
            </c:extLst>
          </c:dPt>
          <c:dPt>
            <c:idx val="2"/>
            <c:invertIfNegative val="0"/>
            <c:bubble3D val="0"/>
            <c:spPr>
              <a:solidFill>
                <a:schemeClr val="accent6">
                  <a:lumMod val="75000"/>
                </a:schemeClr>
              </a:solidFill>
              <a:ln>
                <a:noFill/>
              </a:ln>
              <a:effectLst>
                <a:outerShdw blurRad="76200" dir="18900000" sy="23000" kx="-1200000" algn="bl" rotWithShape="0">
                  <a:prstClr val="black">
                    <a:alpha val="20000"/>
                  </a:prstClr>
                </a:outerShdw>
              </a:effectLst>
              <a:scene3d>
                <a:camera prst="orthographicFront"/>
                <a:lightRig rig="threePt" dir="t"/>
              </a:scene3d>
              <a:sp3d>
                <a:bevelT w="101600" prst="riblet"/>
                <a:bevelB w="101600" prst="riblet"/>
              </a:sp3d>
            </c:spPr>
            <c:extLst>
              <c:ext xmlns:c16="http://schemas.microsoft.com/office/drawing/2014/chart" uri="{C3380CC4-5D6E-409C-BE32-E72D297353CC}">
                <c16:uniqueId val="{00000005-743C-46F7-93C8-A7A7968D6B24}"/>
              </c:ext>
            </c:extLst>
          </c:dPt>
          <c:dLbls>
            <c:dLbl>
              <c:idx val="0"/>
              <c:layout>
                <c:manualLayout>
                  <c:x val="-2.2768670309653918E-3"/>
                  <c:y val="2.5400547088706526E-3"/>
                </c:manualLayout>
              </c:layout>
              <c:tx>
                <c:rich>
                  <a:bodyPr/>
                  <a:lstStyle/>
                  <a:p>
                    <a:fld id="{A7777060-C8B3-44D8-BF57-34DD062E7FA0}" type="VALUE">
                      <a:rPr lang="en-US">
                        <a:solidFill>
                          <a:srgbClr val="C00000"/>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743C-46F7-93C8-A7A7968D6B24}"/>
                </c:ext>
              </c:extLst>
            </c:dLbl>
            <c:dLbl>
              <c:idx val="1"/>
              <c:layout>
                <c:manualLayout>
                  <c:x val="0"/>
                  <c:y val="-5.8222792490916619E-3"/>
                </c:manualLayout>
              </c:layout>
              <c:tx>
                <c:rich>
                  <a:bodyPr/>
                  <a:lstStyle/>
                  <a:p>
                    <a:fld id="{1A316C13-635A-480B-9F95-0B868840CCE5}" type="VALUE">
                      <a:rPr lang="en-US">
                        <a:solidFill>
                          <a:schemeClr val="accent2"/>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743C-46F7-93C8-A7A7968D6B24}"/>
                </c:ext>
              </c:extLst>
            </c:dLbl>
            <c:dLbl>
              <c:idx val="2"/>
              <c:layout>
                <c:manualLayout>
                  <c:x val="4.5537340619306163E-3"/>
                  <c:y val="-1.3677217663149847E-3"/>
                </c:manualLayout>
              </c:layout>
              <c:tx>
                <c:rich>
                  <a:bodyPr/>
                  <a:lstStyle/>
                  <a:p>
                    <a:fld id="{E5D71E64-82D4-43C1-B184-E7A6F98A322D}" type="VALUE">
                      <a:rPr lang="en-US">
                        <a:solidFill>
                          <a:schemeClr val="accent6">
                            <a:lumMod val="75000"/>
                          </a:schemeClr>
                        </a:solidFill>
                      </a:rPr>
                      <a:pPr/>
                      <a:t>[VALEUR]</a:t>
                    </a:fld>
                    <a:endParaRPr lang="fr-F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743C-46F7-93C8-A7A7968D6B24}"/>
                </c:ext>
              </c:extLst>
            </c:dLbl>
            <c:spPr>
              <a:noFill/>
              <a:ln>
                <a:noFill/>
              </a:ln>
              <a:effectLst/>
            </c:spPr>
            <c:txPr>
              <a:bodyPr rot="0" spcFirstLastPara="1" vertOverflow="ellipsis" vert="horz" wrap="square" lIns="38100" tIns="19050" rIns="38100" bIns="19050" anchor="ctr" anchorCtr="1">
                <a:spAutoFit/>
              </a:bodyPr>
              <a:lstStyle/>
              <a:p>
                <a:pPr>
                  <a:defRPr sz="11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Sheet1!$A$2:$A$4</c:f>
              <c:strCache>
                <c:ptCount val="3"/>
                <c:pt idx="0">
                  <c:v>Détracteur
(Note de 0 à 6)</c:v>
                </c:pt>
                <c:pt idx="1">
                  <c:v>Passif 
(Note de 7 à 8)</c:v>
                </c:pt>
                <c:pt idx="2">
                  <c:v>Promoteur
(Note de 9 à 10)</c:v>
                </c:pt>
              </c:strCache>
            </c:strRef>
          </c:cat>
          <c:val>
            <c:numRef>
              <c:f>Sheet1!$B$2:$B$3</c:f>
              <c:numCache>
                <c:formatCode>General</c:formatCode>
                <c:ptCount val="2"/>
                <c:pt idx="0">
                  <c:v>0.0</c:v>
                </c:pt>
                <c:pt idx="1">
                  <c:v>0.0</c:v>
                </c:pt>
              </c:numCache>
            </c:numRef>
          </c:val>
          <c:extLst>
            <c:ext xmlns:c16="http://schemas.microsoft.com/office/drawing/2014/chart" uri="{C3380CC4-5D6E-409C-BE32-E72D297353CC}">
              <c16:uniqueId val="{00000006-743C-46F7-93C8-A7A7968D6B24}"/>
            </c:ext>
          </c:extLst>
        </c:ser>
        <c:dLbls>
          <c:dLblPos val="inEnd"/>
          <c:showLegendKey val="0"/>
          <c:showVal val="1"/>
          <c:showCatName val="0"/>
          <c:showSerName val="0"/>
          <c:showPercent val="0"/>
          <c:showBubbleSize val="0"/>
        </c:dLbls>
        <c:gapWidth val="41"/>
        <c:axId val="470919152"/>
        <c:axId val="500043104"/>
      </c:barChart>
      <c:catAx>
        <c:axId val="47091915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1" i="0" u="none" strike="noStrike" kern="1200" baseline="0">
                <a:solidFill>
                  <a:schemeClr val="tx1"/>
                </a:solidFill>
                <a:effectLst>
                  <a:outerShdw blurRad="38100" dist="38100" dir="2700000" algn="tl">
                    <a:srgbClr val="000000">
                      <a:alpha val="43137"/>
                    </a:srgbClr>
                  </a:outerShdw>
                </a:effectLst>
                <a:latin typeface="Arial" panose="020B0604020202020204" pitchFamily="34" charset="0"/>
                <a:ea typeface="+mn-ea"/>
                <a:cs typeface="Arial" panose="020B0604020202020204" pitchFamily="34" charset="0"/>
              </a:defRPr>
            </a:pPr>
            <a:endParaRPr lang="fr-FR"/>
          </a:p>
        </c:txPr>
        <c:crossAx val="500043104"/>
        <c:crosses val="autoZero"/>
        <c:auto val="1"/>
        <c:lblAlgn val="ctr"/>
        <c:lblOffset val="100"/>
        <c:noMultiLvlLbl val="0"/>
      </c:catAx>
      <c:valAx>
        <c:axId val="500043104"/>
        <c:scaling>
          <c:orientation val="minMax"/>
        </c:scaling>
        <c:delete val="1"/>
        <c:axPos val="l"/>
        <c:numFmt formatCode="0%" sourceLinked="1"/>
        <c:majorTickMark val="none"/>
        <c:minorTickMark val="none"/>
        <c:tickLblPos val="nextTo"/>
        <c:crossAx val="47091915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gradFill flip="none" rotWithShape="1">
      <a:gsLst>
        <a:gs pos="0">
          <a:schemeClr val="lt1"/>
        </a:gs>
        <a:gs pos="68000">
          <a:schemeClr val="lt1">
            <a:lumMod val="85000"/>
          </a:schemeClr>
        </a:gs>
        <a:gs pos="100000">
          <a:schemeClr val="lt1"/>
        </a:gs>
      </a:gsLst>
      <a:lin ang="5400000" scaled="1"/>
      <a:tileRect/>
    </a:gradFill>
    <a:ln w="9525" cap="flat" cmpd="sng" algn="ctr">
      <a:noFill/>
      <a:round/>
    </a:ln>
    <a:effectLst/>
  </c:spPr>
  <c:txPr>
    <a:bodyPr/>
    <a:lstStyle/>
    <a:p>
      <a:pPr>
        <a:defRPr/>
      </a:pPr>
      <a:endParaRPr lang="fr-FR"/>
    </a:p>
  </c:txPr>
  <c:externalData r:id="rId4">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charts/style6.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900" b="1" kern="1200"/>
  </cs:axisTitle>
  <cs:categoryAxis>
    <cs:lnRef idx="0"/>
    <cs:fillRef idx="0"/>
    <cs:effectRef idx="0"/>
    <cs:fontRef idx="minor">
      <a:schemeClr val="dk1">
        <a:lumMod val="65000"/>
        <a:lumOff val="35000"/>
      </a:schemeClr>
    </cs:fontRef>
    <cs:defRPr sz="900"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000" kern="1200"/>
  </cs:chartArea>
  <cs:dataLabel>
    <cs:lnRef idx="0"/>
    <cs:fillRef idx="0"/>
    <cs:effectRef idx="0"/>
    <cs:fontRef idx="minor">
      <a:schemeClr val="lt1"/>
    </cs:fontRef>
    <cs:spPr/>
    <cs:defRPr sz="100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00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900"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900"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900"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900"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3CA311DD-2EDB-F882-2E95-D68B6AF275D8}"/>
              </a:ext>
            </a:extLst>
          </p:cNvPr>
          <p:cNvSpPr/>
          <p:nvPr userDrawn="1"/>
        </p:nvSpPr>
        <p:spPr>
          <a:xfrm>
            <a:off x="11471564" y="6456218"/>
            <a:ext cx="720435" cy="4017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descr="Une image contenant texte, capture d’écran, Police, conception&#10;&#10;Description générée automatiquement">
            <a:extLst>
              <a:ext uri="{FF2B5EF4-FFF2-40B4-BE49-F238E27FC236}">
                <a16:creationId xmlns:a16="http://schemas.microsoft.com/office/drawing/2014/main" id="{9910FE20-DAB4-5C0A-9E03-F8EF53D4494C}"/>
              </a:ext>
            </a:extLst>
          </p:cNvPr>
          <p:cNvPicPr>
            <a:picLocks noChangeAspect="1"/>
          </p:cNvPicPr>
          <p:nvPr userDrawn="1"/>
        </p:nvPicPr>
        <p:blipFill>
          <a:blip r:embed="rId2">
            <a:extLst>
              <a:ext uri="{28A0092B-C50C-407E-A947-70E740481C1C}">
                <a14:useLocalDpi xmlns:a14="http://schemas.microsoft.com/office/drawing/2010/main" val="0"/>
              </a:ext>
            </a:extLst>
          </a:blip>
          <a:srcRect t="26808"/>
          <a:stretch/>
        </p:blipFill>
        <p:spPr>
          <a:xfrm>
            <a:off x="64655" y="1838036"/>
            <a:ext cx="12192000" cy="5018250"/>
          </a:xfrm>
          <a:prstGeom prst="rect">
            <a:avLst/>
          </a:prstGeom>
        </p:spPr>
      </p:pic>
    </p:spTree>
    <p:extLst>
      <p:ext uri="{BB962C8B-B14F-4D97-AF65-F5344CB8AC3E}">
        <p14:creationId xmlns:p14="http://schemas.microsoft.com/office/powerpoint/2010/main" val="32473522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pic>
        <p:nvPicPr>
          <p:cNvPr id="3" name="Image 2" descr="Une image contenant texte, capture d’écran, Police, logo&#10;&#10;Description générée automatiquement">
            <a:extLst>
              <a:ext uri="{FF2B5EF4-FFF2-40B4-BE49-F238E27FC236}">
                <a16:creationId xmlns:a16="http://schemas.microsoft.com/office/drawing/2014/main" id="{BC81D47F-08D4-0C3A-4848-034ED35C759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324847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pic>
        <p:nvPicPr>
          <p:cNvPr id="3" name="Image 2" descr="Une image contenant texte, capture d’écran, Graphique, graphisme&#10;&#10;Description générée automatiquement">
            <a:extLst>
              <a:ext uri="{FF2B5EF4-FFF2-40B4-BE49-F238E27FC236}">
                <a16:creationId xmlns:a16="http://schemas.microsoft.com/office/drawing/2014/main" id="{9DA1AE21-C515-59E6-78A8-ADDEAF1FC17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857"/>
            <a:ext cx="12192000" cy="6856286"/>
          </a:xfrm>
          <a:prstGeom prst="rect">
            <a:avLst/>
          </a:prstGeom>
        </p:spPr>
      </p:pic>
    </p:spTree>
    <p:extLst>
      <p:ext uri="{BB962C8B-B14F-4D97-AF65-F5344CB8AC3E}">
        <p14:creationId xmlns:p14="http://schemas.microsoft.com/office/powerpoint/2010/main" val="3723419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iapositive de titre">
    <p:spTree>
      <p:nvGrpSpPr>
        <p:cNvPr id="1" name=""/>
        <p:cNvGrpSpPr/>
        <p:nvPr/>
      </p:nvGrpSpPr>
      <p:grpSpPr>
        <a:xfrm>
          <a:off x="0" y="0"/>
          <a:ext cx="0" cy="0"/>
          <a:chOff x="0" y="0"/>
          <a:chExt cx="0" cy="0"/>
        </a:xfrm>
      </p:grpSpPr>
      <p:sp>
        <p:nvSpPr>
          <p:cNvPr id="9" name="Rectangle 8"/>
          <p:cNvSpPr/>
          <p:nvPr userDrawn="1"/>
        </p:nvSpPr>
        <p:spPr>
          <a:xfrm>
            <a:off x="11471564" y="6456218"/>
            <a:ext cx="720435" cy="40178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 name="Image 2" descr="Une image contenant texte, capture d’écran, Police, conception&#10;&#10;Description générée automatiquement"/>
          <p:cNvPicPr>
            <a:picLocks noChangeAspect="1"/>
          </p:cNvPicPr>
          <p:nvPr userDrawn="1"/>
        </p:nvPicPr>
        <p:blipFill>
          <a:blip r:embed="rId2" cstate="print">
            <a:extLst>
              <a:ext uri="{28A0092B-C50C-407E-A947-70E740481C1C}">
                <a14:useLocalDpi xmlns:a14="http://schemas.microsoft.com/office/drawing/2010/main" val="0"/>
              </a:ext>
            </a:extLst>
          </a:blip>
          <a:srcRect t="26808"/>
          <a:stretch>
            <a:fillRect/>
          </a:stretch>
        </p:blipFill>
        <p:spPr>
          <a:xfrm>
            <a:off x="64655" y="1838036"/>
            <a:ext cx="12192000" cy="5018250"/>
          </a:xfrm>
          <a:prstGeom prst="rect">
            <a:avLst/>
          </a:prstGeom>
        </p:spPr>
      </p:pic>
    </p:spTree>
    <p:extLst>
      <p:ext uri="{BB962C8B-B14F-4D97-AF65-F5344CB8AC3E}">
        <p14:creationId xmlns:p14="http://schemas.microsoft.com/office/powerpoint/2010/main" val="39108393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sposition personnalisée">
    <p:spTree>
      <p:nvGrpSpPr>
        <p:cNvPr id="1" name=""/>
        <p:cNvGrpSpPr/>
        <p:nvPr/>
      </p:nvGrpSpPr>
      <p:grpSpPr>
        <a:xfrm>
          <a:off x="0" y="0"/>
          <a:ext cx="0" cy="0"/>
          <a:chOff x="0" y="0"/>
          <a:chExt cx="0" cy="0"/>
        </a:xfrm>
      </p:grpSpPr>
      <p:pic>
        <p:nvPicPr>
          <p:cNvPr id="3" name="Image 2" descr="Une image contenant texte, capture d’écran, Police, logo&#10;&#10;Description générée automatiquemen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6250355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Disposition personnalisée">
    <p:spTree>
      <p:nvGrpSpPr>
        <p:cNvPr id="1" name=""/>
        <p:cNvGrpSpPr/>
        <p:nvPr/>
      </p:nvGrpSpPr>
      <p:grpSpPr>
        <a:xfrm>
          <a:off x="0" y="0"/>
          <a:ext cx="0" cy="0"/>
          <a:chOff x="0" y="0"/>
          <a:chExt cx="0" cy="0"/>
        </a:xfrm>
      </p:grpSpPr>
      <p:pic>
        <p:nvPicPr>
          <p:cNvPr id="3" name="Image 2" descr="Une image contenant texte, capture d’écran, Graphique, graphisme&#10;&#10;Description générée automatiquement"/>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857"/>
            <a:ext cx="12192000" cy="6856286"/>
          </a:xfrm>
          <a:prstGeom prst="rect">
            <a:avLst/>
          </a:prstGeom>
        </p:spPr>
      </p:pic>
    </p:spTree>
    <p:extLst>
      <p:ext uri="{BB962C8B-B14F-4D97-AF65-F5344CB8AC3E}">
        <p14:creationId xmlns:p14="http://schemas.microsoft.com/office/powerpoint/2010/main" val="24437906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Espace réservé du numéro de diapositive 5">
            <a:extLst>
              <a:ext uri="{FF2B5EF4-FFF2-40B4-BE49-F238E27FC236}">
                <a16:creationId xmlns:a16="http://schemas.microsoft.com/office/drawing/2014/main" id="{962C2C8E-377A-E342-827B-6E2063DD12F1}"/>
              </a:ext>
            </a:extLst>
          </p:cNvPr>
          <p:cNvSpPr txBox="1">
            <a:spLocks/>
          </p:cNvSpPr>
          <p:nvPr userDrawn="1"/>
        </p:nvSpPr>
        <p:spPr>
          <a:xfrm>
            <a:off x="9486903" y="6561460"/>
            <a:ext cx="2705097" cy="296540"/>
          </a:xfrm>
          <a:prstGeom prst="rect">
            <a:avLst/>
          </a:prstGeom>
          <a:noFill/>
          <a:ln>
            <a:noFill/>
          </a:ln>
        </p:spPr>
        <p:txBody>
          <a:bodyPr vert="horz" wrap="square" lIns="91440" tIns="45720" rIns="91440" bIns="45720" anchor="ctr" anchorCtr="0" compatLnSpc="1">
            <a:noAutofit/>
          </a:bodyPr>
          <a:lstStyle>
            <a:defPPr>
              <a:defRPr lang="fr-FR"/>
            </a:defPPr>
            <a:lvl1pPr marL="0" marR="0" lvl="0" indent="0" algn="r" defTabSz="914400" rtl="0" eaLnBrk="1" fontAlgn="auto" latinLnBrk="0" hangingPunct="1">
              <a:lnSpc>
                <a:spcPct val="100000"/>
              </a:lnSpc>
              <a:spcBef>
                <a:spcPts val="0"/>
              </a:spcBef>
              <a:spcAft>
                <a:spcPts val="0"/>
              </a:spcAft>
              <a:buNone/>
              <a:tabLst/>
              <a:defRPr lang="fr-FR" sz="1200" b="0" i="0" u="none" strike="noStrike" kern="1200" cap="none" spc="0" baseline="0">
                <a:solidFill>
                  <a:srgbClr val="898989"/>
                </a:solidFill>
                <a:uFillTx/>
                <a:latin typeface="Calibri"/>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9385B69-22EB-4742-A598-04DFF1B79163}" type="slidenum">
              <a:rPr lang="fr-FR" smtClean="0"/>
              <a:pPr/>
              <a:t>‹N°›</a:t>
            </a:fld>
            <a:endParaRPr lang="fr-FR" dirty="0"/>
          </a:p>
        </p:txBody>
      </p:sp>
    </p:spTree>
    <p:extLst>
      <p:ext uri="{BB962C8B-B14F-4D97-AF65-F5344CB8AC3E}">
        <p14:creationId xmlns:p14="http://schemas.microsoft.com/office/powerpoint/2010/main" val="3484406831"/>
      </p:ext>
    </p:extLst>
  </p:cSld>
  <p:clrMap bg1="lt1" tx1="dk1" bg2="lt2" tx2="dk2" accent1="accent1" accent2="accent2" accent3="accent3" accent4="accent4" accent5="accent5" accent6="accent6" hlink="hlink" folHlink="folHlink"/>
  <p:sldLayoutIdLst>
    <p:sldLayoutId id="2147483653" r:id="rId1"/>
    <p:sldLayoutId id="2147483654" r:id="rId2"/>
    <p:sldLayoutId id="2147483655"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Espace réservé du numéro de diapositive 5"/>
          <p:cNvSpPr txBox="1"/>
          <p:nvPr userDrawn="1"/>
        </p:nvSpPr>
        <p:spPr>
          <a:xfrm>
            <a:off x="9486903" y="6561460"/>
            <a:ext cx="2705097" cy="296540"/>
          </a:xfrm>
          <a:prstGeom prst="rect">
            <a:avLst/>
          </a:prstGeom>
          <a:noFill/>
          <a:ln>
            <a:noFill/>
          </a:ln>
        </p:spPr>
        <p:txBody>
          <a:bodyPr vert="horz" wrap="square" lIns="91440" tIns="45720" rIns="91440" bIns="45720" anchor="ctr" anchorCtr="0" compatLnSpc="1">
            <a:noAutofit/>
          </a:bodyPr>
          <a:lstStyle>
            <a:defPPr>
              <a:defRPr lang="fr-FR"/>
            </a:defPPr>
            <a:lvl1pPr marL="0" marR="0" lvl="0" indent="0" algn="r" defTabSz="914400" rtl="0" eaLnBrk="1" fontAlgn="auto" latinLnBrk="0" hangingPunct="1">
              <a:lnSpc>
                <a:spcPct val="100000"/>
              </a:lnSpc>
              <a:spcBef>
                <a:spcPts val="0"/>
              </a:spcBef>
              <a:spcAft>
                <a:spcPts val="0"/>
              </a:spcAft>
              <a:buNone/>
              <a:defRPr lang="fr-FR" sz="1200" b="0" i="0" u="none" strike="noStrike" kern="1200" cap="none" spc="0" baseline="0">
                <a:solidFill>
                  <a:srgbClr val="898989"/>
                </a:solidFill>
                <a:uFillTx/>
                <a:latin typeface="Calibri" panose="020F0502020204030204"/>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9385B69-22EB-4742-A598-04DFF1B79163}" type="slidenum">
              <a:rPr lang="fr-FR" smtClean="0"/>
              <a:t>‹N°›</a:t>
            </a:fld>
            <a:endParaRPr lang="fr-FR"/>
          </a:p>
        </p:txBody>
      </p:sp>
    </p:spTree>
    <p:extLst>
      <p:ext uri="{BB962C8B-B14F-4D97-AF65-F5344CB8AC3E}">
        <p14:creationId xmlns:p14="http://schemas.microsoft.com/office/powerpoint/2010/main" val="3429907398"/>
      </p:ext>
    </p:extLst>
  </p:cSld>
  <p:clrMap bg1="lt1" tx1="dk1" bg2="lt2" tx2="dk2" accent1="accent1" accent2="accent2" accent3="accent3" accent4="accent4" accent5="accent5" accent6="accent6" hlink="hlink" folHlink="folHlink"/>
  <p:sldLayoutIdLst>
    <p:sldLayoutId id="2147483657" r:id="rId1"/>
    <p:sldLayoutId id="2147483658" r:id="rId2"/>
    <p:sldLayoutId id="2147483659"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1.xml"/><Relationship Id="rId3" Type="http://schemas.openxmlformats.org/officeDocument/2006/relationships/chart" Target="../charts/chart2.xml"/><Relationship Id="rId4" Type="http://schemas.openxmlformats.org/officeDocument/2006/relationships/chart" Target="../charts/char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chart" Target="../charts/char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ED0136D-E93E-5C2F-A773-B1D7C6588D7A}"/>
              </a:ext>
            </a:extLst>
          </p:cNvPr>
          <p:cNvSpPr/>
          <p:nvPr/>
        </p:nvSpPr>
        <p:spPr>
          <a:xfrm>
            <a:off x="9420047" y="5963206"/>
            <a:ext cx="2616422" cy="646331"/>
          </a:xfrm>
          <a:prstGeom prst="rect">
            <a:avLst/>
          </a:prstGeom>
        </p:spPr>
        <p:txBody>
          <a:bodyPr wrap="non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Département Relation Clients
SUNU Business GIE Côte d'Ivoire
Semaine du 22 au 28 Juin 2026</a:t>
            </a:r>
          </a:p>
          <a:p>
            <a:pPr marL="0" marR="0" lvl="0" indent="0" algn="r" defTabSz="914400" rtl="0" eaLnBrk="1" fontAlgn="auto" latinLnBrk="0" hangingPunct="1">
              <a:lnSpc>
                <a:spcPct val="100000"/>
              </a:lnSpc>
              <a:spcBef>
                <a:spcPts val="0"/>
              </a:spcBef>
              <a:spcAft>
                <a:spcPts val="0"/>
              </a:spcAft>
              <a:buClrTx/>
              <a:buSzTx/>
              <a:buFontTx/>
              <a:buNone/>
              <a:tabLst/>
              <a:defRPr/>
            </a:pPr>
            <a:r>
              <a:rPr kumimoji="0" lang="fr-FR" sz="1200" b="1"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r>
          </a:p>
          <a:p>
            <a:pPr marL="0" marR="0" lvl="0" indent="0" algn="r" defTabSz="914400" rtl="0" eaLnBrk="1" fontAlgn="auto" latinLnBrk="0" hangingPunct="1">
              <a:lnSpc>
                <a:spcPct val="100000"/>
              </a:lnSpc>
              <a:spcBef>
                <a:spcPts val="0"/>
              </a:spcBef>
              <a:spcAft>
                <a:spcPts val="0"/>
              </a:spcAft>
              <a:buClrTx/>
              <a:buSzTx/>
              <a:buFontTx/>
              <a:buNone/>
              <a:tabLst/>
              <a:defRPr/>
            </a:pPr>
            <a:r>
              <a:rPr lang="fr-FR" sz="1200" b="1" i="1" dirty="0">
                <a:solidFill>
                  <a:prstClr val="black"/>
                </a:solidFill>
                <a:latin typeface="Arial" panose="020B0604020202020204" pitchFamily="34" charset="0"/>
                <a:cs typeface="Arial" panose="020B0604020202020204" pitchFamily="34" charset="0"/>
              </a:rPr>
              <a:t/>
            </a:r>
            <a:r>
              <a:rPr kumimoji="0" lang="fr-FR" sz="1200" b="1"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r>
            <a:endParaRPr kumimoji="0" lang="en-US" sz="1200" b="1" i="1"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2" name="Titre 1">
            <a:extLst>
              <a:ext uri="{FF2B5EF4-FFF2-40B4-BE49-F238E27FC236}">
                <a16:creationId xmlns:a16="http://schemas.microsoft.com/office/drawing/2014/main" id="{88A35C20-D50D-BF37-5523-6C6847543120}"/>
              </a:ext>
            </a:extLst>
          </p:cNvPr>
          <p:cNvSpPr txBox="1">
            <a:spLocks/>
          </p:cNvSpPr>
          <p:nvPr/>
        </p:nvSpPr>
        <p:spPr>
          <a:xfrm>
            <a:off x="2394156" y="2585283"/>
            <a:ext cx="9163664" cy="1883478"/>
          </a:xfrm>
          <a:prstGeom prst="rect">
            <a:avLst/>
          </a:prstGeom>
        </p:spPr>
        <p:txBody>
          <a:bodyPr>
            <a:noAutofit/>
          </a:bodyPr>
          <a:lstStyle>
            <a:lvl1pPr algn="ctr" defTabSz="914400" rtl="0" eaLnBrk="1" latinLnBrk="0" hangingPunct="1">
              <a:lnSpc>
                <a:spcPct val="90000"/>
              </a:lnSpc>
              <a:spcBef>
                <a:spcPct val="0"/>
              </a:spcBef>
              <a:buNone/>
              <a:defRPr sz="5400" kern="1200">
                <a:solidFill>
                  <a:srgbClr val="C6183D"/>
                </a:solidFill>
                <a:latin typeface="+mj-lt"/>
                <a:ea typeface="+mj-ea"/>
                <a:cs typeface="+mj-cs"/>
              </a:defRPr>
            </a:lvl1pPr>
          </a:lstStyle>
          <a:p>
            <a:pPr algn="ctr">
              <a:lnSpc>
                <a:spcPct val="100000"/>
              </a:lnSpc>
            </a:pPr>
            <a:r>
              <a:rPr lang="fr-FR" sz="40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RESTITUTION SONDAGE 
NPS - CSAT - CES 
Semaine du 22 au 28 Juin 2026</a:t>
            </a:r>
          </a:p>
          <a:p>
            <a:pPr algn="ctr">
              <a:lnSpc>
                <a:spcPct val="100000"/>
              </a:lnSpc>
            </a:pPr>
            <a:r>
              <a:rPr lang="fr-FR" sz="40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r>
          </a:p>
          <a:p>
            <a:pPr algn="ctr">
              <a:lnSpc>
                <a:spcPct val="100000"/>
              </a:lnSpc>
            </a:pPr>
            <a:r>
              <a:rPr lang="fr-FR" sz="3600" b="1"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r>
          </a:p>
        </p:txBody>
      </p:sp>
    </p:spTree>
    <p:extLst>
      <p:ext uri="{BB962C8B-B14F-4D97-AF65-F5344CB8AC3E}">
        <p14:creationId xmlns:p14="http://schemas.microsoft.com/office/powerpoint/2010/main" val="26455522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B321879-5C9D-7940-4F24-100D7348E2BF}"/>
              </a:ext>
            </a:extLst>
          </p:cNvPr>
          <p:cNvSpPr txBox="1">
            <a:spLocks/>
          </p:cNvSpPr>
          <p:nvPr/>
        </p:nvSpPr>
        <p:spPr>
          <a:xfrm>
            <a:off x="1573160" y="3509606"/>
            <a:ext cx="9202733" cy="708103"/>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600" b="0" i="0" u="none" strike="noStrike" kern="1200" cap="none" spc="0" normalizeH="0" baseline="0" noProof="0" dirty="0">
                <a:ln>
                  <a:noFill/>
                </a:ln>
                <a:solidFill>
                  <a:prstClr val="white"/>
                </a:solidFill>
                <a:effectLst/>
                <a:uLnTx/>
                <a:uFillTx/>
                <a:latin typeface="Aptos" panose="02110004020202020204"/>
                <a:ea typeface="+mj-ea"/>
                <a:cs typeface="+mj-cs"/>
              </a:rPr>
              <a:t>Sous-titre 1</a:t>
            </a:r>
          </a:p>
        </p:txBody>
      </p:sp>
      <p:sp>
        <p:nvSpPr>
          <p:cNvPr id="4" name="Titre 1">
            <a:extLst>
              <a:ext uri="{FF2B5EF4-FFF2-40B4-BE49-F238E27FC236}">
                <a16:creationId xmlns:a16="http://schemas.microsoft.com/office/drawing/2014/main" id="{3956B110-3ECB-01C6-76DE-4F71EEFB6D0C}"/>
              </a:ext>
            </a:extLst>
          </p:cNvPr>
          <p:cNvSpPr txBox="1">
            <a:spLocks/>
          </p:cNvSpPr>
          <p:nvPr/>
        </p:nvSpPr>
        <p:spPr>
          <a:xfrm>
            <a:off x="1268360" y="188008"/>
            <a:ext cx="9202733" cy="708103"/>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cs typeface="Arial" panose="020B0604020202020204" pitchFamily="34" charset="0"/>
              </a:rPr>
              <a:t>Sommaire</a:t>
            </a:r>
          </a:p>
        </p:txBody>
      </p:sp>
      <p:sp>
        <p:nvSpPr>
          <p:cNvPr id="3" name="Rectangle 2">
            <a:extLst>
              <a:ext uri="{FF2B5EF4-FFF2-40B4-BE49-F238E27FC236}">
                <a16:creationId xmlns:a16="http://schemas.microsoft.com/office/drawing/2014/main" id="{8930A43A-F7E5-CA49-C6B9-C44F11A69B9D}"/>
              </a:ext>
            </a:extLst>
          </p:cNvPr>
          <p:cNvSpPr/>
          <p:nvPr/>
        </p:nvSpPr>
        <p:spPr>
          <a:xfrm>
            <a:off x="1775298" y="1471785"/>
            <a:ext cx="9354818" cy="4167015"/>
          </a:xfrm>
          <a:prstGeom prst="rect">
            <a:avLst/>
          </a:prstGeom>
        </p:spPr>
        <p:txBody>
          <a:bodyPr vert="horz" lIns="91440" tIns="45720" rIns="91440" bIns="45720" rtlCol="0" anchor="ctr">
            <a:noAutofit/>
          </a:bodyPr>
          <a:lstStyle/>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1- Mise en oeuvre…………..…. ……………….….………………….……..…...p3</a:t>
            </a:r>
          </a:p>
          <a:p>
            <a:pPr marL="285750">
              <a:spcAft>
                <a:spcPts val="600"/>
              </a:spcAft>
              <a:defRPr/>
            </a:pPr>
            <a:endPar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 Restitutions des résultats……………………….….………………..........…p5</a:t>
            </a:r>
          </a:p>
          <a:p>
            <a:pPr marL="285750">
              <a:spcAft>
                <a:spcPts val="600"/>
              </a:spcAft>
              <a:defRPr/>
            </a:pPr>
            <a:endPar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endParaRPr>
          </a:p>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2-1- Presentation générale des résultats: Chiffres……………………p6</a:t>
            </a:r>
          </a:p>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2-2- Presentation générale des résultats : Commentaires….........…p7</a:t>
            </a:r>
          </a:p>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2-3- Résultats Périmètre VIE……………………………………..…….... p8</a:t>
            </a:r>
          </a:p>
          <a:p>
            <a:pPr marL="285750">
              <a:spcAft>
                <a:spcPts val="600"/>
              </a:spcAft>
              <a:defRPr/>
            </a:pPr>
            <a:r>
              <a:rPr lang="en-US" sz="2000" b="1" dirty="0">
                <a:solidFill>
                  <a:prstClr val="black"/>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2-4- Résultats Périmètre IARD………..………………………….……... p9</a:t>
            </a:r>
          </a:p>
          <a:p>
            <a:pPr marL="285750">
              <a:spcAft>
                <a:spcPts val="600"/>
              </a:spcAft>
              <a:defRPr/>
            </a:pPr>
            <a:r>
              <a:rPr lang="en-US" sz="2000" b="1" dirty="0">
                <a:solidFill>
                  <a:prstClr val="black"/>
                </a:solidFill>
                <a:latin typeface="Arial" panose="020B0604020202020204" pitchFamily="34" charset="0"/>
                <a:cs typeface="Arial" panose="020B0604020202020204" pitchFamily="34" charset="0"/>
              </a:rPr>
              <a:t>	</a:t>
            </a:r>
          </a:p>
        </p:txBody>
      </p:sp>
    </p:spTree>
    <p:extLst>
      <p:ext uri="{BB962C8B-B14F-4D97-AF65-F5344CB8AC3E}">
        <p14:creationId xmlns:p14="http://schemas.microsoft.com/office/powerpoint/2010/main" val="28669543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CF16F7E-77CC-3A69-D81C-8054A02FFBD4}"/>
              </a:ext>
            </a:extLst>
          </p:cNvPr>
          <p:cNvSpPr txBox="1">
            <a:spLocks/>
          </p:cNvSpPr>
          <p:nvPr/>
        </p:nvSpPr>
        <p:spPr>
          <a:xfrm>
            <a:off x="2991777" y="3032651"/>
            <a:ext cx="7715552" cy="792699"/>
          </a:xfrm>
          <a:prstGeom prst="rect">
            <a:avLst/>
          </a:prstGeom>
        </p:spPr>
        <p:txBody>
          <a:bodyPr>
            <a:noAutofit/>
          </a:bodyPr>
          <a:lstStyle>
            <a:lvl1pPr algn="ctr" defTabSz="914400" rtl="0" eaLnBrk="1" latinLnBrk="0" hangingPunct="1">
              <a:lnSpc>
                <a:spcPct val="90000"/>
              </a:lnSpc>
              <a:spcBef>
                <a:spcPct val="0"/>
              </a:spcBef>
              <a:buNone/>
              <a:defRPr sz="5400" kern="1200">
                <a:solidFill>
                  <a:srgbClr val="C6183D"/>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lang="fr-FR" sz="6000" b="1" dirty="0">
                <a:solidFill>
                  <a:prstClr val="white"/>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1. Mise en œuvre</a:t>
            </a:r>
            <a:endParaRPr kumimoji="0" lang="fr-FR" sz="6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062358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F2876-0043-0880-3484-10F31F2F460C}"/>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54AA79D-9992-F9BB-3FC8-15DA6B955872}"/>
              </a:ext>
            </a:extLst>
          </p:cNvPr>
          <p:cNvSpPr txBox="1">
            <a:spLocks/>
          </p:cNvSpPr>
          <p:nvPr/>
        </p:nvSpPr>
        <p:spPr>
          <a:xfrm>
            <a:off x="1238864" y="188009"/>
            <a:ext cx="9202733" cy="708103"/>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fr-FR"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j-ea"/>
                <a:cs typeface="Arial" panose="020B0604020202020204" pitchFamily="34" charset="0"/>
              </a:rPr>
              <a:t>1. Mise en œuvre</a:t>
            </a:r>
          </a:p>
        </p:txBody>
      </p:sp>
      <p:sp>
        <p:nvSpPr>
          <p:cNvPr id="3" name="Espace réservé du contenu 2">
            <a:extLst>
              <a:ext uri="{FF2B5EF4-FFF2-40B4-BE49-F238E27FC236}">
                <a16:creationId xmlns:a16="http://schemas.microsoft.com/office/drawing/2014/main" id="{BA19A2AC-BA6C-FD0F-DB97-7A1C45B26E06}"/>
              </a:ext>
            </a:extLst>
          </p:cNvPr>
          <p:cNvSpPr txBox="1">
            <a:spLocks/>
          </p:cNvSpPr>
          <p:nvPr/>
        </p:nvSpPr>
        <p:spPr>
          <a:xfrm>
            <a:off x="157316" y="1071716"/>
            <a:ext cx="5594555" cy="5786284"/>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C6183D"/>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Courier New" panose="02070309020205020404" pitchFamily="49"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Courier New" panose="02070309020205020404" pitchFamily="49"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Courier New" panose="02070309020205020404" pitchFamily="49"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ctr"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0" i="0"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Etape 1: Le cadrage
Ciblage : Les clients ayant contacté le Call Center ou s'étant rendu aux Espaces Conseils sur la période Semaine du 22 au 28 Juin 2026 (périmètre VIE et IARD)
Echantillon :
0 clients pour la VIE
0 clients pour l'IARD
Total base échantillon : 0 clients</a:t>
            </a:r>
            <a:r>
              <a:rPr kumimoji="0" lang="fr-FR" sz="1300" b="1" i="0" u="sng"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1" i="0"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1" i="0"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1" i="1"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ü"/>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ü"/>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ü"/>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1" i="1"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ü"/>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ü"/>
              <a:tabLst/>
              <a:defRPr/>
            </a:pP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1" i="0" u="none" strike="noStrike" kern="1200" cap="none" spc="0" normalizeH="0" baseline="0" noProof="0" dirty="0">
                <a:ln>
                  <a:noFill/>
                </a:ln>
                <a:solidFill>
                  <a:srgbClr val="C00000"/>
                </a:solidFill>
                <a:effectLst/>
                <a:uLnTx/>
                <a:uFillTx/>
                <a:latin typeface="Arial" panose="020B0604020202020204" pitchFamily="34" charset="0"/>
                <a:ea typeface="+mn-ea"/>
                <a:cs typeface="Arial" panose="020B0604020202020204" pitchFamily="34" charset="0"/>
              </a:rPr>
              <a:t/>
            </a:r>
            <a:endPar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endPar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p:txBody>
      </p:sp>
      <p:sp>
        <p:nvSpPr>
          <p:cNvPr id="4" name="Espace réservé du contenu 2">
            <a:extLst>
              <a:ext uri="{FF2B5EF4-FFF2-40B4-BE49-F238E27FC236}">
                <a16:creationId xmlns:a16="http://schemas.microsoft.com/office/drawing/2014/main" id="{EFD7E6AA-772C-8797-1407-EFCE966C21C2}"/>
              </a:ext>
            </a:extLst>
          </p:cNvPr>
          <p:cNvSpPr txBox="1">
            <a:spLocks/>
          </p:cNvSpPr>
          <p:nvPr/>
        </p:nvSpPr>
        <p:spPr>
          <a:xfrm>
            <a:off x="6607277" y="1071716"/>
            <a:ext cx="5145792" cy="5598276"/>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Clr>
                <a:srgbClr val="C6183D"/>
              </a:buClr>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Courier New" panose="02070309020205020404" pitchFamily="49" charset="0"/>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Courier New" panose="02070309020205020404" pitchFamily="49" charset="0"/>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Courier New" panose="02070309020205020404" pitchFamily="49" charset="0"/>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28600" marR="0" lvl="0" indent="-228600" algn="ctr" defTabSz="914400" rtl="0" eaLnBrk="1" fontAlgn="auto" latinLnBrk="0" hangingPunct="1">
              <a:lnSpc>
                <a:spcPct val="120000"/>
              </a:lnSpc>
              <a:spcBef>
                <a:spcPts val="1000"/>
              </a:spcBef>
              <a:spcAft>
                <a:spcPts val="0"/>
              </a:spcAft>
              <a:buClr>
                <a:srgbClr val="C6183D"/>
              </a:buClr>
              <a:buSzTx/>
              <a:buFont typeface="Wingdings" panose="05000000000000000000" pitchFamily="2" charset="2"/>
              <a:buChar char="§"/>
              <a:tabLst/>
              <a:defRPr/>
            </a:pPr>
            <a:r>
              <a:rPr kumimoji="0" lang="fr-FR" sz="1300" b="1" i="0" u="sng"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sym typeface="Wingdings" panose="05000000000000000000" pitchFamily="2" charset="2"/>
              </a:rPr>
              <a:t>Etape 2: L'élaboration du questionnaire
Il est composé principalement de questions reparties selon les thèmes suivants : le Customer Satisfaction (CSAT), le Customer Effort Score (CES) et le Net Promotion Score (NPS)
Etape 3 : L'administration de l'enquête
L'enquête se fait via QR Code et Appels
Période : Semaine du 22 au 28 Juin 2026</a:t>
            </a:r>
          </a:p>
          <a:p>
            <a:pPr marL="0" marR="0" lvl="0" indent="0" algn="just" defTabSz="914400" rtl="0" eaLnBrk="1" fontAlgn="auto" latinLnBrk="0" hangingPunct="1">
              <a:lnSpc>
                <a:spcPct val="90000"/>
              </a:lnSpc>
              <a:spcBef>
                <a:spcPts val="1000"/>
              </a:spcBef>
              <a:spcAft>
                <a:spcPts val="0"/>
              </a:spcAft>
              <a:buClr>
                <a:srgbClr val="C6183D"/>
              </a:buClr>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0" fontAlgn="base" latinLnBrk="0" hangingPunct="0">
              <a:lnSpc>
                <a:spcPct val="120000"/>
              </a:lnSpc>
              <a:spcBef>
                <a:spcPct val="0"/>
              </a:spcBef>
              <a:spcAft>
                <a:spcPct val="0"/>
              </a:spcAft>
              <a:buClrTx/>
              <a:buSzTx/>
              <a:buFontTx/>
              <a:buChar char="-"/>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rPr>
              <a:t/>
            </a:r>
            <a:endPar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0" marR="0" lvl="0" indent="0" algn="l" defTabSz="914400" rtl="0" eaLnBrk="0" fontAlgn="base" latinLnBrk="0" hangingPunct="0">
              <a:lnSpc>
                <a:spcPct val="120000"/>
              </a:lnSpc>
              <a:spcBef>
                <a:spcPct val="0"/>
              </a:spcBef>
              <a:spcAft>
                <a:spcPct val="0"/>
              </a:spcAft>
              <a:buClrTx/>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0" fontAlgn="base" latinLnBrk="0" hangingPunct="0">
              <a:lnSpc>
                <a:spcPct val="120000"/>
              </a:lnSpc>
              <a:spcBef>
                <a:spcPct val="0"/>
              </a:spcBef>
              <a:spcAft>
                <a:spcPct val="0"/>
              </a:spcAft>
              <a:buClrTx/>
              <a:buSzTx/>
              <a:buFontTx/>
              <a:buChar char="-"/>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0" fontAlgn="base" latinLnBrk="0" hangingPunct="0">
              <a:lnSpc>
                <a:spcPct val="120000"/>
              </a:lnSpc>
              <a:spcBef>
                <a:spcPct val="0"/>
              </a:spcBef>
              <a:spcAft>
                <a:spcPct val="0"/>
              </a:spcAft>
              <a:buClrTx/>
              <a:buSzTx/>
              <a:buFontTx/>
              <a:buChar char="-"/>
              <a:tabLst/>
              <a:defRPr/>
            </a:pPr>
            <a:endPar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endParaRPr>
          </a:p>
          <a:p>
            <a:pPr marL="228600" marR="0" lvl="0" indent="-228600" algn="ctr"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1" i="0" u="sng"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sym typeface="Wingdings" panose="05000000000000000000" pitchFamily="2" charset="2"/>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Calibri" panose="020F0502020204030204" pitchFamily="34" charset="0"/>
                <a:cs typeface="Arial" panose="020B0604020202020204" pitchFamily="34" charset="0"/>
                <a:sym typeface="Wingdings" panose="05000000000000000000" pitchFamily="2" charset="2"/>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1" i="0"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228600" marR="0" lvl="0" indent="-22860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Char char="•"/>
              <a:tabLst/>
              <a:defRPr/>
            </a:pPr>
            <a:r>
              <a:rPr kumimoji="0" lang="fr-FR" sz="1300" b="1" i="0" u="sng"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1"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r>
              <a:rPr lang="fr-FR" sz="1300" dirty="0">
                <a:solidFill>
                  <a:sysClr val="windowText" lastClr="000000"/>
                </a:solidFill>
              </a:rPr>
              <a:t/>
            </a:r>
            <a:r>
              <a:rPr kumimoji="0" lang="fr-FR" sz="1300" b="0" i="0" u="none" strike="noStrike" kern="1200" cap="none" spc="0" normalizeH="0" baseline="0" noProof="0" dirty="0">
                <a:ln>
                  <a:noFill/>
                </a:ln>
                <a:solidFill>
                  <a:sysClr val="windowText" lastClr="000000"/>
                </a:solidFill>
                <a:effectLst/>
                <a:uLnTx/>
                <a:uFillTx/>
                <a:latin typeface="Arial" panose="020B0604020202020204" pitchFamily="34" charset="0"/>
                <a:ea typeface="+mn-ea"/>
                <a:cs typeface="Arial" panose="020B0604020202020204" pitchFamily="34" charset="0"/>
              </a:rPr>
              <a:t/>
            </a:r>
          </a:p>
          <a:p>
            <a:pPr marL="0" marR="0" lvl="0" indent="0" algn="just" defTabSz="914400" rtl="0" eaLnBrk="1" fontAlgn="auto" latinLnBrk="0" hangingPunct="1">
              <a:lnSpc>
                <a:spcPct val="120000"/>
              </a:lnSpc>
              <a:spcBef>
                <a:spcPts val="1000"/>
              </a:spcBef>
              <a:spcAft>
                <a:spcPts val="0"/>
              </a:spcAft>
              <a:buClr>
                <a:srgbClr val="C6183D"/>
              </a:buClr>
              <a:buSzTx/>
              <a:buFont typeface="Arial" panose="020B0604020202020204" pitchFamily="34" charset="0"/>
              <a:buNone/>
              <a:tabLst/>
              <a:defRPr/>
            </a:pPr>
            <a:endParaRPr kumimoji="0" lang="fr-FR" sz="500" b="0" i="0" u="none" strike="noStrike" kern="1200" cap="none" spc="0" normalizeH="0" baseline="0" noProof="0" dirty="0">
              <a:ln>
                <a:noFill/>
              </a:ln>
              <a:solidFill>
                <a:sysClr val="windowText" lastClr="000000"/>
              </a:solidFill>
              <a:effectLst/>
              <a:uLnTx/>
              <a:uFillTx/>
              <a:latin typeface="Calibri" panose="020F0502020204030204"/>
              <a:ea typeface="+mn-ea"/>
              <a:cs typeface="Arial" panose="020B0604020202020204" pitchFamily="34" charset="0"/>
            </a:endParaRPr>
          </a:p>
        </p:txBody>
      </p:sp>
    </p:spTree>
    <p:extLst>
      <p:ext uri="{BB962C8B-B14F-4D97-AF65-F5344CB8AC3E}">
        <p14:creationId xmlns:p14="http://schemas.microsoft.com/office/powerpoint/2010/main" val="11537917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E2BDA-6574-EF5C-7078-DA1CF2C0E129}"/>
            </a:ext>
          </a:extLst>
        </p:cNvPr>
        <p:cNvGrpSpPr/>
        <p:nvPr/>
      </p:nvGrpSpPr>
      <p:grpSpPr>
        <a:xfrm>
          <a:off x="0" y="0"/>
          <a:ext cx="0" cy="0"/>
          <a:chOff x="0" y="0"/>
          <a:chExt cx="0" cy="0"/>
        </a:xfrm>
      </p:grpSpPr>
      <p:sp>
        <p:nvSpPr>
          <p:cNvPr id="3" name="Titre 1">
            <a:extLst>
              <a:ext uri="{FF2B5EF4-FFF2-40B4-BE49-F238E27FC236}">
                <a16:creationId xmlns:a16="http://schemas.microsoft.com/office/drawing/2014/main" id="{A4724BAB-5FFF-3E9A-6095-E9C43A8B2D49}"/>
              </a:ext>
            </a:extLst>
          </p:cNvPr>
          <p:cNvSpPr txBox="1">
            <a:spLocks/>
          </p:cNvSpPr>
          <p:nvPr/>
        </p:nvSpPr>
        <p:spPr>
          <a:xfrm>
            <a:off x="2922951" y="2636301"/>
            <a:ext cx="7715552" cy="1798047"/>
          </a:xfrm>
          <a:prstGeom prst="rect">
            <a:avLst/>
          </a:prstGeom>
        </p:spPr>
        <p:txBody>
          <a:bodyPr>
            <a:noAutofit/>
          </a:bodyPr>
          <a:lstStyle>
            <a:lvl1pPr algn="ctr" defTabSz="914400" rtl="0" eaLnBrk="1" latinLnBrk="0" hangingPunct="1">
              <a:lnSpc>
                <a:spcPct val="90000"/>
              </a:lnSpc>
              <a:spcBef>
                <a:spcPct val="0"/>
              </a:spcBef>
              <a:buNone/>
              <a:defRPr sz="5400" kern="1200">
                <a:solidFill>
                  <a:srgbClr val="C6183D"/>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fr-FR" sz="6000" b="1"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j-ea"/>
                <a:cs typeface="Arial" panose="020B0604020202020204" pitchFamily="34" charset="0"/>
              </a:rPr>
              <a:t>2. Restitution des résultats</a:t>
            </a:r>
          </a:p>
        </p:txBody>
      </p:sp>
    </p:spTree>
    <p:extLst>
      <p:ext uri="{BB962C8B-B14F-4D97-AF65-F5344CB8AC3E}">
        <p14:creationId xmlns:p14="http://schemas.microsoft.com/office/powerpoint/2010/main" val="27855038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805153-DBF4-C777-41E9-382E69146A0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4D9D6A4-367A-94B2-B58E-C307455F634D}"/>
              </a:ext>
            </a:extLst>
          </p:cNvPr>
          <p:cNvSpPr txBox="1">
            <a:spLocks/>
          </p:cNvSpPr>
          <p:nvPr/>
        </p:nvSpPr>
        <p:spPr>
          <a:xfrm>
            <a:off x="852295" y="175042"/>
            <a:ext cx="10943303" cy="663148"/>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fr-FR"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Arial" panose="020B0604020202020204" pitchFamily="34" charset="0"/>
                <a:ea typeface="+mj-ea"/>
                <a:cs typeface="Arial" panose="020B0604020202020204" pitchFamily="34" charset="0"/>
              </a:rPr>
              <a:t>2.1. Présentation globale des résultats : Chiffres </a:t>
            </a:r>
          </a:p>
        </p:txBody>
      </p:sp>
      <p:sp>
        <p:nvSpPr>
          <p:cNvPr id="3" name="ZoneTexte 2">
            <a:extLst>
              <a:ext uri="{FF2B5EF4-FFF2-40B4-BE49-F238E27FC236}">
                <a16:creationId xmlns:a16="http://schemas.microsoft.com/office/drawing/2014/main" id="{329CF2A7-775F-E210-E66E-A3C86D476674}"/>
              </a:ext>
            </a:extLst>
          </p:cNvPr>
          <p:cNvSpPr txBox="1"/>
          <p:nvPr/>
        </p:nvSpPr>
        <p:spPr>
          <a:xfrm>
            <a:off x="-159298" y="1098247"/>
            <a:ext cx="2879294" cy="553998"/>
          </a:xfrm>
          <a:prstGeom prst="rect">
            <a:avLst/>
          </a:prstGeom>
          <a:noFill/>
          <a:ln cap="flat">
            <a:noFill/>
          </a:ln>
        </p:spPr>
        <p:txBody>
          <a:bodyPr vert="horz" wrap="square" lIns="91440" tIns="45720" rIns="91440" bIns="45720" anchor="t" anchorCtr="0" compatLnSpc="1">
            <a:spAutoFit/>
          </a:bodyPr>
          <a:lstStyle/>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b="0" i="0" u="none" strike="noStrike" kern="0" cap="none" spc="0" baseline="0">
                <a:solidFill>
                  <a:srgbClr val="000000"/>
                </a:solidFill>
                <a:uFillTx/>
              </a:defRPr>
            </a:pPr>
            <a:r>
              <a:rPr kumimoji="0" lang="fr-CI" sz="1000" b="1" i="1"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Méthode de calcul NPS </a:t>
            </a:r>
          </a:p>
          <a:p>
            <a:pPr marR="0" lvl="0" algn="ctr" defTabSz="914400" rtl="0" eaLnBrk="1" fontAlgn="auto" latinLnBrk="0" hangingPunct="1">
              <a:lnSpc>
                <a:spcPct val="100000"/>
              </a:lnSpc>
              <a:spcBef>
                <a:spcPts val="0"/>
              </a:spcBef>
              <a:spcAft>
                <a:spcPts val="0"/>
              </a:spcAft>
              <a:buClrTx/>
              <a:buSzTx/>
              <a:tabLst/>
              <a:defRPr sz="1800" b="0" i="0" u="none" strike="noStrike" kern="0" cap="none" spc="0" baseline="0">
                <a:solidFill>
                  <a:srgbClr val="000000"/>
                </a:solidFill>
                <a:uFillTx/>
              </a:defRPr>
            </a:pPr>
            <a:r>
              <a:rPr kumimoji="0" lang="fr-CI" sz="1000" b="1" i="1"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(Net Promoter Score)</a:t>
            </a:r>
          </a:p>
          <a:p>
            <a:pPr marL="0" marR="0" lvl="0" indent="0" algn="l"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fr-CI" sz="1000" b="1" i="1"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NPS = %promoteur - %détracteur</a:t>
            </a:r>
          </a:p>
        </p:txBody>
      </p:sp>
      <p:sp>
        <p:nvSpPr>
          <p:cNvPr id="4" name="ZoneTexte 5">
            <a:extLst>
              <a:ext uri="{FF2B5EF4-FFF2-40B4-BE49-F238E27FC236}">
                <a16:creationId xmlns:a16="http://schemas.microsoft.com/office/drawing/2014/main" id="{79D94035-DD8A-FE3B-D02B-51521AB925D2}"/>
              </a:ext>
            </a:extLst>
          </p:cNvPr>
          <p:cNvSpPr txBox="1"/>
          <p:nvPr/>
        </p:nvSpPr>
        <p:spPr>
          <a:xfrm>
            <a:off x="36945" y="4971788"/>
            <a:ext cx="2504912" cy="553998"/>
          </a:xfrm>
          <a:prstGeom prst="rect">
            <a:avLst/>
          </a:prstGeom>
          <a:noFill/>
          <a:ln cap="flat">
            <a:noFill/>
          </a:ln>
        </p:spPr>
        <p:txBody>
          <a:bodyPr vert="horz" wrap="square" lIns="91440" tIns="45720" rIns="91440" bIns="45720" anchor="t" anchorCtr="0" compatLnSpc="1">
            <a:spAutoFit/>
          </a:bodyPr>
          <a:lstStyle/>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b="0" i="0" u="none" strike="noStrike" kern="0" cap="none" spc="0" baseline="0">
                <a:solidFill>
                  <a:srgbClr val="000000"/>
                </a:solidFill>
                <a:uFillTx/>
              </a:defRPr>
            </a:pPr>
            <a:r>
              <a:rPr kumimoji="0" lang="fr-CI" sz="1000" b="1" i="1"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Méthode de calcul CES </a:t>
            </a:r>
          </a:p>
          <a:p>
            <a:pPr marR="0" lvl="0" algn="ctr" defTabSz="914400" rtl="0" eaLnBrk="1" fontAlgn="auto" latinLnBrk="0" hangingPunct="1">
              <a:lnSpc>
                <a:spcPct val="100000"/>
              </a:lnSpc>
              <a:spcBef>
                <a:spcPts val="0"/>
              </a:spcBef>
              <a:spcAft>
                <a:spcPts val="0"/>
              </a:spcAft>
              <a:buClrTx/>
              <a:buSzTx/>
              <a:tabLst/>
              <a:defRPr sz="1800" b="0" i="0" u="none" strike="noStrike" kern="0" cap="none" spc="0" baseline="0">
                <a:solidFill>
                  <a:srgbClr val="000000"/>
                </a:solidFill>
                <a:uFillTx/>
              </a:defRPr>
            </a:pPr>
            <a:r>
              <a:rPr kumimoji="0" lang="fr-CI" sz="1000" b="1" i="1"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(Customer Effort Score)</a:t>
            </a:r>
          </a:p>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fr-CI" sz="1000" b="1" i="1"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CES = %effort élevé - %effort faible </a:t>
            </a:r>
          </a:p>
        </p:txBody>
      </p:sp>
      <p:sp>
        <p:nvSpPr>
          <p:cNvPr id="5" name="ZoneTexte 5">
            <a:extLst>
              <a:ext uri="{FF2B5EF4-FFF2-40B4-BE49-F238E27FC236}">
                <a16:creationId xmlns:a16="http://schemas.microsoft.com/office/drawing/2014/main" id="{1D1B7147-1A22-B772-3BB8-ED4D63AF9E32}"/>
              </a:ext>
            </a:extLst>
          </p:cNvPr>
          <p:cNvSpPr txBox="1"/>
          <p:nvPr/>
        </p:nvSpPr>
        <p:spPr>
          <a:xfrm>
            <a:off x="0" y="3172142"/>
            <a:ext cx="2528689" cy="553998"/>
          </a:xfrm>
          <a:prstGeom prst="rect">
            <a:avLst/>
          </a:prstGeom>
          <a:noFill/>
          <a:ln cap="flat">
            <a:noFill/>
          </a:ln>
        </p:spPr>
        <p:txBody>
          <a:bodyPr vert="horz" wrap="square" lIns="91440" tIns="45720" rIns="91440" bIns="45720" anchor="t" anchorCtr="0" compatLnSpc="1">
            <a:spAutoFit/>
          </a:bodyPr>
          <a:lstStyle/>
          <a:p>
            <a:pPr marL="171450" marR="0" lvl="0" indent="-171450" algn="ctr"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800" b="0" i="0" u="none" strike="noStrike" kern="0" cap="none" spc="0" baseline="0">
                <a:solidFill>
                  <a:srgbClr val="000000"/>
                </a:solidFill>
                <a:uFillTx/>
              </a:defRPr>
            </a:pPr>
            <a:r>
              <a:rPr kumimoji="0" lang="fr-CI" sz="1000" b="1" i="1" u="sng"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Méthode de calcul CSAT </a:t>
            </a:r>
          </a:p>
          <a:p>
            <a:pPr marR="0" lvl="0" algn="ctr" defTabSz="914400" rtl="0" eaLnBrk="1" fontAlgn="auto" latinLnBrk="0" hangingPunct="1">
              <a:lnSpc>
                <a:spcPct val="100000"/>
              </a:lnSpc>
              <a:spcBef>
                <a:spcPts val="0"/>
              </a:spcBef>
              <a:spcAft>
                <a:spcPts val="0"/>
              </a:spcAft>
              <a:buClrTx/>
              <a:buSzTx/>
              <a:tabLst/>
              <a:defRPr sz="1800" b="0" i="0" u="none" strike="noStrike" kern="0" cap="none" spc="0" baseline="0">
                <a:solidFill>
                  <a:srgbClr val="000000"/>
                </a:solidFill>
                <a:uFillTx/>
              </a:defRPr>
            </a:pPr>
            <a:r>
              <a:rPr kumimoji="0" lang="fr-CI" sz="1000" b="1" i="1"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(Customer SATisfaction)</a:t>
            </a:r>
          </a:p>
          <a:p>
            <a:pPr marL="0" marR="0" lvl="0" indent="0" algn="ctr" defTabSz="914400" rtl="0" eaLnBrk="1" fontAlgn="auto" latinLnBrk="0" hangingPunct="1">
              <a:lnSpc>
                <a:spcPct val="100000"/>
              </a:lnSpc>
              <a:spcBef>
                <a:spcPts val="0"/>
              </a:spcBef>
              <a:spcAft>
                <a:spcPts val="0"/>
              </a:spcAft>
              <a:buClrTx/>
              <a:buSzTx/>
              <a:buFontTx/>
              <a:buNone/>
              <a:tabLst/>
              <a:defRPr sz="1800" b="0" i="0" u="none" strike="noStrike" kern="0" cap="none" spc="0" baseline="0">
                <a:solidFill>
                  <a:srgbClr val="000000"/>
                </a:solidFill>
                <a:uFillTx/>
              </a:defRPr>
            </a:pPr>
            <a:r>
              <a:rPr kumimoji="0" lang="fr-CI" sz="1000" b="1" i="1" u="none" strike="noStrike" kern="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rPr>
              <a:t>   CSAT = %satisfait</a:t>
            </a:r>
          </a:p>
        </p:txBody>
      </p:sp>
      <p:pic>
        <p:nvPicPr>
          <p:cNvPr id="9" name="Image 8">
            <a:extLst>
              <a:ext uri="{FF2B5EF4-FFF2-40B4-BE49-F238E27FC236}">
                <a16:creationId xmlns:a16="http://schemas.microsoft.com/office/drawing/2014/main" id="{E28049FF-3910-DDB3-0916-9EB301B4B07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041563" y="3222351"/>
            <a:ext cx="289073" cy="286459"/>
          </a:xfrm>
          <a:prstGeom prst="rect">
            <a:avLst/>
          </a:prstGeom>
        </p:spPr>
      </p:pic>
      <p:pic>
        <p:nvPicPr>
          <p:cNvPr id="11" name="Image 10">
            <a:extLst>
              <a:ext uri="{FF2B5EF4-FFF2-40B4-BE49-F238E27FC236}">
                <a16:creationId xmlns:a16="http://schemas.microsoft.com/office/drawing/2014/main" id="{821C64A3-3022-47D5-BE88-98980489296C}"/>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931683" y="4962328"/>
            <a:ext cx="289073" cy="286459"/>
          </a:xfrm>
          <a:prstGeom prst="rect">
            <a:avLst/>
          </a:prstGeom>
        </p:spPr>
      </p:pic>
      <p:sp>
        <p:nvSpPr>
          <p:cNvPr id="12" name="ZoneTexte 11">
            <a:extLst>
              <a:ext uri="{FF2B5EF4-FFF2-40B4-BE49-F238E27FC236}">
                <a16:creationId xmlns:a16="http://schemas.microsoft.com/office/drawing/2014/main" id="{FBB8A8C7-BE28-CA3B-8995-70BED119384C}"/>
              </a:ext>
            </a:extLst>
          </p:cNvPr>
          <p:cNvSpPr txBox="1"/>
          <p:nvPr/>
        </p:nvSpPr>
        <p:spPr>
          <a:xfrm>
            <a:off x="8268929" y="5739773"/>
            <a:ext cx="3911924" cy="1031051"/>
          </a:xfrm>
          <a:prstGeom prst="rect">
            <a:avLst/>
          </a:prstGeom>
          <a:noFill/>
        </p:spPr>
        <p:txBody>
          <a:bodyPr wrap="square">
            <a:spAutoFit/>
          </a:bodyPr>
          <a:lstStyle/>
          <a:p>
            <a:pPr marL="0" marR="0" lvl="0" indent="0" algn="l" defTabSz="914400" rtl="0" eaLnBrk="1" fontAlgn="auto" latinLnBrk="0" hangingPunct="1">
              <a:lnSpc>
                <a:spcPct val="100000"/>
              </a:lnSpc>
              <a:spcBef>
                <a:spcPts val="1000"/>
              </a:spcBef>
              <a:spcAft>
                <a:spcPts val="0"/>
              </a:spcAft>
              <a:buClr>
                <a:srgbClr val="C6183D"/>
              </a:buClr>
              <a:buSzTx/>
              <a:buFontTx/>
              <a:buNone/>
              <a:tabLst/>
              <a:defRPr/>
            </a:pPr>
            <a:r>
              <a:rPr kumimoji="0" lang="fr-FR" sz="900" b="1" i="0" u="sng"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Echantillon : 
 0 clients ont répondu pour le périmètre VIE
 0 clients ont répondu pour le périmètre IARD
Total base échantillon Semaine du 22 au 28 Juin 2026 : 0 clients</a:t>
            </a:r>
            <a:r>
              <a:rPr kumimoji="0" lang="fr-FR" sz="900" b="0" i="0" u="none"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p>
          <a:p>
            <a:pPr marL="0" marR="0" lvl="0" indent="0" algn="l" defTabSz="914400" rtl="0" eaLnBrk="1" fontAlgn="auto" latinLnBrk="0" hangingPunct="1">
              <a:lnSpc>
                <a:spcPct val="100000"/>
              </a:lnSpc>
              <a:spcBef>
                <a:spcPts val="1000"/>
              </a:spcBef>
              <a:spcAft>
                <a:spcPts val="0"/>
              </a:spcAft>
              <a:buClr>
                <a:srgbClr val="C6183D"/>
              </a:buClr>
              <a:buSzTx/>
              <a:buFont typeface="Wingdings" panose="05000000000000000000" pitchFamily="2" charset="2"/>
              <a:buChar char="ü"/>
              <a:tabLst/>
              <a:defRPr/>
            </a:pPr>
            <a:r>
              <a:rPr kumimoji="0" lang="fr-FR" sz="900" b="0" i="0" u="none"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p>
          <a:p>
            <a:pPr marL="0" marR="0" lvl="0" indent="0" algn="l" defTabSz="914400" rtl="0" eaLnBrk="1" fontAlgn="auto" latinLnBrk="0" hangingPunct="1">
              <a:lnSpc>
                <a:spcPct val="100000"/>
              </a:lnSpc>
              <a:spcBef>
                <a:spcPts val="1000"/>
              </a:spcBef>
              <a:spcAft>
                <a:spcPts val="0"/>
              </a:spcAft>
              <a:buClr>
                <a:srgbClr val="C6183D"/>
              </a:buClr>
              <a:buSzTx/>
              <a:buFont typeface="Wingdings" panose="05000000000000000000" pitchFamily="2" charset="2"/>
              <a:buChar char="ü"/>
              <a:tabLst/>
              <a:defRPr/>
            </a:pPr>
            <a:r>
              <a:rPr kumimoji="0" lang="fr-FR" sz="900" b="0" i="0" u="none"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r>
              <a:rPr lang="fr-FR" sz="900" dirty="0">
                <a:solidFill>
                  <a:sysClr val="windowText" lastClr="0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r>
            <a:r>
              <a:rPr kumimoji="0" lang="fr-FR" sz="900" b="0" i="0" u="none" strike="noStrike" kern="1200" cap="none" spc="0" normalizeH="0" baseline="0" noProof="0" dirty="0">
                <a:ln>
                  <a:noFill/>
                </a:ln>
                <a:solidFill>
                  <a:sysClr val="windowText" lastClr="0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p>
          <a:p>
            <a:pPr marL="171450" marR="0" lvl="0" indent="-171450" algn="l" defTabSz="914400" rtl="0" eaLnBrk="1" fontAlgn="auto" latinLnBrk="0" hangingPunct="1">
              <a:lnSpc>
                <a:spcPct val="100000"/>
              </a:lnSpc>
              <a:spcBef>
                <a:spcPts val="1000"/>
              </a:spcBef>
              <a:spcAft>
                <a:spcPts val="0"/>
              </a:spcAft>
              <a:buClr>
                <a:srgbClr val="C6183D"/>
              </a:buClr>
              <a:buSzTx/>
              <a:buFont typeface="Wingdings" panose="05000000000000000000" pitchFamily="2" charset="2"/>
              <a:buChar char="q"/>
              <a:tabLst/>
              <a:defRPr/>
            </a:pPr>
            <a:r>
              <a:rPr kumimoji="0" lang="fr-FR" sz="9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r>
              <a:rPr lang="fr-FR" sz="900" b="1" dirty="0">
                <a:solidFill>
                  <a:srgbClr val="C00000"/>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
            </a:r>
            <a:r>
              <a:rPr kumimoji="0" lang="fr-FR" sz="900" b="1" i="0" u="none" strike="noStrike" kern="1200" cap="none" spc="0" normalizeH="0" baseline="0" noProof="0" dirty="0">
                <a:ln>
                  <a:noFill/>
                </a:ln>
                <a:solidFill>
                  <a:srgbClr val="C00000"/>
                </a:solidFill>
                <a:effectLst>
                  <a:outerShdw blurRad="38100" dist="38100" dir="2700000" algn="tl">
                    <a:srgbClr val="000000">
                      <a:alpha val="43137"/>
                    </a:srgbClr>
                  </a:outerShdw>
                </a:effectLst>
                <a:uLnTx/>
                <a:uFillTx/>
                <a:latin typeface="Arial" panose="020B0604020202020204" pitchFamily="34" charset="0"/>
                <a:ea typeface="+mn-ea"/>
                <a:cs typeface="Arial" panose="020B0604020202020204" pitchFamily="34" charset="0"/>
              </a:rPr>
              <a:t/>
            </a:r>
          </a:p>
        </p:txBody>
      </p:sp>
      <p:pic>
        <p:nvPicPr>
          <p:cNvPr id="16" name="Image 15">
            <a:extLst>
              <a:ext uri="{FF2B5EF4-FFF2-40B4-BE49-F238E27FC236}">
                <a16:creationId xmlns:a16="http://schemas.microsoft.com/office/drawing/2014/main" id="{1F74B05B-7B8C-309C-875D-E11063E23E6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37914" y="1112016"/>
            <a:ext cx="293984" cy="291325"/>
          </a:xfrm>
          <a:prstGeom prst="rect">
            <a:avLst/>
          </a:prstGeom>
        </p:spPr>
      </p:pic>
      <p:graphicFrame>
        <p:nvGraphicFramePr>
          <p:cNvPr id="17" name="Tableau 16">
            <a:extLst>
              <a:ext uri="{FF2B5EF4-FFF2-40B4-BE49-F238E27FC236}">
                <a16:creationId xmlns:a16="http://schemas.microsoft.com/office/drawing/2014/main" id="{AED393DA-0C27-8FBC-F38F-91D14A03BC23}"/>
              </a:ext>
            </a:extLst>
          </p:cNvPr>
          <p:cNvGraphicFramePr>
            <a:graphicFrameLocks noGrp="1"/>
          </p:cNvGraphicFramePr>
          <p:nvPr>
            <p:extLst>
              <p:ext uri="{D42A27DB-BD31-4B8C-83A1-F6EECF244321}">
                <p14:modId xmlns:p14="http://schemas.microsoft.com/office/powerpoint/2010/main" val="2937617400"/>
              </p:ext>
            </p:extLst>
          </p:nvPr>
        </p:nvGraphicFramePr>
        <p:xfrm>
          <a:off x="36945" y="1080394"/>
          <a:ext cx="8013700" cy="1991878"/>
        </p:xfrm>
        <a:graphic>
          <a:graphicData uri="http://schemas.openxmlformats.org/drawingml/2006/table">
            <a:tbl>
              <a:tblPr/>
              <a:tblGrid>
                <a:gridCol w="1358900">
                  <a:extLst>
                    <a:ext uri="{9D8B030D-6E8A-4147-A177-3AD203B41FA5}">
                      <a16:colId xmlns:a16="http://schemas.microsoft.com/office/drawing/2014/main" val="2868297391"/>
                    </a:ext>
                  </a:extLst>
                </a:gridCol>
                <a:gridCol w="1295400">
                  <a:extLst>
                    <a:ext uri="{9D8B030D-6E8A-4147-A177-3AD203B41FA5}">
                      <a16:colId xmlns:a16="http://schemas.microsoft.com/office/drawing/2014/main" val="1277638003"/>
                    </a:ext>
                  </a:extLst>
                </a:gridCol>
                <a:gridCol w="736600">
                  <a:extLst>
                    <a:ext uri="{9D8B030D-6E8A-4147-A177-3AD203B41FA5}">
                      <a16:colId xmlns:a16="http://schemas.microsoft.com/office/drawing/2014/main" val="2123340379"/>
                    </a:ext>
                  </a:extLst>
                </a:gridCol>
                <a:gridCol w="520700">
                  <a:extLst>
                    <a:ext uri="{9D8B030D-6E8A-4147-A177-3AD203B41FA5}">
                      <a16:colId xmlns:a16="http://schemas.microsoft.com/office/drawing/2014/main" val="2573731833"/>
                    </a:ext>
                  </a:extLst>
                </a:gridCol>
                <a:gridCol w="622300">
                  <a:extLst>
                    <a:ext uri="{9D8B030D-6E8A-4147-A177-3AD203B41FA5}">
                      <a16:colId xmlns:a16="http://schemas.microsoft.com/office/drawing/2014/main" val="3561380254"/>
                    </a:ext>
                  </a:extLst>
                </a:gridCol>
                <a:gridCol w="533400">
                  <a:extLst>
                    <a:ext uri="{9D8B030D-6E8A-4147-A177-3AD203B41FA5}">
                      <a16:colId xmlns:a16="http://schemas.microsoft.com/office/drawing/2014/main" val="4252555466"/>
                    </a:ext>
                  </a:extLst>
                </a:gridCol>
                <a:gridCol w="762000">
                  <a:extLst>
                    <a:ext uri="{9D8B030D-6E8A-4147-A177-3AD203B41FA5}">
                      <a16:colId xmlns:a16="http://schemas.microsoft.com/office/drawing/2014/main" val="1929145713"/>
                    </a:ext>
                  </a:extLst>
                </a:gridCol>
                <a:gridCol w="756094">
                  <a:extLst>
                    <a:ext uri="{9D8B030D-6E8A-4147-A177-3AD203B41FA5}">
                      <a16:colId xmlns:a16="http://schemas.microsoft.com/office/drawing/2014/main" val="172452913"/>
                    </a:ext>
                  </a:extLst>
                </a:gridCol>
                <a:gridCol w="845574">
                  <a:extLst>
                    <a:ext uri="{9D8B030D-6E8A-4147-A177-3AD203B41FA5}">
                      <a16:colId xmlns:a16="http://schemas.microsoft.com/office/drawing/2014/main" val="2036662976"/>
                    </a:ext>
                  </a:extLst>
                </a:gridCol>
                <a:gridCol w="582732">
                  <a:extLst>
                    <a:ext uri="{9D8B030D-6E8A-4147-A177-3AD203B41FA5}">
                      <a16:colId xmlns:a16="http://schemas.microsoft.com/office/drawing/2014/main" val="541245933"/>
                    </a:ext>
                  </a:extLst>
                </a:gridCol>
              </a:tblGrid>
              <a:tr h="227450">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4">
                  <a:txBody>
                    <a:bodyPr/>
                    <a:lstStyle/>
                    <a:p>
                      <a:pPr>
                        <a:defRPr sz="800"/>
                      </a:pPr>
                      <a:r>
                        <a:rPr sz="800"/>
                        <a:t>22 au 28 Juin 2026</a:t>
                      </a:r>
                    </a:p>
                  </a:txBody>
                  <a:tcPr marL="7620" marR="7620" marT="762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hMerge="1">
                  <a:txBody>
                    <a:bodyPr/>
                    <a:lstStyle/>
                    <a:p>
                      <a:endParaRPr lang="fr-FR"/>
                    </a:p>
                  </a:txBody>
                  <a:tcPr/>
                </a:tc>
                <a:tc hMerge="1">
                  <a:txBody>
                    <a:bodyPr/>
                    <a:lstStyle/>
                    <a:p>
                      <a:endParaRPr lang="fr-FR"/>
                    </a:p>
                  </a:txBody>
                  <a:tcPr/>
                </a:tc>
                <a:tc rowSpan="2" gridSpan="2">
                  <a:txBody>
                    <a:bodyPr/>
                    <a:lstStyle/>
                    <a:p>
                      <a:pPr>
                        <a:defRPr sz="800"/>
                      </a:pPr>
                      <a:r>
                        <a:rPr sz="800"/>
                        <a:t>Total 22 au 28 Juin 2026</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rowSpan="2" hMerge="1">
                  <a:txBody>
                    <a:bodyPr/>
                    <a:lstStyle/>
                    <a:p>
                      <a:endParaRPr lang="fr-FR"/>
                    </a:p>
                  </a:txBody>
                  <a:tcPr/>
                </a:tc>
                <a:tc rowSpan="2">
                  <a:txBody>
                    <a:bodyPr/>
                    <a:lstStyle/>
                    <a:p>
                      <a:pPr>
                        <a:defRPr sz="800"/>
                      </a:pP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rowSpan="2">
                  <a:txBody>
                    <a:bodyPr/>
                    <a:lstStyle/>
                    <a:p>
                      <a:pPr algn="ctr" fontAlgn="b">
                        <a:buNone/>
                      </a:pPr>
                      <a:r>
                        <a:rPr lang="fr-FR" sz="800" b="0" i="0" u="none" strike="noStrike">
                          <a:solidFill>
                            <a:srgbClr val="000000"/>
                          </a:solidFill>
                          <a:effectLst/>
                          <a:latin typeface="Calibri" panose="020F0502020204030204" pitchFamily="34" charset="0"/>
                        </a:rPr>
                        <a:t> </a:t>
                      </a:r>
                    </a:p>
                  </a:txBody>
                  <a:tcPr marL="7620" marR="7620" marT="7620" marB="0" anchor="b">
                    <a:lnL w="1905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63720989"/>
                  </a:ext>
                </a:extLst>
              </a:tr>
              <a:tr h="131134">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2">
                  <a:txBody>
                    <a:bodyPr/>
                    <a:lstStyle/>
                    <a:p>
                      <a:pPr algn="ctr" rtl="0" fontAlgn="ctr">
                        <a:buNone/>
                      </a:pPr>
                      <a:r>
                        <a:rPr lang="fr-FR" sz="800" b="1" i="0" u="none" strike="noStrike">
                          <a:solidFill>
                            <a:srgbClr val="FFFFFF"/>
                          </a:solidFill>
                          <a:effectLst/>
                          <a:latin typeface="Arial" panose="020B0604020202020204" pitchFamily="34" charset="0"/>
                        </a:rPr>
                        <a:t>QR Code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a:txBody>
                    <a:bodyPr/>
                    <a:lstStyle/>
                    <a:p>
                      <a:pPr algn="ctr" rtl="0" fontAlgn="ctr">
                        <a:buNone/>
                      </a:pPr>
                      <a:r>
                        <a:rPr lang="fr-FR" sz="800" b="1" i="0" u="none" strike="noStrike">
                          <a:solidFill>
                            <a:srgbClr val="FFFFFF"/>
                          </a:solidFill>
                          <a:effectLst/>
                          <a:latin typeface="Arial" panose="020B0604020202020204" pitchFamily="34" charset="0"/>
                        </a:rPr>
                        <a:t>Appels</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vMerge="1">
                  <a:txBody>
                    <a:bodyPr/>
                    <a:lstStyle/>
                    <a:p>
                      <a:endParaRPr lang="fr-FR"/>
                    </a:p>
                  </a:txBody>
                  <a:tcPr/>
                </a:tc>
                <a:tc hMerge="1" vMerge="1">
                  <a:txBody>
                    <a:bodyPr/>
                    <a:lstStyle/>
                    <a:p>
                      <a:endParaRPr lang="fr-FR"/>
                    </a:p>
                  </a:txBody>
                  <a:tcPr/>
                </a:tc>
                <a:tc vMerge="1">
                  <a:txBody>
                    <a:bodyPr/>
                    <a:lstStyle/>
                    <a:p>
                      <a:endParaRPr lang="fr-FR"/>
                    </a:p>
                  </a:txBody>
                  <a:tcPr/>
                </a:tc>
                <a:tc vMerge="1">
                  <a:txBody>
                    <a:bodyPr/>
                    <a:lstStyle/>
                    <a:p>
                      <a:endParaRPr lang="fr-FR"/>
                    </a:p>
                  </a:txBody>
                  <a:tcPr/>
                </a:tc>
                <a:extLst>
                  <a:ext uri="{0D108BD9-81ED-4DB2-BD59-A6C34878D82A}">
                    <a16:rowId xmlns:a16="http://schemas.microsoft.com/office/drawing/2014/main" val="2577922799"/>
                  </a:ext>
                </a:extLst>
              </a:tr>
              <a:tr h="206068">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w="19050" cap="flat" cmpd="sng" algn="ctr">
                      <a:solidFill>
                        <a:srgbClr val="000000"/>
                      </a:solidFill>
                      <a:prstDash val="solid"/>
                      <a:round/>
                      <a:headEnd type="none" w="med" len="med"/>
                      <a:tailEnd type="none" w="med" len="med"/>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Var. 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356259397"/>
                  </a:ext>
                </a:extLst>
              </a:tr>
              <a:tr h="121767">
                <a:tc rowSpan="4">
                  <a:txBody>
                    <a:bodyPr/>
                    <a:lstStyle/>
                    <a:p>
                      <a:pPr algn="ctr" rtl="0" fontAlgn="ctr"/>
                      <a:r>
                        <a:rPr lang="fr-FR" sz="800" b="1" i="0" u="none" strike="noStrike" dirty="0">
                          <a:solidFill>
                            <a:srgbClr val="000000"/>
                          </a:solidFill>
                          <a:effectLst/>
                          <a:latin typeface="Arial" panose="020B0604020202020204" pitchFamily="34" charset="0"/>
                        </a:rPr>
                        <a:t>Périmètre VIE</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Promoteurs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173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08276984"/>
                  </a:ext>
                </a:extLst>
              </a:tr>
              <a:tr h="117171">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Passifs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83585452"/>
                  </a:ext>
                </a:extLst>
              </a:tr>
              <a:tr h="117171">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Détracteurs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710173617"/>
                  </a:ext>
                </a:extLst>
              </a:tr>
              <a:tr h="126451">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NPS Vie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fontAlgn="ctr">
                        <a:buNone/>
                      </a:pPr>
                      <a:r>
                        <a:rPr lang="fr-FR" sz="800" b="1" i="0" u="none" strike="noStrike">
                          <a:solidFill>
                            <a:srgbClr val="FFFFFF"/>
                          </a:solidFill>
                          <a:effectLst/>
                          <a:latin typeface="Arial" panose="020B0604020202020204" pitchFamily="34" charset="0"/>
                        </a:rPr>
                        <a:t>186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599715986"/>
                  </a:ext>
                </a:extLst>
              </a:tr>
              <a:tr h="140501">
                <a:tc rowSpan="4">
                  <a:txBody>
                    <a:bodyPr/>
                    <a:lstStyle/>
                    <a:p>
                      <a:pPr algn="ctr" rtl="0" fontAlgn="ctr"/>
                      <a:r>
                        <a:rPr lang="fr-FR" sz="800" b="1" i="0" u="none" strike="noStrike" dirty="0">
                          <a:solidFill>
                            <a:srgbClr val="000000"/>
                          </a:solidFill>
                          <a:effectLst/>
                          <a:latin typeface="Arial" panose="020B0604020202020204" pitchFamily="34" charset="0"/>
                        </a:rPr>
                        <a:t>Périmètre IARD</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Promoteurs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65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72983543"/>
                  </a:ext>
                </a:extLst>
              </a:tr>
              <a:tr h="117171">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Passifs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286887530"/>
                  </a:ext>
                </a:extLst>
              </a:tr>
              <a:tr h="117171">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Détracteurs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fontAlgn="ctr">
                        <a:buNone/>
                      </a:pPr>
                      <a:r>
                        <a:rPr lang="fr-FR" sz="800" b="0" i="0" u="none" strike="noStrike">
                          <a:solidFill>
                            <a:srgbClr val="000000"/>
                          </a:solidFill>
                          <a:effectLst/>
                          <a:latin typeface="Arial" panose="020B0604020202020204" pitchFamily="34" charset="0"/>
                        </a:rPr>
                        <a:t>16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92152888"/>
                  </a:ext>
                </a:extLst>
              </a:tr>
              <a:tr h="117171">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NPS IARD</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fontAlgn="ctr">
                        <a:buNone/>
                      </a:pPr>
                      <a:r>
                        <a:rPr lang="fr-FR" sz="800" b="1" i="0" u="none" strike="noStrike">
                          <a:solidFill>
                            <a:srgbClr val="FFFFFF"/>
                          </a:solidFill>
                          <a:effectLst/>
                          <a:latin typeface="Arial" panose="020B0604020202020204" pitchFamily="34" charset="0"/>
                        </a:rPr>
                        <a:t>85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2001489977"/>
                  </a:ext>
                </a:extLst>
              </a:tr>
              <a:tr h="168601">
                <a:tc gridSpan="2">
                  <a:txBody>
                    <a:bodyPr/>
                    <a:lstStyle/>
                    <a:p>
                      <a:pPr algn="r" rtl="0" fontAlgn="ctr"/>
                      <a:r>
                        <a:rPr lang="fr-FR" sz="800" b="1" i="0" u="none" strike="noStrike" dirty="0">
                          <a:solidFill>
                            <a:srgbClr val="000000"/>
                          </a:solidFill>
                          <a:effectLst>
                            <a:outerShdw blurRad="38100" dist="38100" dir="2700000" algn="tl">
                              <a:srgbClr val="000000">
                                <a:alpha val="43137"/>
                              </a:srgbClr>
                            </a:outerShdw>
                          </a:effectLst>
                          <a:latin typeface="Arial" panose="020B0604020202020204" pitchFamily="34" charset="0"/>
                        </a:rPr>
                        <a:t>Nbre total de clients </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6A6A6"/>
                    </a:solidFill>
                  </a:tcPr>
                </a:tc>
                <a:tc hMerge="1">
                  <a:txBody>
                    <a:bodyPr/>
                    <a:lstStyle/>
                    <a:p>
                      <a:endParaRPr lang="fr-FR"/>
                    </a:p>
                  </a:txBody>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81%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271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2664870248"/>
                  </a:ext>
                </a:extLst>
              </a:tr>
              <a:tr h="187334">
                <a:tc gridSpan="2">
                  <a:txBody>
                    <a:bodyPr/>
                    <a:lstStyle/>
                    <a:p>
                      <a:pPr algn="ctr" rtl="0" fontAlgn="ctr"/>
                      <a:r>
                        <a:rPr lang="fr-FR" sz="8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 NPS </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hMerge="1">
                  <a:txBody>
                    <a:bodyPr/>
                    <a:lstStyle/>
                    <a:p>
                      <a:endParaRPr lang="fr-FR"/>
                    </a:p>
                  </a:txBody>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79%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742349096"/>
                  </a:ext>
                </a:extLst>
              </a:tr>
            </a:tbl>
          </a:graphicData>
        </a:graphic>
      </p:graphicFrame>
      <p:graphicFrame>
        <p:nvGraphicFramePr>
          <p:cNvPr id="18" name="Tableau 17">
            <a:extLst>
              <a:ext uri="{FF2B5EF4-FFF2-40B4-BE49-F238E27FC236}">
                <a16:creationId xmlns:a16="http://schemas.microsoft.com/office/drawing/2014/main" id="{D5471B80-81EA-C274-F038-151CF1AADFD0}"/>
              </a:ext>
            </a:extLst>
          </p:cNvPr>
          <p:cNvGraphicFramePr>
            <a:graphicFrameLocks noGrp="1"/>
          </p:cNvGraphicFramePr>
          <p:nvPr>
            <p:extLst>
              <p:ext uri="{D42A27DB-BD31-4B8C-83A1-F6EECF244321}">
                <p14:modId xmlns:p14="http://schemas.microsoft.com/office/powerpoint/2010/main" val="3234049376"/>
              </p:ext>
            </p:extLst>
          </p:nvPr>
        </p:nvGraphicFramePr>
        <p:xfrm>
          <a:off x="54567" y="3198707"/>
          <a:ext cx="8013700" cy="1693888"/>
        </p:xfrm>
        <a:graphic>
          <a:graphicData uri="http://schemas.openxmlformats.org/drawingml/2006/table">
            <a:tbl>
              <a:tblPr/>
              <a:tblGrid>
                <a:gridCol w="1279800">
                  <a:extLst>
                    <a:ext uri="{9D8B030D-6E8A-4147-A177-3AD203B41FA5}">
                      <a16:colId xmlns:a16="http://schemas.microsoft.com/office/drawing/2014/main" val="2385326700"/>
                    </a:ext>
                  </a:extLst>
                </a:gridCol>
                <a:gridCol w="1337678">
                  <a:extLst>
                    <a:ext uri="{9D8B030D-6E8A-4147-A177-3AD203B41FA5}">
                      <a16:colId xmlns:a16="http://schemas.microsoft.com/office/drawing/2014/main" val="2269900850"/>
                    </a:ext>
                  </a:extLst>
                </a:gridCol>
                <a:gridCol w="576041">
                  <a:extLst>
                    <a:ext uri="{9D8B030D-6E8A-4147-A177-3AD203B41FA5}">
                      <a16:colId xmlns:a16="http://schemas.microsoft.com/office/drawing/2014/main" val="2282126053"/>
                    </a:ext>
                  </a:extLst>
                </a:gridCol>
                <a:gridCol w="586077">
                  <a:extLst>
                    <a:ext uri="{9D8B030D-6E8A-4147-A177-3AD203B41FA5}">
                      <a16:colId xmlns:a16="http://schemas.microsoft.com/office/drawing/2014/main" val="965282553"/>
                    </a:ext>
                  </a:extLst>
                </a:gridCol>
                <a:gridCol w="586077">
                  <a:extLst>
                    <a:ext uri="{9D8B030D-6E8A-4147-A177-3AD203B41FA5}">
                      <a16:colId xmlns:a16="http://schemas.microsoft.com/office/drawing/2014/main" val="4049642725"/>
                    </a:ext>
                  </a:extLst>
                </a:gridCol>
                <a:gridCol w="717644">
                  <a:extLst>
                    <a:ext uri="{9D8B030D-6E8A-4147-A177-3AD203B41FA5}">
                      <a16:colId xmlns:a16="http://schemas.microsoft.com/office/drawing/2014/main" val="2879537105"/>
                    </a:ext>
                  </a:extLst>
                </a:gridCol>
                <a:gridCol w="717644">
                  <a:extLst>
                    <a:ext uri="{9D8B030D-6E8A-4147-A177-3AD203B41FA5}">
                      <a16:colId xmlns:a16="http://schemas.microsoft.com/office/drawing/2014/main" val="492557847"/>
                    </a:ext>
                  </a:extLst>
                </a:gridCol>
                <a:gridCol w="825292">
                  <a:extLst>
                    <a:ext uri="{9D8B030D-6E8A-4147-A177-3AD203B41FA5}">
                      <a16:colId xmlns:a16="http://schemas.microsoft.com/office/drawing/2014/main" val="1536342034"/>
                    </a:ext>
                  </a:extLst>
                </a:gridCol>
                <a:gridCol w="825292">
                  <a:extLst>
                    <a:ext uri="{9D8B030D-6E8A-4147-A177-3AD203B41FA5}">
                      <a16:colId xmlns:a16="http://schemas.microsoft.com/office/drawing/2014/main" val="2368777859"/>
                    </a:ext>
                  </a:extLst>
                </a:gridCol>
                <a:gridCol w="562155">
                  <a:extLst>
                    <a:ext uri="{9D8B030D-6E8A-4147-A177-3AD203B41FA5}">
                      <a16:colId xmlns:a16="http://schemas.microsoft.com/office/drawing/2014/main" val="3546870392"/>
                    </a:ext>
                  </a:extLst>
                </a:gridCol>
              </a:tblGrid>
              <a:tr h="219345">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r>
                        <a:rPr lang="fr-FR" sz="800" b="0" i="0" u="none" strike="noStrike" dirty="0">
                          <a:solidFill>
                            <a:srgbClr val="000000"/>
                          </a:solidFill>
                          <a:effectLst/>
                          <a:latin typeface="Arial" panose="020B0604020202020204" pitchFamily="34" charset="0"/>
                        </a:rPr>
                        <a:t> </a:t>
                      </a: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4">
                  <a:txBody>
                    <a:bodyPr/>
                    <a:lstStyle/>
                    <a:p>
                      <a:pPr>
                        <a:defRPr sz="800"/>
                      </a:pPr>
                      <a:r>
                        <a:rPr sz="800"/>
                        <a:t>22 au 28 Juin 2026</a:t>
                      </a:r>
                    </a:p>
                  </a:txBody>
                  <a:tcPr marL="7620" marR="7620" marT="762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hMerge="1">
                  <a:txBody>
                    <a:bodyPr/>
                    <a:lstStyle/>
                    <a:p>
                      <a:endParaRPr lang="fr-FR"/>
                    </a:p>
                  </a:txBody>
                  <a:tcPr/>
                </a:tc>
                <a:tc hMerge="1">
                  <a:txBody>
                    <a:bodyPr/>
                    <a:lstStyle/>
                    <a:p>
                      <a:endParaRPr lang="fr-FR"/>
                    </a:p>
                  </a:txBody>
                  <a:tcPr/>
                </a:tc>
                <a:tc rowSpan="2" gridSpan="2">
                  <a:txBody>
                    <a:bodyPr/>
                    <a:lstStyle/>
                    <a:p>
                      <a:pPr>
                        <a:defRPr sz="800"/>
                      </a:pPr>
                      <a:r>
                        <a:rPr sz="800"/>
                        <a:t>Total 22 au 28 Juin 2026</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rowSpan="2" hMerge="1">
                  <a:txBody>
                    <a:bodyPr/>
                    <a:lstStyle/>
                    <a:p>
                      <a:endParaRPr lang="fr-FR"/>
                    </a:p>
                  </a:txBody>
                  <a:tcPr/>
                </a:tc>
                <a:tc rowSpan="2">
                  <a:txBody>
                    <a:bodyPr/>
                    <a:lstStyle/>
                    <a:p>
                      <a:pPr>
                        <a:defRPr sz="800"/>
                      </a:pP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l" fontAlgn="b">
                        <a:buNone/>
                      </a:pPr>
                      <a:r>
                        <a:rPr lang="fr-FR" sz="800" b="0" i="0" u="none" strike="noStrike">
                          <a:solidFill>
                            <a:srgbClr val="000000"/>
                          </a:solidFill>
                          <a:effectLst/>
                          <a:latin typeface="Calibri" panose="020F0502020204030204" pitchFamily="34" charset="0"/>
                        </a:rPr>
                        <a:t> </a:t>
                      </a:r>
                    </a:p>
                  </a:txBody>
                  <a:tcPr marL="7620" marR="7620" marT="7620" marB="0" anchor="b">
                    <a:lnL w="1905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3447786683"/>
                  </a:ext>
                </a:extLst>
              </a:tr>
              <a:tr h="129448">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2">
                  <a:txBody>
                    <a:bodyPr/>
                    <a:lstStyle/>
                    <a:p>
                      <a:pPr algn="ctr" rtl="0" fontAlgn="ctr">
                        <a:buNone/>
                      </a:pPr>
                      <a:r>
                        <a:rPr lang="fr-FR" sz="800" b="1" i="0" u="none" strike="noStrike">
                          <a:solidFill>
                            <a:srgbClr val="FFFFFF"/>
                          </a:solidFill>
                          <a:effectLst/>
                          <a:latin typeface="Arial" panose="020B0604020202020204" pitchFamily="34" charset="0"/>
                        </a:rPr>
                        <a:t>QR Code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a:txBody>
                    <a:bodyPr/>
                    <a:lstStyle/>
                    <a:p>
                      <a:pPr algn="ctr" rtl="0" fontAlgn="ctr">
                        <a:buNone/>
                      </a:pPr>
                      <a:r>
                        <a:rPr lang="fr-FR" sz="800" b="1" i="0" u="none" strike="noStrike">
                          <a:solidFill>
                            <a:srgbClr val="FFFFFF"/>
                          </a:solidFill>
                          <a:effectLst/>
                          <a:latin typeface="Arial" panose="020B0604020202020204" pitchFamily="34" charset="0"/>
                        </a:rPr>
                        <a:t>Appels</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vMerge="1">
                  <a:txBody>
                    <a:bodyPr/>
                    <a:lstStyle/>
                    <a:p>
                      <a:endParaRPr lang="fr-FR"/>
                    </a:p>
                  </a:txBody>
                  <a:tcPr/>
                </a:tc>
                <a:tc hMerge="1" vMerge="1">
                  <a:txBody>
                    <a:bodyPr/>
                    <a:lstStyle/>
                    <a:p>
                      <a:endParaRPr lang="fr-FR"/>
                    </a:p>
                  </a:txBody>
                  <a:tcPr/>
                </a:tc>
                <a:tc vMerge="1">
                  <a:txBody>
                    <a:bodyPr/>
                    <a:lstStyle/>
                    <a:p>
                      <a:endParaRPr lang="fr-FR"/>
                    </a:p>
                  </a:txBody>
                  <a:tcPr/>
                </a:tc>
                <a:tc>
                  <a:txBody>
                    <a:bodyPr/>
                    <a:lstStyle/>
                    <a:p>
                      <a:pPr algn="l" fontAlgn="b">
                        <a:buNone/>
                      </a:pPr>
                      <a:r>
                        <a:rPr lang="fr-FR" sz="800" b="0" i="0" u="none" strike="noStrike">
                          <a:solidFill>
                            <a:srgbClr val="000000"/>
                          </a:solidFill>
                          <a:effectLst/>
                          <a:latin typeface="Calibri" panose="020F0502020204030204" pitchFamily="34" charset="0"/>
                        </a:rPr>
                        <a:t> </a:t>
                      </a:r>
                    </a:p>
                  </a:txBody>
                  <a:tcPr marL="7620" marR="7620" marT="7620" marB="0" anchor="b">
                    <a:lnL w="1905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6492258"/>
                  </a:ext>
                </a:extLst>
              </a:tr>
              <a:tr h="187477">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w="19050" cap="flat" cmpd="sng" algn="ctr">
                      <a:solidFill>
                        <a:srgbClr val="000000"/>
                      </a:solidFill>
                      <a:prstDash val="solid"/>
                      <a:round/>
                      <a:headEnd type="none" w="med" len="med"/>
                      <a:tailEnd type="none" w="med" len="med"/>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Var. 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511912958"/>
                  </a:ext>
                </a:extLst>
              </a:tr>
              <a:tr h="116058">
                <a:tc rowSpan="3">
                  <a:txBody>
                    <a:bodyPr/>
                    <a:lstStyle/>
                    <a:p>
                      <a:pPr algn="ctr" rtl="0" fontAlgn="ctr"/>
                      <a:r>
                        <a:rPr lang="fr-FR" sz="800" b="1" i="0" u="none" strike="noStrike" dirty="0">
                          <a:solidFill>
                            <a:srgbClr val="000000"/>
                          </a:solidFill>
                          <a:effectLst/>
                          <a:latin typeface="Arial" panose="020B0604020202020204" pitchFamily="34" charset="0"/>
                        </a:rPr>
                        <a:t>Périmètre VIE</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Satisfaits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182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31767474"/>
                  </a:ext>
                </a:extLst>
              </a:tr>
              <a:tr h="116058">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Insatisfaits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4</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5296101"/>
                  </a:ext>
                </a:extLst>
              </a:tr>
              <a:tr h="112996">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CSAT Vie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186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2163381847"/>
                  </a:ext>
                </a:extLst>
              </a:tr>
              <a:tr h="124985">
                <a:tc rowSpan="3">
                  <a:txBody>
                    <a:bodyPr/>
                    <a:lstStyle/>
                    <a:p>
                      <a:pPr algn="ctr" rtl="0" fontAlgn="ctr"/>
                      <a:r>
                        <a:rPr lang="fr-FR" sz="800" b="1" i="0" u="none" strike="noStrike" dirty="0">
                          <a:solidFill>
                            <a:srgbClr val="000000"/>
                          </a:solidFill>
                          <a:effectLst/>
                          <a:latin typeface="Arial" panose="020B0604020202020204" pitchFamily="34" charset="0"/>
                        </a:rPr>
                        <a:t>Périmètre IARD</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Satisfaits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65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03661746"/>
                  </a:ext>
                </a:extLst>
              </a:tr>
              <a:tr h="112996">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Insatisfaits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20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699970295"/>
                  </a:ext>
                </a:extLst>
              </a:tr>
              <a:tr h="112996">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CSAT IARD</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85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486203717"/>
                  </a:ext>
                </a:extLst>
              </a:tr>
              <a:tr h="160694">
                <a:tc gridSpan="2">
                  <a:txBody>
                    <a:bodyPr/>
                    <a:lstStyle/>
                    <a:p>
                      <a:pPr algn="r" rtl="0" fontAlgn="ctr"/>
                      <a:r>
                        <a:rPr lang="fr-FR" sz="800" b="1" i="0" u="none" strike="noStrike" dirty="0">
                          <a:solidFill>
                            <a:srgbClr val="000000"/>
                          </a:solidFill>
                          <a:effectLst>
                            <a:outerShdw blurRad="38100" dist="38100" dir="2700000" algn="tl">
                              <a:srgbClr val="000000">
                                <a:alpha val="43137"/>
                              </a:srgbClr>
                            </a:outerShdw>
                          </a:effectLst>
                          <a:latin typeface="Arial" panose="020B0604020202020204" pitchFamily="34" charset="0"/>
                        </a:rPr>
                        <a:t>Nbre total de clients </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6A6A6"/>
                    </a:solidFill>
                  </a:tcPr>
                </a:tc>
                <a:tc hMerge="1">
                  <a:txBody>
                    <a:bodyPr/>
                    <a:lstStyle/>
                    <a:p>
                      <a:endParaRPr lang="fr-FR"/>
                    </a:p>
                  </a:txBody>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92%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271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2063720894"/>
                  </a:ext>
                </a:extLst>
              </a:tr>
              <a:tr h="187477">
                <a:tc gridSpan="2">
                  <a:txBody>
                    <a:bodyPr/>
                    <a:lstStyle/>
                    <a:p>
                      <a:pPr algn="ctr" rtl="0" fontAlgn="ctr"/>
                      <a:r>
                        <a:rPr lang="fr-FR" sz="8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CSAT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hMerge="1">
                  <a:txBody>
                    <a:bodyPr/>
                    <a:lstStyle/>
                    <a:p>
                      <a:endParaRPr lang="fr-FR"/>
                    </a:p>
                  </a:txBody>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91%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135299928"/>
                  </a:ext>
                </a:extLst>
              </a:tr>
            </a:tbl>
          </a:graphicData>
        </a:graphic>
      </p:graphicFrame>
      <p:graphicFrame>
        <p:nvGraphicFramePr>
          <p:cNvPr id="19" name="Tableau 18">
            <a:extLst>
              <a:ext uri="{FF2B5EF4-FFF2-40B4-BE49-F238E27FC236}">
                <a16:creationId xmlns:a16="http://schemas.microsoft.com/office/drawing/2014/main" id="{FABE8F38-E79C-A0F0-2AE7-8DCFD956DD54}"/>
              </a:ext>
            </a:extLst>
          </p:cNvPr>
          <p:cNvGraphicFramePr>
            <a:graphicFrameLocks noGrp="1"/>
          </p:cNvGraphicFramePr>
          <p:nvPr>
            <p:extLst>
              <p:ext uri="{D42A27DB-BD31-4B8C-83A1-F6EECF244321}">
                <p14:modId xmlns:p14="http://schemas.microsoft.com/office/powerpoint/2010/main" val="3095783443"/>
              </p:ext>
            </p:extLst>
          </p:nvPr>
        </p:nvGraphicFramePr>
        <p:xfrm>
          <a:off x="54567" y="4983278"/>
          <a:ext cx="8013700" cy="1832622"/>
        </p:xfrm>
        <a:graphic>
          <a:graphicData uri="http://schemas.openxmlformats.org/drawingml/2006/table">
            <a:tbl>
              <a:tblPr/>
              <a:tblGrid>
                <a:gridCol w="1279800">
                  <a:extLst>
                    <a:ext uri="{9D8B030D-6E8A-4147-A177-3AD203B41FA5}">
                      <a16:colId xmlns:a16="http://schemas.microsoft.com/office/drawing/2014/main" val="792274694"/>
                    </a:ext>
                  </a:extLst>
                </a:gridCol>
                <a:gridCol w="1308468">
                  <a:extLst>
                    <a:ext uri="{9D8B030D-6E8A-4147-A177-3AD203B41FA5}">
                      <a16:colId xmlns:a16="http://schemas.microsoft.com/office/drawing/2014/main" val="1414940733"/>
                    </a:ext>
                  </a:extLst>
                </a:gridCol>
                <a:gridCol w="605251">
                  <a:extLst>
                    <a:ext uri="{9D8B030D-6E8A-4147-A177-3AD203B41FA5}">
                      <a16:colId xmlns:a16="http://schemas.microsoft.com/office/drawing/2014/main" val="3239699146"/>
                    </a:ext>
                  </a:extLst>
                </a:gridCol>
                <a:gridCol w="586077">
                  <a:extLst>
                    <a:ext uri="{9D8B030D-6E8A-4147-A177-3AD203B41FA5}">
                      <a16:colId xmlns:a16="http://schemas.microsoft.com/office/drawing/2014/main" val="3194049783"/>
                    </a:ext>
                  </a:extLst>
                </a:gridCol>
                <a:gridCol w="586077">
                  <a:extLst>
                    <a:ext uri="{9D8B030D-6E8A-4147-A177-3AD203B41FA5}">
                      <a16:colId xmlns:a16="http://schemas.microsoft.com/office/drawing/2014/main" val="364908798"/>
                    </a:ext>
                  </a:extLst>
                </a:gridCol>
                <a:gridCol w="717645">
                  <a:extLst>
                    <a:ext uri="{9D8B030D-6E8A-4147-A177-3AD203B41FA5}">
                      <a16:colId xmlns:a16="http://schemas.microsoft.com/office/drawing/2014/main" val="208648778"/>
                    </a:ext>
                  </a:extLst>
                </a:gridCol>
                <a:gridCol w="717645">
                  <a:extLst>
                    <a:ext uri="{9D8B030D-6E8A-4147-A177-3AD203B41FA5}">
                      <a16:colId xmlns:a16="http://schemas.microsoft.com/office/drawing/2014/main" val="3005067685"/>
                    </a:ext>
                  </a:extLst>
                </a:gridCol>
                <a:gridCol w="798866">
                  <a:extLst>
                    <a:ext uri="{9D8B030D-6E8A-4147-A177-3AD203B41FA5}">
                      <a16:colId xmlns:a16="http://schemas.microsoft.com/office/drawing/2014/main" val="2485355899"/>
                    </a:ext>
                  </a:extLst>
                </a:gridCol>
                <a:gridCol w="825910">
                  <a:extLst>
                    <a:ext uri="{9D8B030D-6E8A-4147-A177-3AD203B41FA5}">
                      <a16:colId xmlns:a16="http://schemas.microsoft.com/office/drawing/2014/main" val="663519980"/>
                    </a:ext>
                  </a:extLst>
                </a:gridCol>
                <a:gridCol w="587961">
                  <a:extLst>
                    <a:ext uri="{9D8B030D-6E8A-4147-A177-3AD203B41FA5}">
                      <a16:colId xmlns:a16="http://schemas.microsoft.com/office/drawing/2014/main" val="142989346"/>
                    </a:ext>
                  </a:extLst>
                </a:gridCol>
              </a:tblGrid>
              <a:tr h="173549">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r>
                        <a:rPr lang="fr-FR" sz="800" b="0" i="0" u="none" strike="noStrike" dirty="0">
                          <a:solidFill>
                            <a:srgbClr val="000000"/>
                          </a:solidFill>
                          <a:effectLst/>
                          <a:latin typeface="Arial" panose="020B0604020202020204" pitchFamily="34" charset="0"/>
                        </a:rPr>
                        <a:t> </a:t>
                      </a: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4">
                  <a:txBody>
                    <a:bodyPr/>
                    <a:lstStyle/>
                    <a:p>
                      <a:pPr>
                        <a:defRPr sz="800"/>
                      </a:pPr>
                      <a:r>
                        <a:rPr sz="800"/>
                        <a:t>22 au 28 Juin 2026</a:t>
                      </a:r>
                    </a:p>
                  </a:txBody>
                  <a:tcPr marL="7620" marR="7620" marT="7620" marB="0">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hMerge="1">
                  <a:txBody>
                    <a:bodyPr/>
                    <a:lstStyle/>
                    <a:p>
                      <a:endParaRPr lang="fr-FR"/>
                    </a:p>
                  </a:txBody>
                  <a:tcPr/>
                </a:tc>
                <a:tc hMerge="1">
                  <a:txBody>
                    <a:bodyPr/>
                    <a:lstStyle/>
                    <a:p>
                      <a:endParaRPr lang="fr-FR"/>
                    </a:p>
                  </a:txBody>
                  <a:tcPr/>
                </a:tc>
                <a:tc rowSpan="2" gridSpan="2">
                  <a:txBody>
                    <a:bodyPr/>
                    <a:lstStyle/>
                    <a:p>
                      <a:pPr>
                        <a:defRPr sz="800"/>
                      </a:pPr>
                      <a:r>
                        <a:rPr sz="800"/>
                        <a:t>Total 22 au 28 Juin 2026</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rowSpan="2" hMerge="1">
                  <a:txBody>
                    <a:bodyPr/>
                    <a:lstStyle/>
                    <a:p>
                      <a:endParaRPr lang="fr-FR"/>
                    </a:p>
                  </a:txBody>
                  <a:tcPr/>
                </a:tc>
                <a:tc rowSpan="2">
                  <a:txBody>
                    <a:bodyPr/>
                    <a:lstStyle/>
                    <a:p>
                      <a:pPr>
                        <a:defRPr sz="800"/>
                      </a:pP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l" fontAlgn="b">
                        <a:buNone/>
                      </a:pPr>
                      <a:r>
                        <a:rPr lang="fr-FR" sz="800" b="0" i="0" u="none" strike="noStrike">
                          <a:solidFill>
                            <a:srgbClr val="000000"/>
                          </a:solidFill>
                          <a:effectLst/>
                          <a:latin typeface="Calibri" panose="020F0502020204030204" pitchFamily="34" charset="0"/>
                        </a:rPr>
                        <a:t> </a:t>
                      </a:r>
                    </a:p>
                  </a:txBody>
                  <a:tcPr marL="7620" marR="7620" marT="7620" marB="0" anchor="b">
                    <a:lnL w="19050" cap="flat" cmpd="sng" algn="ctr">
                      <a:solidFill>
                        <a:srgbClr val="000000"/>
                      </a:solidFill>
                      <a:prstDash val="solid"/>
                      <a:round/>
                      <a:headEnd type="none" w="med" len="med"/>
                      <a:tailEnd type="none" w="med" len="med"/>
                    </a:lnL>
                    <a:lnR>
                      <a:noFill/>
                    </a:lnR>
                    <a:lnT>
                      <a:noFill/>
                    </a:lnT>
                    <a:lnB>
                      <a:noFill/>
                    </a:lnB>
                    <a:noFill/>
                  </a:tcPr>
                </a:tc>
                <a:extLst>
                  <a:ext uri="{0D108BD9-81ED-4DB2-BD59-A6C34878D82A}">
                    <a16:rowId xmlns:a16="http://schemas.microsoft.com/office/drawing/2014/main" val="1649652824"/>
                  </a:ext>
                </a:extLst>
              </a:tr>
              <a:tr h="130619">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a:noFill/>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a:noFill/>
                    </a:lnB>
                    <a:noFill/>
                  </a:tcPr>
                </a:tc>
                <a:tc gridSpan="2">
                  <a:txBody>
                    <a:bodyPr/>
                    <a:lstStyle/>
                    <a:p>
                      <a:pPr algn="ctr" rtl="0" fontAlgn="ctr">
                        <a:buNone/>
                      </a:pPr>
                      <a:r>
                        <a:rPr lang="fr-FR" sz="800" b="1" i="0" u="none" strike="noStrike">
                          <a:solidFill>
                            <a:srgbClr val="FFFFFF"/>
                          </a:solidFill>
                          <a:effectLst/>
                          <a:latin typeface="Arial" panose="020B0604020202020204" pitchFamily="34" charset="0"/>
                        </a:rPr>
                        <a:t>QR Code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a:txBody>
                    <a:bodyPr/>
                    <a:lstStyle/>
                    <a:p>
                      <a:pPr algn="ctr" rtl="0" fontAlgn="ctr">
                        <a:buNone/>
                      </a:pPr>
                      <a:r>
                        <a:rPr lang="fr-FR" sz="800" b="1" i="0" u="none" strike="noStrike">
                          <a:solidFill>
                            <a:srgbClr val="FFFFFF"/>
                          </a:solidFill>
                          <a:effectLst/>
                          <a:latin typeface="Arial" panose="020B0604020202020204" pitchFamily="34" charset="0"/>
                        </a:rPr>
                        <a:t>Appels</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hMerge="1">
                  <a:txBody>
                    <a:bodyPr/>
                    <a:lstStyle/>
                    <a:p>
                      <a:endParaRPr lang="fr-FR"/>
                    </a:p>
                  </a:txBody>
                  <a:tcPr/>
                </a:tc>
                <a:tc gridSpan="2" vMerge="1">
                  <a:txBody>
                    <a:bodyPr/>
                    <a:lstStyle/>
                    <a:p>
                      <a:endParaRPr lang="fr-FR"/>
                    </a:p>
                  </a:txBody>
                  <a:tcPr/>
                </a:tc>
                <a:tc hMerge="1" vMerge="1">
                  <a:txBody>
                    <a:bodyPr/>
                    <a:lstStyle/>
                    <a:p>
                      <a:endParaRPr lang="fr-FR"/>
                    </a:p>
                  </a:txBody>
                  <a:tcPr/>
                </a:tc>
                <a:tc vMerge="1">
                  <a:txBody>
                    <a:bodyPr/>
                    <a:lstStyle/>
                    <a:p>
                      <a:endParaRPr lang="fr-FR"/>
                    </a:p>
                  </a:txBody>
                  <a:tcPr/>
                </a:tc>
                <a:tc>
                  <a:txBody>
                    <a:bodyPr/>
                    <a:lstStyle/>
                    <a:p>
                      <a:pPr algn="l" fontAlgn="b">
                        <a:buNone/>
                      </a:pPr>
                      <a:r>
                        <a:rPr lang="fr-FR" sz="800" b="0" i="0" u="none" strike="noStrike">
                          <a:solidFill>
                            <a:srgbClr val="000000"/>
                          </a:solidFill>
                          <a:effectLst/>
                          <a:latin typeface="Calibri" panose="020F0502020204030204" pitchFamily="34" charset="0"/>
                        </a:rPr>
                        <a:t> </a:t>
                      </a:r>
                    </a:p>
                  </a:txBody>
                  <a:tcPr marL="7620" marR="7620" marT="7620" marB="0" anchor="b">
                    <a:lnL w="19050" cap="flat" cmpd="sng" algn="ctr">
                      <a:solidFill>
                        <a:srgbClr val="000000"/>
                      </a:solidFill>
                      <a:prstDash val="solid"/>
                      <a:round/>
                      <a:headEnd type="none" w="med" len="med"/>
                      <a:tailEnd type="none" w="med" len="med"/>
                    </a:lnL>
                    <a:lnR>
                      <a:noFill/>
                    </a:lnR>
                    <a:lnT>
                      <a:noFill/>
                    </a:lnT>
                    <a:lnB w="1905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24888556"/>
                  </a:ext>
                </a:extLst>
              </a:tr>
              <a:tr h="140667">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a:noFill/>
                    </a:lnR>
                    <a:lnT>
                      <a:noFill/>
                    </a:lnT>
                    <a:lnB w="19050" cap="flat" cmpd="sng" algn="ctr">
                      <a:solidFill>
                        <a:srgbClr val="000000"/>
                      </a:solidFill>
                      <a:prstDash val="solid"/>
                      <a:round/>
                      <a:headEnd type="none" w="med" len="med"/>
                      <a:tailEnd type="none" w="med" len="med"/>
                    </a:lnB>
                    <a:noFill/>
                  </a:tcPr>
                </a:tc>
                <a:tc>
                  <a:txBody>
                    <a:bodyPr/>
                    <a:lstStyle/>
                    <a:p>
                      <a:pPr algn="l" fontAlgn="b"/>
                      <a:endParaRPr lang="fr-FR" sz="800" b="0" i="0" u="none" strike="noStrike" dirty="0">
                        <a:solidFill>
                          <a:srgbClr val="000000"/>
                        </a:solidFill>
                        <a:effectLst/>
                        <a:latin typeface="Arial" panose="020B0604020202020204" pitchFamily="34" charset="0"/>
                      </a:endParaRPr>
                    </a:p>
                  </a:txBody>
                  <a:tcPr marL="7620" marR="7620" marT="7620" marB="0" anchor="b">
                    <a:lnL>
                      <a:noFill/>
                    </a:lnL>
                    <a:lnR w="19050" cap="flat" cmpd="sng" algn="ctr">
                      <a:solidFill>
                        <a:srgbClr val="000000"/>
                      </a:solidFill>
                      <a:prstDash val="solid"/>
                      <a:round/>
                      <a:headEnd type="none" w="med" len="med"/>
                      <a:tailEnd type="none" w="med" len="med"/>
                    </a:lnR>
                    <a:lnT>
                      <a:noFill/>
                    </a:lnT>
                    <a:lnB w="19050" cap="flat" cmpd="sng" algn="ctr">
                      <a:solidFill>
                        <a:srgbClr val="000000"/>
                      </a:solidFill>
                      <a:prstDash val="solid"/>
                      <a:round/>
                      <a:headEnd type="none" w="med" len="med"/>
                      <a:tailEnd type="none" w="med" len="med"/>
                    </a:lnB>
                    <a:no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Var. Nbre</a:t>
                      </a:r>
                    </a:p>
                  </a:txBody>
                  <a:tcPr marL="7620" marR="7620" marT="7620" marB="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636953831"/>
                  </a:ext>
                </a:extLst>
              </a:tr>
              <a:tr h="89404">
                <a:tc rowSpan="4">
                  <a:txBody>
                    <a:bodyPr/>
                    <a:lstStyle/>
                    <a:p>
                      <a:pPr algn="ctr" rtl="0" fontAlgn="ctr"/>
                      <a:r>
                        <a:rPr lang="fr-FR" sz="800" b="1" i="0" u="none" strike="noStrike" dirty="0">
                          <a:solidFill>
                            <a:srgbClr val="000000"/>
                          </a:solidFill>
                          <a:effectLst/>
                          <a:latin typeface="Arial" panose="020B0604020202020204" pitchFamily="34" charset="0"/>
                        </a:rPr>
                        <a:t>Périmètre VIE</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Effort faible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172</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93847878"/>
                  </a:ext>
                </a:extLst>
              </a:tr>
              <a:tr h="89404">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Effort modéré</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99913652"/>
                  </a:ext>
                </a:extLst>
              </a:tr>
              <a:tr h="89404">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Effort élevé</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7</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72801211"/>
                  </a:ext>
                </a:extLst>
              </a:tr>
              <a:tr h="90429">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CES Vie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186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595899873"/>
                  </a:ext>
                </a:extLst>
              </a:tr>
              <a:tr h="89404">
                <a:tc rowSpan="4">
                  <a:txBody>
                    <a:bodyPr/>
                    <a:lstStyle/>
                    <a:p>
                      <a:pPr algn="ctr" rtl="0" fontAlgn="ctr"/>
                      <a:r>
                        <a:rPr lang="fr-FR" sz="800" b="1" i="0" u="none" strike="noStrike" dirty="0">
                          <a:solidFill>
                            <a:srgbClr val="000000"/>
                          </a:solidFill>
                          <a:effectLst/>
                          <a:latin typeface="Arial" panose="020B0604020202020204" pitchFamily="34" charset="0"/>
                        </a:rPr>
                        <a:t>Périmètre IARD</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D2DEEF"/>
                    </a:solidFill>
                  </a:tcPr>
                </a:tc>
                <a:tc>
                  <a:txBody>
                    <a:bodyPr/>
                    <a:lstStyle/>
                    <a:p>
                      <a:pPr algn="ctr" rtl="0" fontAlgn="ctr"/>
                      <a:r>
                        <a:rPr lang="fr-FR" sz="800" b="0" i="0" u="none" strike="noStrike" dirty="0">
                          <a:solidFill>
                            <a:srgbClr val="000000"/>
                          </a:solidFill>
                          <a:effectLst/>
                          <a:latin typeface="Arial" panose="020B0604020202020204" pitchFamily="34" charset="0"/>
                        </a:rPr>
                        <a:t>Effort faible</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69</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29758083"/>
                  </a:ext>
                </a:extLst>
              </a:tr>
              <a:tr h="89404">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Effort modéré</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6</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94929472"/>
                  </a:ext>
                </a:extLst>
              </a:tr>
              <a:tr h="89404">
                <a:tc vMerge="1">
                  <a:txBody>
                    <a:bodyPr/>
                    <a:lstStyle/>
                    <a:p>
                      <a:endParaRPr lang="fr-FR"/>
                    </a:p>
                  </a:txBody>
                  <a:tcPr/>
                </a:tc>
                <a:tc>
                  <a:txBody>
                    <a:bodyPr/>
                    <a:lstStyle/>
                    <a:p>
                      <a:pPr algn="ctr" rtl="0" fontAlgn="ctr"/>
                      <a:r>
                        <a:rPr lang="fr-FR" sz="800" b="0" i="0" u="none" strike="noStrike" dirty="0">
                          <a:solidFill>
                            <a:srgbClr val="000000"/>
                          </a:solidFill>
                          <a:effectLst/>
                          <a:latin typeface="Arial" panose="020B0604020202020204" pitchFamily="34" charset="0"/>
                        </a:rPr>
                        <a:t>Effort élevé</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BE5D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ctr" rtl="0" fontAlgn="ctr">
                        <a:buNone/>
                      </a:pPr>
                      <a:r>
                        <a:rPr lang="fr-FR" sz="800" b="0" i="0" u="none" strike="noStrike">
                          <a:solidFill>
                            <a:srgbClr val="000000"/>
                          </a:solidFill>
                          <a:effectLst/>
                          <a:latin typeface="Arial" panose="020B0604020202020204" pitchFamily="34" charset="0"/>
                        </a:rPr>
                        <a:t>10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36125287"/>
                  </a:ext>
                </a:extLst>
              </a:tr>
              <a:tr h="89404">
                <a:tc vMerge="1">
                  <a:txBody>
                    <a:bodyPr/>
                    <a:lstStyle/>
                    <a:p>
                      <a:endParaRPr lang="fr-FR"/>
                    </a:p>
                  </a:txBody>
                  <a:tcPr/>
                </a:tc>
                <a:tc>
                  <a:txBody>
                    <a:bodyPr/>
                    <a:lstStyle/>
                    <a:p>
                      <a:pPr algn="ctr" rtl="0" fontAlgn="ctr"/>
                      <a:r>
                        <a:rPr lang="fr-FR" sz="800" b="1" i="0" u="none" strike="noStrike" dirty="0">
                          <a:solidFill>
                            <a:srgbClr val="FFFFFF"/>
                          </a:solidFill>
                          <a:effectLst/>
                          <a:latin typeface="Arial" panose="020B0604020202020204" pitchFamily="34" charset="0"/>
                        </a:rPr>
                        <a:t>CES IARD</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FFFFFF"/>
                    </a:solid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lgn="ctr" rtl="0" fontAlgn="ctr">
                        <a:buNone/>
                      </a:pPr>
                      <a:r>
                        <a:rPr lang="fr-FR" sz="800" b="1" i="0" u="none" strike="noStrike">
                          <a:solidFill>
                            <a:srgbClr val="FFFFFF"/>
                          </a:solidFill>
                          <a:effectLst/>
                          <a:latin typeface="Arial" panose="020B0604020202020204" pitchFamily="34" charset="0"/>
                        </a:rPr>
                        <a:t>85</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C00000"/>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00000"/>
                    </a:solidFill>
                  </a:tcPr>
                </a:tc>
                <a:extLst>
                  <a:ext uri="{0D108BD9-81ED-4DB2-BD59-A6C34878D82A}">
                    <a16:rowId xmlns:a16="http://schemas.microsoft.com/office/drawing/2014/main" val="1978311143"/>
                  </a:ext>
                </a:extLst>
              </a:tr>
              <a:tr h="120572">
                <a:tc gridSpan="2">
                  <a:txBody>
                    <a:bodyPr/>
                    <a:lstStyle/>
                    <a:p>
                      <a:pPr algn="r" rtl="0" fontAlgn="ctr"/>
                      <a:r>
                        <a:rPr lang="fr-FR" sz="800" b="1" i="0" u="none" strike="noStrike" dirty="0">
                          <a:solidFill>
                            <a:srgbClr val="000000"/>
                          </a:solidFill>
                          <a:effectLst>
                            <a:outerShdw blurRad="38100" dist="38100" dir="2700000" algn="tl">
                              <a:srgbClr val="000000">
                                <a:alpha val="43137"/>
                              </a:srgbClr>
                            </a:outerShdw>
                          </a:effectLst>
                          <a:latin typeface="Arial" panose="020B0604020202020204" pitchFamily="34" charset="0"/>
                        </a:rPr>
                        <a:t>Nbre total de clients </a:t>
                      </a:r>
                    </a:p>
                  </a:txBody>
                  <a:tcPr marL="7620" marR="7620" marT="7620" marB="0" anchor="ctr">
                    <a:lnL w="1905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solidFill>
                      <a:srgbClr val="A6A6A6"/>
                    </a:solidFill>
                  </a:tcPr>
                </a:tc>
                <a:tc hMerge="1">
                  <a:txBody>
                    <a:bodyPr/>
                    <a:lstStyle/>
                    <a:p>
                      <a:endParaRPr lang="fr-FR"/>
                    </a:p>
                  </a:txBody>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-80%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lgn="ctr" fontAlgn="ctr">
                        <a:buNone/>
                      </a:pPr>
                      <a:r>
                        <a:rPr lang="fr-FR" sz="800" b="1" i="0" u="none" strike="noStrike">
                          <a:solidFill>
                            <a:srgbClr val="000000"/>
                          </a:solidFill>
                          <a:effectLst/>
                          <a:latin typeface="Arial" panose="020B0604020202020204" pitchFamily="34" charset="0"/>
                        </a:rPr>
                        <a:t>271</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A6A6A6"/>
                    </a:solidFill>
                  </a:tcPr>
                </a:tc>
                <a:extLst>
                  <a:ext uri="{0D108BD9-81ED-4DB2-BD59-A6C34878D82A}">
                    <a16:rowId xmlns:a16="http://schemas.microsoft.com/office/drawing/2014/main" val="1354580109"/>
                  </a:ext>
                </a:extLst>
              </a:tr>
              <a:tr h="144016">
                <a:tc gridSpan="2">
                  <a:txBody>
                    <a:bodyPr/>
                    <a:lstStyle/>
                    <a:p>
                      <a:pPr algn="ctr" rtl="0" fontAlgn="ctr"/>
                      <a:r>
                        <a:rPr lang="fr-FR" sz="8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CES</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hMerge="1">
                  <a:txBody>
                    <a:bodyPr/>
                    <a:lstStyle/>
                    <a:p>
                      <a:endParaRPr lang="fr-FR"/>
                    </a:p>
                  </a:txBody>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defRPr sz="800"/>
                      </a:pP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noFill/>
                  </a:tcPr>
                </a:tc>
                <a:tc>
                  <a:txBody>
                    <a:bodyPr/>
                    <a:lstStyle/>
                    <a:p>
                      <a:pPr>
                        <a:defRPr sz="800"/>
                      </a:pPr>
                      <a:r>
                        <a:rPr sz="800"/>
                        <a:t>0%</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 </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lgn="ctr" fontAlgn="ctr">
                        <a:buNone/>
                      </a:pPr>
                      <a:r>
                        <a:rPr lang="fr-FR" sz="800" b="1" i="0" u="none" strike="noStrike">
                          <a:solidFill>
                            <a:srgbClr val="C00000"/>
                          </a:solidFill>
                          <a:effectLst/>
                          <a:latin typeface="Arial" panose="020B0604020202020204" pitchFamily="34" charset="0"/>
                        </a:rPr>
                        <a:t>-83%</a:t>
                      </a:r>
                    </a:p>
                  </a:txBody>
                  <a:tcPr marL="7620" marR="7620" marT="762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noFill/>
                  </a:tcPr>
                </a:tc>
                <a:tc>
                  <a:txBody>
                    <a:bodyPr/>
                    <a:lstStyle/>
                    <a:p>
                      <a:pPr>
                        <a:defRPr sz="800"/>
                      </a:pPr>
                    </a:p>
                  </a:txBody>
                  <a:tcPr marL="7620" marR="7620" marT="7620" marB="0" anchor="b">
                    <a:lnL w="12700" cap="flat" cmpd="sng" algn="ctr">
                      <a:solidFill>
                        <a:srgbClr val="000000"/>
                      </a:solidFill>
                      <a:prstDash val="solid"/>
                      <a:round/>
                      <a:headEnd type="none" w="med" len="med"/>
                      <a:tailEnd type="none" w="med" len="med"/>
                    </a:lnL>
                    <a:lnR>
                      <a:noFill/>
                    </a:lnR>
                    <a:lnT w="12700" cap="flat" cmpd="sng" algn="ctr">
                      <a:solidFill>
                        <a:srgbClr val="000000"/>
                      </a:solidFill>
                      <a:prstDash val="solid"/>
                      <a:round/>
                      <a:headEnd type="none" w="med" len="med"/>
                      <a:tailEnd type="none" w="med" len="med"/>
                    </a:lnT>
                    <a:lnB>
                      <a:noFill/>
                    </a:lnB>
                    <a:noFill/>
                  </a:tcPr>
                </a:tc>
                <a:extLst>
                  <a:ext uri="{0D108BD9-81ED-4DB2-BD59-A6C34878D82A}">
                    <a16:rowId xmlns:a16="http://schemas.microsoft.com/office/drawing/2014/main" val="885626708"/>
                  </a:ext>
                </a:extLst>
              </a:tr>
            </a:tbl>
          </a:graphicData>
        </a:graphic>
      </p:graphicFrame>
      <p:graphicFrame>
        <p:nvGraphicFramePr>
          <p:cNvPr id="6" name="Tableau 5">
            <a:extLst>
              <a:ext uri="{FF2B5EF4-FFF2-40B4-BE49-F238E27FC236}">
                <a16:creationId xmlns:a16="http://schemas.microsoft.com/office/drawing/2014/main" id="{E80D51FC-03D1-FB47-7E45-05857C233704}"/>
              </a:ext>
            </a:extLst>
          </p:cNvPr>
          <p:cNvGraphicFramePr>
            <a:graphicFrameLocks noGrp="1"/>
          </p:cNvGraphicFramePr>
          <p:nvPr>
            <p:extLst>
              <p:ext uri="{D42A27DB-BD31-4B8C-83A1-F6EECF244321}">
                <p14:modId xmlns:p14="http://schemas.microsoft.com/office/powerpoint/2010/main" val="212267986"/>
              </p:ext>
            </p:extLst>
          </p:nvPr>
        </p:nvGraphicFramePr>
        <p:xfrm>
          <a:off x="8448616" y="1495217"/>
          <a:ext cx="1906966" cy="350520"/>
        </p:xfrm>
        <a:graphic>
          <a:graphicData uri="http://schemas.openxmlformats.org/drawingml/2006/table">
            <a:tbl>
              <a:tblPr/>
              <a:tblGrid>
                <a:gridCol w="953483">
                  <a:extLst>
                    <a:ext uri="{9D8B030D-6E8A-4147-A177-3AD203B41FA5}">
                      <a16:colId xmlns:a16="http://schemas.microsoft.com/office/drawing/2014/main" val="1370947710"/>
                    </a:ext>
                  </a:extLst>
                </a:gridCol>
                <a:gridCol w="953483">
                  <a:extLst>
                    <a:ext uri="{9D8B030D-6E8A-4147-A177-3AD203B41FA5}">
                      <a16:colId xmlns:a16="http://schemas.microsoft.com/office/drawing/2014/main" val="63466843"/>
                    </a:ext>
                  </a:extLst>
                </a:gridCol>
              </a:tblGrid>
              <a:tr h="167615">
                <a:tc>
                  <a:txBody>
                    <a:bodyPr/>
                    <a:lstStyle/>
                    <a:p>
                      <a:pPr>
                        <a:defRPr sz="1400"/>
                      </a:pPr>
                      <a:r>
                        <a:rPr sz="1400"/>
                        <a:t>NPS : 0%</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854195"/>
                  </a:ext>
                </a:extLst>
              </a:tr>
              <a:tr h="13138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100" b="0" i="0" u="none" strike="noStrike" dirty="0">
                          <a:solidFill>
                            <a:schemeClr val="tx1"/>
                          </a:solidFill>
                          <a:effectLst/>
                          <a:latin typeface="Arial" panose="020B0604020202020204" pitchFamily="34" charset="0"/>
                        </a:rPr>
                        <a:t>Appels: 78%</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graphicFrame>
        <p:nvGraphicFramePr>
          <p:cNvPr id="7" name="Tableau 6">
            <a:extLst>
              <a:ext uri="{FF2B5EF4-FFF2-40B4-BE49-F238E27FC236}">
                <a16:creationId xmlns:a16="http://schemas.microsoft.com/office/drawing/2014/main" id="{2445DB68-F85E-E733-7CC4-D7AD935C30BD}"/>
              </a:ext>
            </a:extLst>
          </p:cNvPr>
          <p:cNvGraphicFramePr>
            <a:graphicFrameLocks noGrp="1"/>
          </p:cNvGraphicFramePr>
          <p:nvPr>
            <p:extLst>
              <p:ext uri="{D42A27DB-BD31-4B8C-83A1-F6EECF244321}">
                <p14:modId xmlns:p14="http://schemas.microsoft.com/office/powerpoint/2010/main" val="1316693915"/>
              </p:ext>
            </p:extLst>
          </p:nvPr>
        </p:nvGraphicFramePr>
        <p:xfrm>
          <a:off x="8448616" y="5248787"/>
          <a:ext cx="2099144" cy="395681"/>
        </p:xfrm>
        <a:graphic>
          <a:graphicData uri="http://schemas.openxmlformats.org/drawingml/2006/table">
            <a:tbl>
              <a:tblPr/>
              <a:tblGrid>
                <a:gridCol w="1049572">
                  <a:extLst>
                    <a:ext uri="{9D8B030D-6E8A-4147-A177-3AD203B41FA5}">
                      <a16:colId xmlns:a16="http://schemas.microsoft.com/office/drawing/2014/main" val="1370947710"/>
                    </a:ext>
                  </a:extLst>
                </a:gridCol>
                <a:gridCol w="1049572">
                  <a:extLst>
                    <a:ext uri="{9D8B030D-6E8A-4147-A177-3AD203B41FA5}">
                      <a16:colId xmlns:a16="http://schemas.microsoft.com/office/drawing/2014/main" val="63466843"/>
                    </a:ext>
                  </a:extLst>
                </a:gridCol>
              </a:tblGrid>
              <a:tr h="220421">
                <a:tc>
                  <a:txBody>
                    <a:bodyPr/>
                    <a:lstStyle/>
                    <a:p>
                      <a:pPr>
                        <a:defRPr sz="1400"/>
                      </a:pPr>
                      <a:r>
                        <a:rPr sz="1400"/>
                        <a:t>CSAT : 0%</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854195"/>
                  </a:ext>
                </a:extLst>
              </a:tr>
              <a:tr h="130100">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100" b="0" i="0" u="none" strike="noStrike" dirty="0">
                          <a:solidFill>
                            <a:schemeClr val="tx1"/>
                          </a:solidFill>
                          <a:effectLst/>
                          <a:latin typeface="Arial" panose="020B0604020202020204" pitchFamily="34" charset="0"/>
                        </a:rPr>
                        <a:t>Appels: -85%</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graphicFrame>
        <p:nvGraphicFramePr>
          <p:cNvPr id="8" name="Tableau 7">
            <a:extLst>
              <a:ext uri="{FF2B5EF4-FFF2-40B4-BE49-F238E27FC236}">
                <a16:creationId xmlns:a16="http://schemas.microsoft.com/office/drawing/2014/main" id="{B736A9E2-CBFA-DD3E-CD6F-5815E50042A2}"/>
              </a:ext>
            </a:extLst>
          </p:cNvPr>
          <p:cNvGraphicFramePr>
            <a:graphicFrameLocks noGrp="1"/>
          </p:cNvGraphicFramePr>
          <p:nvPr>
            <p:extLst>
              <p:ext uri="{D42A27DB-BD31-4B8C-83A1-F6EECF244321}">
                <p14:modId xmlns:p14="http://schemas.microsoft.com/office/powerpoint/2010/main" val="1750535170"/>
              </p:ext>
            </p:extLst>
          </p:nvPr>
        </p:nvGraphicFramePr>
        <p:xfrm>
          <a:off x="8513384" y="3598937"/>
          <a:ext cx="2186346" cy="350520"/>
        </p:xfrm>
        <a:graphic>
          <a:graphicData uri="http://schemas.openxmlformats.org/drawingml/2006/table">
            <a:tbl>
              <a:tblPr/>
              <a:tblGrid>
                <a:gridCol w="1093173">
                  <a:extLst>
                    <a:ext uri="{9D8B030D-6E8A-4147-A177-3AD203B41FA5}">
                      <a16:colId xmlns:a16="http://schemas.microsoft.com/office/drawing/2014/main" val="1370947710"/>
                    </a:ext>
                  </a:extLst>
                </a:gridCol>
                <a:gridCol w="1093173">
                  <a:extLst>
                    <a:ext uri="{9D8B030D-6E8A-4147-A177-3AD203B41FA5}">
                      <a16:colId xmlns:a16="http://schemas.microsoft.com/office/drawing/2014/main" val="63466843"/>
                    </a:ext>
                  </a:extLst>
                </a:gridCol>
              </a:tblGrid>
              <a:tr h="167615">
                <a:tc>
                  <a:txBody>
                    <a:bodyPr/>
                    <a:lstStyle/>
                    <a:p>
                      <a:pPr>
                        <a:defRPr sz="1400"/>
                      </a:pPr>
                      <a:r>
                        <a:rPr sz="1400"/>
                        <a:t>CES : 0%</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3854195"/>
                  </a:ext>
                </a:extLst>
              </a:tr>
              <a:tr h="131388">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fr-FR" sz="1100" b="0" i="0" u="none" strike="noStrike" dirty="0">
                          <a:solidFill>
                            <a:schemeClr val="tx1"/>
                          </a:solidFill>
                          <a:effectLst/>
                          <a:latin typeface="Arial" panose="020B0604020202020204" pitchFamily="34" charset="0"/>
                        </a:rPr>
                        <a:t>Appels: 89%</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tc>
                  <a:txBody>
                    <a:bodyPr/>
                    <a:lstStyle/>
                    <a:p>
                      <a:pPr algn="ctr" fontAlgn="ctr"/>
                      <a:endParaRPr lang="fr-FR" sz="1100" b="0" i="0" u="none" strike="noStrike" dirty="0">
                        <a:solidFill>
                          <a:schemeClr val="tx1"/>
                        </a:solidFill>
                        <a:effectLst/>
                        <a:latin typeface="Arial" panose="020B0604020202020204" pitchFamily="34" charset="0"/>
                      </a:endParaRP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graphicFrame>
        <p:nvGraphicFramePr>
          <p:cNvPr id="13" name="Tableau 12">
            <a:extLst>
              <a:ext uri="{FF2B5EF4-FFF2-40B4-BE49-F238E27FC236}">
                <a16:creationId xmlns:a16="http://schemas.microsoft.com/office/drawing/2014/main" id="{8385ADBF-AE1D-125A-A597-D8620B05EDA3}"/>
              </a:ext>
            </a:extLst>
          </p:cNvPr>
          <p:cNvGraphicFramePr>
            <a:graphicFrameLocks noGrp="1"/>
          </p:cNvGraphicFramePr>
          <p:nvPr>
            <p:extLst>
              <p:ext uri="{D42A27DB-BD31-4B8C-83A1-F6EECF244321}">
                <p14:modId xmlns:p14="http://schemas.microsoft.com/office/powerpoint/2010/main" val="997007191"/>
              </p:ext>
            </p:extLst>
          </p:nvPr>
        </p:nvGraphicFramePr>
        <p:xfrm>
          <a:off x="8448616" y="1107580"/>
          <a:ext cx="1562836" cy="350521"/>
        </p:xfrm>
        <a:graphic>
          <a:graphicData uri="http://schemas.openxmlformats.org/drawingml/2006/table">
            <a:tbl>
              <a:tblPr/>
              <a:tblGrid>
                <a:gridCol w="1562836">
                  <a:extLst>
                    <a:ext uri="{9D8B030D-6E8A-4147-A177-3AD203B41FA5}">
                      <a16:colId xmlns:a16="http://schemas.microsoft.com/office/drawing/2014/main" val="2360126470"/>
                    </a:ext>
                  </a:extLst>
                </a:gridCol>
              </a:tblGrid>
              <a:tr h="350521">
                <a:tc>
                  <a:txBody>
                    <a:bodyPr/>
                    <a:lstStyle/>
                    <a:p>
                      <a:pPr algn="ctr" fontAlgn="b"/>
                      <a:r>
                        <a:rPr lang="fr-FR" sz="16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NPS : 81%</a:t>
                      </a:r>
                      <a:r>
                        <a:rPr lang="fr-FR" sz="1600" b="1" i="0" u="none" strike="noStrike" dirty="0">
                          <a:solidFill>
                            <a:srgbClr val="FFFFFF"/>
                          </a:solidFill>
                          <a:effectLst/>
                          <a:latin typeface="Arial" panose="020B0604020202020204" pitchFamily="34" charset="0"/>
                        </a:rPr>
                        <a:t>%</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graphicFrame>
        <p:nvGraphicFramePr>
          <p:cNvPr id="14" name="Tableau 13">
            <a:extLst>
              <a:ext uri="{FF2B5EF4-FFF2-40B4-BE49-F238E27FC236}">
                <a16:creationId xmlns:a16="http://schemas.microsoft.com/office/drawing/2014/main" id="{163B4BED-677C-3F2D-D537-7F2075C8BAC2}"/>
              </a:ext>
            </a:extLst>
          </p:cNvPr>
          <p:cNvGraphicFramePr>
            <a:graphicFrameLocks noGrp="1"/>
          </p:cNvGraphicFramePr>
          <p:nvPr>
            <p:extLst>
              <p:ext uri="{D42A27DB-BD31-4B8C-83A1-F6EECF244321}">
                <p14:modId xmlns:p14="http://schemas.microsoft.com/office/powerpoint/2010/main" val="562717407"/>
              </p:ext>
            </p:extLst>
          </p:nvPr>
        </p:nvGraphicFramePr>
        <p:xfrm>
          <a:off x="8513384" y="3198707"/>
          <a:ext cx="1562836" cy="350521"/>
        </p:xfrm>
        <a:graphic>
          <a:graphicData uri="http://schemas.openxmlformats.org/drawingml/2006/table">
            <a:tbl>
              <a:tblPr/>
              <a:tblGrid>
                <a:gridCol w="1562836">
                  <a:extLst>
                    <a:ext uri="{9D8B030D-6E8A-4147-A177-3AD203B41FA5}">
                      <a16:colId xmlns:a16="http://schemas.microsoft.com/office/drawing/2014/main" val="2360126470"/>
                    </a:ext>
                  </a:extLst>
                </a:gridCol>
              </a:tblGrid>
              <a:tr h="350521">
                <a:tc>
                  <a:txBody>
                    <a:bodyPr/>
                    <a:lstStyle/>
                    <a:p>
                      <a:pPr algn="ctr" fontAlgn="b"/>
                      <a:r>
                        <a:rPr lang="fr-FR" sz="16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CSAT : 92%</a:t>
                      </a:r>
                      <a:r>
                        <a:rPr lang="fr-FR" sz="1600" b="1" i="0" u="none" strike="noStrike" dirty="0">
                          <a:solidFill>
                            <a:srgbClr val="FFFFFF"/>
                          </a:solidFill>
                          <a:effectLst/>
                          <a:latin typeface="Arial" panose="020B0604020202020204" pitchFamily="34" charset="0"/>
                        </a:rPr>
                        <a:t>%</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graphicFrame>
        <p:nvGraphicFramePr>
          <p:cNvPr id="15" name="Tableau 14">
            <a:extLst>
              <a:ext uri="{FF2B5EF4-FFF2-40B4-BE49-F238E27FC236}">
                <a16:creationId xmlns:a16="http://schemas.microsoft.com/office/drawing/2014/main" id="{BA5B5122-EBE9-56E7-97D3-3E5674EB05DE}"/>
              </a:ext>
            </a:extLst>
          </p:cNvPr>
          <p:cNvGraphicFramePr>
            <a:graphicFrameLocks noGrp="1"/>
          </p:cNvGraphicFramePr>
          <p:nvPr>
            <p:extLst>
              <p:ext uri="{D42A27DB-BD31-4B8C-83A1-F6EECF244321}">
                <p14:modId xmlns:p14="http://schemas.microsoft.com/office/powerpoint/2010/main" val="601822124"/>
              </p:ext>
            </p:extLst>
          </p:nvPr>
        </p:nvGraphicFramePr>
        <p:xfrm>
          <a:off x="8481000" y="4808017"/>
          <a:ext cx="1498068" cy="350521"/>
        </p:xfrm>
        <a:graphic>
          <a:graphicData uri="http://schemas.openxmlformats.org/drawingml/2006/table">
            <a:tbl>
              <a:tblPr/>
              <a:tblGrid>
                <a:gridCol w="1498068">
                  <a:extLst>
                    <a:ext uri="{9D8B030D-6E8A-4147-A177-3AD203B41FA5}">
                      <a16:colId xmlns:a16="http://schemas.microsoft.com/office/drawing/2014/main" val="2360126470"/>
                    </a:ext>
                  </a:extLst>
                </a:gridCol>
              </a:tblGrid>
              <a:tr h="350521">
                <a:tc>
                  <a:txBody>
                    <a:bodyPr/>
                    <a:lstStyle/>
                    <a:p>
                      <a:pPr algn="ctr" fontAlgn="b"/>
                      <a:r>
                        <a:rPr lang="fr-FR" sz="1600" b="1" i="0" u="none" strike="noStrike" dirty="0">
                          <a:solidFill>
                            <a:srgbClr val="C00000"/>
                          </a:solidFill>
                          <a:effectLst>
                            <a:outerShdw blurRad="38100" dist="38100" dir="2700000" algn="tl">
                              <a:srgbClr val="000000">
                                <a:alpha val="43137"/>
                              </a:srgbClr>
                            </a:outerShdw>
                          </a:effectLst>
                          <a:latin typeface="Arial" panose="020B0604020202020204" pitchFamily="34" charset="0"/>
                        </a:rPr>
                        <a:t>CES : -80%</a:t>
                      </a:r>
                      <a:r>
                        <a:rPr lang="fr-FR" sz="1600" b="1" i="0" u="none" strike="noStrike" dirty="0">
                          <a:solidFill>
                            <a:srgbClr val="FFFFFF"/>
                          </a:solidFill>
                          <a:effectLst/>
                          <a:latin typeface="Arial" panose="020B0604020202020204" pitchFamily="34" charset="0"/>
                        </a:rPr>
                        <a:t>%</a:t>
                      </a:r>
                    </a:p>
                  </a:txBody>
                  <a:tcPr marL="7620" marR="7620" marT="7620" marB="0" anchor="ctr">
                    <a:lnL w="6350" cap="flat" cmpd="sng" algn="ctr">
                      <a:noFill/>
                      <a:prstDash val="lgDashDotDot"/>
                      <a:round/>
                      <a:headEnd type="none" w="med" len="med"/>
                      <a:tailEnd type="none" w="med" len="med"/>
                    </a:lnL>
                    <a:lnR w="6350" cap="flat" cmpd="sng" algn="ctr">
                      <a:noFill/>
                      <a:prstDash val="lgDashDotDot"/>
                      <a:round/>
                      <a:headEnd type="none" w="med" len="med"/>
                      <a:tailEnd type="none" w="med" len="med"/>
                    </a:lnR>
                    <a:lnT w="6350" cap="flat" cmpd="sng" algn="ctr">
                      <a:noFill/>
                      <a:prstDash val="lgDashDotDot"/>
                      <a:round/>
                      <a:headEnd type="none" w="med" len="med"/>
                      <a:tailEnd type="none" w="med" len="med"/>
                    </a:lnT>
                    <a:lnB w="6350" cap="flat" cmpd="sng" algn="ctr">
                      <a:noFill/>
                      <a:prstDash val="lgDashDotDot"/>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11791066"/>
                  </a:ext>
                </a:extLst>
              </a:tr>
            </a:tbl>
          </a:graphicData>
        </a:graphic>
      </p:graphicFrame>
    </p:spTree>
    <p:extLst>
      <p:ext uri="{BB962C8B-B14F-4D97-AF65-F5344CB8AC3E}">
        <p14:creationId xmlns:p14="http://schemas.microsoft.com/office/powerpoint/2010/main" val="23254597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83BF4-E1DD-75B2-08E5-3F341E0CF90D}"/>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D5D536A-F1B6-B62D-F32B-F96BA340AA24}"/>
              </a:ext>
            </a:extLst>
          </p:cNvPr>
          <p:cNvSpPr txBox="1">
            <a:spLocks/>
          </p:cNvSpPr>
          <p:nvPr/>
        </p:nvSpPr>
        <p:spPr>
          <a:xfrm>
            <a:off x="1032388" y="188008"/>
            <a:ext cx="10903974" cy="708103"/>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fr-FR" sz="360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2.3. Résultats Périmètre VIE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3600" dirty="0">
                <a:solidFill>
                  <a:schemeClr val="bg1"/>
                </a:solidFill>
                <a:latin typeface="Arial" panose="020B0604020202020204" pitchFamily="34" charset="0"/>
                <a:cs typeface="Arial" panose="020B0604020202020204" pitchFamily="34" charset="0"/>
              </a:rPr>
              <a:t>-</a:t>
            </a:r>
          </a:p>
        </p:txBody>
      </p:sp>
      <p:sp>
        <p:nvSpPr>
          <p:cNvPr id="3" name="ZoneTexte 2">
            <a:extLst>
              <a:ext uri="{FF2B5EF4-FFF2-40B4-BE49-F238E27FC236}">
                <a16:creationId xmlns:a16="http://schemas.microsoft.com/office/drawing/2014/main" id="{830D87C2-46C5-BEA4-5078-630E7D317049}"/>
              </a:ext>
            </a:extLst>
          </p:cNvPr>
          <p:cNvSpPr txBox="1"/>
          <p:nvPr/>
        </p:nvSpPr>
        <p:spPr>
          <a:xfrm>
            <a:off x="4286865" y="5094168"/>
            <a:ext cx="3656707" cy="830997"/>
          </a:xfrm>
          <a:prstGeom prst="rect">
            <a:avLst/>
          </a:prstGeom>
          <a:noFill/>
        </p:spPr>
        <p:txBody>
          <a:bodyPr wrap="square" rtlCol="0">
            <a:spAutoFit/>
          </a:bodyPr>
          <a:lstStyle/>
          <a:p>
            <a:pPr algn="just">
              <a:defRPr/>
            </a:pPr>
            <a:r>
              <a:rPr lang="fr-CI" sz="1200" b="1" dirty="0">
                <a:solidFill>
                  <a:srgbClr val="C00000"/>
                </a:solidFill>
                <a:effectLst>
                  <a:outerShdw blurRad="38100" dist="38100" dir="2700000" algn="tl">
                    <a:srgbClr val="000000">
                      <a:alpha val="43137"/>
                    </a:srgbClr>
                  </a:outerShdw>
                </a:effectLst>
                <a:latin typeface="Arial"/>
              </a:rPr>
              <a:t>0% des clients interrogés sont satisfaits du traitement de leurs requêtes contre 100.0% d'insatisfaits</a:t>
            </a:r>
            <a:r>
              <a:rPr lang="fr-CI" sz="1200" dirty="0">
                <a:solidFill>
                  <a:srgbClr val="C00000"/>
                </a:solidFill>
                <a:latin typeface="Arial"/>
              </a:rPr>
              <a:t/>
            </a:r>
            <a:r>
              <a:rPr lang="fr-CI" sz="1200" dirty="0">
                <a:solidFill>
                  <a:prstClr val="black"/>
                </a:solidFill>
                <a:latin typeface="Arial"/>
              </a:rPr>
              <a:t/>
            </a:r>
          </a:p>
          <a:p>
            <a:pPr algn="just">
              <a:defRPr/>
            </a:pPr>
            <a:r>
              <a:rPr lang="fr-CI" sz="1200" b="1" dirty="0">
                <a:solidFill>
                  <a:srgbClr val="C00000"/>
                </a:solidFill>
                <a:effectLst>
                  <a:outerShdw blurRad="38100" dist="38100" dir="2700000" algn="tl">
                    <a:srgbClr val="000000">
                      <a:alpha val="43137"/>
                    </a:srgbClr>
                  </a:outerShdw>
                </a:effectLst>
                <a:latin typeface="Arial"/>
              </a:rPr>
              <a:t/>
            </a:r>
            <a:r>
              <a:rPr lang="fr-CI" sz="1200" b="1" dirty="0">
                <a:solidFill>
                  <a:prstClr val="black"/>
                </a:solidFill>
                <a:latin typeface="Arial"/>
              </a:rPr>
              <a:t/>
            </a:r>
            <a:r>
              <a:rPr lang="fr-CI" sz="1200" dirty="0">
                <a:solidFill>
                  <a:prstClr val="black"/>
                </a:solidFill>
                <a:latin typeface="Arial"/>
              </a:rPr>
              <a:t/>
            </a:r>
          </a:p>
          <a:p>
            <a:pPr algn="just">
              <a:defRPr/>
            </a:pPr>
            <a:endParaRPr lang="fr-CI" sz="1200" b="1" i="1" dirty="0">
              <a:solidFill>
                <a:srgbClr val="C00000"/>
              </a:solidFill>
              <a:latin typeface="Arial"/>
            </a:endParaRPr>
          </a:p>
        </p:txBody>
      </p:sp>
      <p:sp>
        <p:nvSpPr>
          <p:cNvPr id="4" name="ZoneTexte 3">
            <a:extLst>
              <a:ext uri="{FF2B5EF4-FFF2-40B4-BE49-F238E27FC236}">
                <a16:creationId xmlns:a16="http://schemas.microsoft.com/office/drawing/2014/main" id="{7D41E046-87E9-4D48-BA10-542EC0630B83}"/>
              </a:ext>
            </a:extLst>
          </p:cNvPr>
          <p:cNvSpPr txBox="1"/>
          <p:nvPr/>
        </p:nvSpPr>
        <p:spPr>
          <a:xfrm>
            <a:off x="111881" y="1125880"/>
            <a:ext cx="3513044" cy="615553"/>
          </a:xfrm>
          <a:prstGeom prst="rect">
            <a:avLst/>
          </a:prstGeom>
          <a:noFill/>
          <a:ln>
            <a:noFill/>
          </a:ln>
        </p:spPr>
        <p:txBody>
          <a:bodyPr wrap="square" rtlCol="0">
            <a:spAutoFit/>
          </a:bodyPr>
          <a:lstStyle/>
          <a:p>
            <a:pPr algn="ctr">
              <a:defRPr/>
            </a:pPr>
            <a:r>
              <a:rPr lang="fr-FR" sz="1600" b="1" u="sng" dirty="0">
                <a:solidFill>
                  <a:prstClr val="black"/>
                </a:solidFill>
                <a:latin typeface="Arial" panose="020B0604020202020204" pitchFamily="34" charset="0"/>
                <a:cs typeface="Arial" panose="020B0604020202020204" pitchFamily="34" charset="0"/>
              </a:rPr>
              <a:t>Clients ayant participé le sondage </a:t>
            </a:r>
          </a:p>
          <a:p>
            <a:pPr>
              <a:defRPr/>
            </a:pPr>
            <a:endParaRPr lang="fr-FR" b="1" u="sng" dirty="0">
              <a:solidFill>
                <a:srgbClr val="C00000"/>
              </a:solidFill>
              <a:latin typeface="Arial" panose="020B0604020202020204" pitchFamily="34" charset="0"/>
              <a:cs typeface="Arial" panose="020B0604020202020204" pitchFamily="34" charset="0"/>
            </a:endParaRPr>
          </a:p>
        </p:txBody>
      </p:sp>
      <p:graphicFrame>
        <p:nvGraphicFramePr>
          <p:cNvPr id="5" name="Tableau 4">
            <a:extLst>
              <a:ext uri="{FF2B5EF4-FFF2-40B4-BE49-F238E27FC236}">
                <a16:creationId xmlns:a16="http://schemas.microsoft.com/office/drawing/2014/main" id="{318167F9-8079-6BA4-47F4-C8EE40846778}"/>
              </a:ext>
            </a:extLst>
          </p:cNvPr>
          <p:cNvGraphicFramePr>
            <a:graphicFrameLocks noGrp="1"/>
          </p:cNvGraphicFramePr>
          <p:nvPr>
            <p:extLst>
              <p:ext uri="{D42A27DB-BD31-4B8C-83A1-F6EECF244321}">
                <p14:modId xmlns:p14="http://schemas.microsoft.com/office/powerpoint/2010/main" val="1768856099"/>
              </p:ext>
            </p:extLst>
          </p:nvPr>
        </p:nvGraphicFramePr>
        <p:xfrm>
          <a:off x="136282" y="1506826"/>
          <a:ext cx="3488643" cy="311216"/>
        </p:xfrm>
        <a:graphic>
          <a:graphicData uri="http://schemas.openxmlformats.org/drawingml/2006/table">
            <a:tbl>
              <a:tblPr/>
              <a:tblGrid>
                <a:gridCol w="1428683">
                  <a:extLst>
                    <a:ext uri="{9D8B030D-6E8A-4147-A177-3AD203B41FA5}">
                      <a16:colId xmlns:a16="http://schemas.microsoft.com/office/drawing/2014/main" val="3950295724"/>
                    </a:ext>
                  </a:extLst>
                </a:gridCol>
                <a:gridCol w="1029980">
                  <a:extLst>
                    <a:ext uri="{9D8B030D-6E8A-4147-A177-3AD203B41FA5}">
                      <a16:colId xmlns:a16="http://schemas.microsoft.com/office/drawing/2014/main" val="799972902"/>
                    </a:ext>
                  </a:extLst>
                </a:gridCol>
                <a:gridCol w="1029980">
                  <a:extLst>
                    <a:ext uri="{9D8B030D-6E8A-4147-A177-3AD203B41FA5}">
                      <a16:colId xmlns:a16="http://schemas.microsoft.com/office/drawing/2014/main" val="2866897064"/>
                    </a:ext>
                  </a:extLst>
                </a:gridCol>
              </a:tblGrid>
              <a:tr h="311216">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Total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80335216"/>
                  </a:ext>
                </a:extLst>
              </a:tr>
            </a:tbl>
          </a:graphicData>
        </a:graphic>
      </p:graphicFrame>
      <p:sp>
        <p:nvSpPr>
          <p:cNvPr id="6" name="ZoneTexte 5">
            <a:extLst>
              <a:ext uri="{FF2B5EF4-FFF2-40B4-BE49-F238E27FC236}">
                <a16:creationId xmlns:a16="http://schemas.microsoft.com/office/drawing/2014/main" id="{70F1B3B5-E066-C0FB-1B5C-205B08A157D0}"/>
              </a:ext>
            </a:extLst>
          </p:cNvPr>
          <p:cNvSpPr txBox="1"/>
          <p:nvPr/>
        </p:nvSpPr>
        <p:spPr>
          <a:xfrm>
            <a:off x="111881" y="5925165"/>
            <a:ext cx="3513044" cy="830997"/>
          </a:xfrm>
          <a:prstGeom prst="rect">
            <a:avLst/>
          </a:prstGeom>
          <a:noFill/>
        </p:spPr>
        <p:txBody>
          <a:bodyPr wrap="square" rtlCol="0">
            <a:spAutoFit/>
          </a:bodyPr>
          <a:lstStyle/>
          <a:p>
            <a:pPr algn="just">
              <a:defRPr/>
            </a:pPr>
            <a:r>
              <a:rPr lang="fr-CI" sz="1200" b="1" dirty="0">
                <a:solidFill>
                  <a:srgbClr val="C00000"/>
                </a:solidFill>
                <a:effectLst>
                  <a:outerShdw blurRad="38100" dist="38100" dir="2700000" algn="tl">
                    <a:srgbClr val="000000">
                      <a:alpha val="43137"/>
                    </a:srgbClr>
                  </a:outerShdw>
                </a:effectLst>
                <a:latin typeface="Arial"/>
              </a:rPr>
              <a:t>0% des clients interrogés estiment avoir fourni un faible effort pour avoir accès à l'information recherchée au niveau de la VIE</a:t>
            </a:r>
            <a:r>
              <a:rPr lang="fr-CI" sz="1200" b="1" dirty="0">
                <a:solidFill>
                  <a:prstClr val="black"/>
                </a:solidFill>
                <a:latin typeface="Arial"/>
              </a:rPr>
              <a:t/>
            </a:r>
            <a:r>
              <a:rPr lang="fr-CI" sz="1200" dirty="0">
                <a:solidFill>
                  <a:prstClr val="black"/>
                </a:solidFill>
                <a:latin typeface="Arial"/>
              </a:rPr>
              <a:t/>
            </a:r>
          </a:p>
          <a:p>
            <a:pPr algn="just">
              <a:defRPr/>
            </a:pPr>
            <a:r>
              <a:rPr lang="fr-CI" sz="1200" b="1" dirty="0">
                <a:solidFill>
                  <a:srgbClr val="C00000"/>
                </a:solidFill>
                <a:effectLst>
                  <a:outerShdw blurRad="38100" dist="38100" dir="2700000" algn="tl">
                    <a:srgbClr val="000000">
                      <a:alpha val="43137"/>
                    </a:srgbClr>
                  </a:outerShdw>
                </a:effectLst>
                <a:latin typeface="Arial"/>
              </a:rPr>
              <a:t/>
            </a:r>
            <a:r>
              <a:rPr lang="fr-CI" sz="1200" b="1" dirty="0">
                <a:solidFill>
                  <a:prstClr val="black"/>
                </a:solidFill>
                <a:latin typeface="Arial"/>
              </a:rPr>
              <a:t/>
            </a:r>
            <a:r>
              <a:rPr lang="fr-CI" sz="1200" dirty="0">
                <a:solidFill>
                  <a:prstClr val="black"/>
                </a:solidFill>
                <a:latin typeface="Arial"/>
              </a:rPr>
              <a:t/>
            </a: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p>
        </p:txBody>
      </p:sp>
      <p:sp>
        <p:nvSpPr>
          <p:cNvPr id="7" name="ZoneTexte 6">
            <a:extLst>
              <a:ext uri="{FF2B5EF4-FFF2-40B4-BE49-F238E27FC236}">
                <a16:creationId xmlns:a16="http://schemas.microsoft.com/office/drawing/2014/main" id="{8126D804-049B-BD6A-B006-30DD8B4792E0}"/>
              </a:ext>
            </a:extLst>
          </p:cNvPr>
          <p:cNvSpPr txBox="1"/>
          <p:nvPr/>
        </p:nvSpPr>
        <p:spPr>
          <a:xfrm>
            <a:off x="8298427" y="4827638"/>
            <a:ext cx="3781692" cy="1200329"/>
          </a:xfrm>
          <a:prstGeom prst="rect">
            <a:avLst/>
          </a:prstGeom>
          <a:noFill/>
        </p:spPr>
        <p:txBody>
          <a:bodyPr wrap="square" rtlCol="0">
            <a:spAutoFit/>
          </a:bodyPr>
          <a:lstStyle/>
          <a:p>
            <a:pPr algn="just">
              <a:defRPr/>
            </a:pPr>
            <a:r>
              <a:rPr lang="fr-CI" sz="1200" dirty="0">
                <a:solidFill>
                  <a:prstClr val="black"/>
                </a:solidFill>
                <a:latin typeface="Arial"/>
              </a:rPr>
              <a:t>A la question de savoir, quelle est la probabilité pour vous de recommander SUNU Assurances comme assureur à vos proches, amis et connaissances ? avec un NPS de 0%, les clients sondés restent globalement favorables à SUNU Assurances, mais la proportion de détracteurs reste à surveiller</a:t>
            </a:r>
            <a:r>
              <a:rPr lang="fr-FR" sz="1200" dirty="0">
                <a:solidFill>
                  <a:prstClr val="black"/>
                </a:solidFill>
                <a:latin typeface="Arial"/>
              </a:rPr>
              <a:t/>
            </a:r>
            <a:r>
              <a:rPr lang="fr-FR" sz="1200" b="1" dirty="0">
                <a:solidFill>
                  <a:srgbClr val="C00000"/>
                </a:solidFill>
                <a:effectLst>
                  <a:outerShdw blurRad="38100" dist="38100" dir="2700000" algn="tl">
                    <a:srgbClr val="000000">
                      <a:alpha val="43137"/>
                    </a:srgbClr>
                  </a:outerShdw>
                </a:effectLst>
                <a:latin typeface="Arial"/>
              </a:rPr>
              <a:t/>
            </a:r>
            <a:r>
              <a:rPr lang="fr-FR" sz="1200" dirty="0">
                <a:solidFill>
                  <a:srgbClr val="C00000"/>
                </a:solidFill>
                <a:latin typeface="Arial"/>
              </a:rPr>
              <a:t/>
            </a:r>
            <a:r>
              <a:rPr lang="fr-FR" sz="1200" dirty="0">
                <a:solidFill>
                  <a:prstClr val="black"/>
                </a:solidFill>
                <a:latin typeface="Arial"/>
              </a:rPr>
              <a:t/>
            </a:r>
            <a:r>
              <a:rPr lang="fr-CI" sz="1200" dirty="0">
                <a:solidFill>
                  <a:prstClr val="black"/>
                </a:solidFill>
                <a:latin typeface="Arial"/>
              </a:rPr>
              <a:t/>
            </a: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p>
        </p:txBody>
      </p:sp>
      <p:sp>
        <p:nvSpPr>
          <p:cNvPr id="8" name="ZoneTexte 7">
            <a:extLst>
              <a:ext uri="{FF2B5EF4-FFF2-40B4-BE49-F238E27FC236}">
                <a16:creationId xmlns:a16="http://schemas.microsoft.com/office/drawing/2014/main" id="{F8AC19CF-EFBD-59BF-DEC2-8A8CAC0A1C90}"/>
              </a:ext>
            </a:extLst>
          </p:cNvPr>
          <p:cNvSpPr txBox="1"/>
          <p:nvPr/>
        </p:nvSpPr>
        <p:spPr>
          <a:xfrm>
            <a:off x="4081943" y="6009855"/>
            <a:ext cx="7775759" cy="830997"/>
          </a:xfrm>
          <a:prstGeom prst="rect">
            <a:avLst/>
          </a:prstGeom>
          <a:noFill/>
          <a:ln w="28575">
            <a:solidFill>
              <a:srgbClr val="C00000"/>
            </a:solidFill>
          </a:ln>
        </p:spPr>
        <p:txBody>
          <a:bodyPr wrap="square" rtlCol="0">
            <a:spAutoFit/>
          </a:bodyPr>
          <a:lstStyle/>
          <a:p>
            <a:pPr algn="ctr">
              <a:defRPr/>
            </a:pPr>
            <a:r>
              <a:rPr lang="fr-CI" sz="1200" b="1" u="sng" dirty="0">
                <a:solidFill>
                  <a:prstClr val="black"/>
                </a:solidFill>
                <a:latin typeface="Arial"/>
              </a:rPr>
              <a:t>Conclusion :
Les indicateurs CES et CSAT révèlent une fragilité de la satisfaction client sur le périmètre VIE. Une action correctrice prioritaire est recommandée afin de limiter le risque de détérioration de la relation client.</a:t>
            </a:r>
            <a:r>
              <a:rPr lang="fr-CI" sz="1200" b="1" dirty="0">
                <a:solidFill>
                  <a:prstClr val="black"/>
                </a:solidFill>
                <a:latin typeface="Arial"/>
              </a:rPr>
              <a:t/>
            </a:r>
          </a:p>
          <a:p>
            <a:pPr algn="ctr">
              <a:defRPr/>
            </a:pPr>
            <a:r>
              <a:rPr lang="fr-CI" sz="1200" b="1" dirty="0">
                <a:solidFill>
                  <a:prstClr val="black"/>
                </a:solidFill>
                <a:latin typeface="Arial"/>
              </a:rPr>
              <a:t/>
            </a:r>
            <a:r>
              <a:rPr lang="fr-FR" sz="1200" b="1" dirty="0">
                <a:solidFill>
                  <a:prstClr val="black"/>
                </a:solidFill>
                <a:latin typeface="Arial"/>
              </a:rPr>
              <a:t/>
            </a:r>
            <a:endParaRPr lang="fr-CI" sz="1200" b="1" dirty="0">
              <a:solidFill>
                <a:prstClr val="black"/>
              </a:solidFill>
              <a:latin typeface="Arial"/>
            </a:endParaRPr>
          </a:p>
        </p:txBody>
      </p:sp>
      <p:graphicFrame>
        <p:nvGraphicFramePr>
          <p:cNvPr id="9" name="Graphique 8">
            <a:extLst>
              <a:ext uri="{FF2B5EF4-FFF2-40B4-BE49-F238E27FC236}">
                <a16:creationId xmlns:a16="http://schemas.microsoft.com/office/drawing/2014/main" id="{3CE6DC59-3CCF-4D2C-8A4D-4E18F22A0C21}"/>
              </a:ext>
            </a:extLst>
          </p:cNvPr>
          <p:cNvGraphicFramePr>
            <a:graphicFrameLocks/>
          </p:cNvGraphicFramePr>
          <p:nvPr>
            <p:extLst>
              <p:ext uri="{D42A27DB-BD31-4B8C-83A1-F6EECF244321}">
                <p14:modId xmlns:p14="http://schemas.microsoft.com/office/powerpoint/2010/main" val="2806037167"/>
              </p:ext>
            </p:extLst>
          </p:nvPr>
        </p:nvGraphicFramePr>
        <p:xfrm>
          <a:off x="8360919" y="1125880"/>
          <a:ext cx="3656708" cy="370175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0" name="Graphique 9">
            <a:extLst>
              <a:ext uri="{FF2B5EF4-FFF2-40B4-BE49-F238E27FC236}">
                <a16:creationId xmlns:a16="http://schemas.microsoft.com/office/drawing/2014/main" id="{221017E1-A01F-468C-B820-0DF4C0C1973F}"/>
              </a:ext>
            </a:extLst>
          </p:cNvPr>
          <p:cNvGraphicFramePr>
            <a:graphicFrameLocks/>
          </p:cNvGraphicFramePr>
          <p:nvPr>
            <p:extLst>
              <p:ext uri="{D42A27DB-BD31-4B8C-83A1-F6EECF244321}">
                <p14:modId xmlns:p14="http://schemas.microsoft.com/office/powerpoint/2010/main" val="1054082364"/>
              </p:ext>
            </p:extLst>
          </p:nvPr>
        </p:nvGraphicFramePr>
        <p:xfrm>
          <a:off x="122033" y="1971202"/>
          <a:ext cx="3488642" cy="3682346"/>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Graphique 12">
            <a:extLst>
              <a:ext uri="{FF2B5EF4-FFF2-40B4-BE49-F238E27FC236}">
                <a16:creationId xmlns:a16="http://schemas.microsoft.com/office/drawing/2014/main" id="{DBDA6D3E-D1BE-430A-9F47-BEFF38FC4E97}"/>
              </a:ext>
            </a:extLst>
          </p:cNvPr>
          <p:cNvGraphicFramePr>
            <a:graphicFrameLocks/>
          </p:cNvGraphicFramePr>
          <p:nvPr>
            <p:extLst>
              <p:ext uri="{D42A27DB-BD31-4B8C-83A1-F6EECF244321}">
                <p14:modId xmlns:p14="http://schemas.microsoft.com/office/powerpoint/2010/main" val="4046065997"/>
              </p:ext>
            </p:extLst>
          </p:nvPr>
        </p:nvGraphicFramePr>
        <p:xfrm>
          <a:off x="3996776" y="1140463"/>
          <a:ext cx="3978042" cy="3701758"/>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3165714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2EAEB-DE28-6084-0E71-6545197FDDF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829B1C5-94D8-5EB0-ACD0-BA25A83E3EA5}"/>
              </a:ext>
            </a:extLst>
          </p:cNvPr>
          <p:cNvSpPr txBox="1">
            <a:spLocks/>
          </p:cNvSpPr>
          <p:nvPr/>
        </p:nvSpPr>
        <p:spPr>
          <a:xfrm>
            <a:off x="1032388" y="188008"/>
            <a:ext cx="10903974" cy="708103"/>
          </a:xfrm>
          <a:prstGeom prst="rect">
            <a:avLst/>
          </a:prstGeom>
          <a:noFill/>
          <a:ln w="12700" cap="flat" cmpd="sng" algn="ctr">
            <a:noFill/>
            <a:prstDash val="solid"/>
            <a:miter lim="800000"/>
          </a:ln>
        </p:spPr>
        <p:style>
          <a:lnRef idx="2">
            <a:schemeClr val="accent2">
              <a:shade val="50000"/>
            </a:schemeClr>
          </a:lnRef>
          <a:fillRef idx="1">
            <a:schemeClr val="accent2"/>
          </a:fillRef>
          <a:effectRef idx="0">
            <a:schemeClr val="accent2"/>
          </a:effectRef>
          <a:fontRef idx="none"/>
        </p:style>
        <p:txBody>
          <a:bodyPr>
            <a:noAutofit/>
          </a:bodyPr>
          <a:lstStyle>
            <a:lvl1pPr algn="ctr" defTabSz="914400" rtl="0" eaLnBrk="1" latinLnBrk="0" hangingPunct="1">
              <a:lnSpc>
                <a:spcPct val="90000"/>
              </a:lnSpc>
              <a:spcBef>
                <a:spcPct val="0"/>
              </a:spcBef>
              <a:buNone/>
              <a:defRPr sz="3200" kern="1200" baseline="0">
                <a:solidFill>
                  <a:srgbClr val="C6183D"/>
                </a:solidFill>
                <a:latin typeface="+mj-lt"/>
                <a:ea typeface="+mj-ea"/>
                <a:cs typeface="+mj-cs"/>
              </a:defRPr>
            </a:lvl1pPr>
            <a:lvl2pPr>
              <a:defRPr/>
            </a:lvl2pPr>
            <a:lvl3pPr>
              <a:defRPr/>
            </a:lvl3pPr>
            <a:lvl4pPr>
              <a:defRPr/>
            </a:lvl4pPr>
            <a:lvl5pPr>
              <a:defRPr/>
            </a:lvl5pPr>
            <a:lvl6pPr>
              <a:defRPr/>
            </a:lvl6pPr>
            <a:lvl7pPr>
              <a:defRPr/>
            </a:lvl7pPr>
            <a:lvl8pPr>
              <a:defRPr/>
            </a:lvl8pPr>
            <a:lvl9pPr>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fr-FR" sz="3600" dirty="0">
                <a:solidFill>
                  <a:schemeClr val="bg1"/>
                </a:solidFill>
                <a:effectLst>
                  <a:outerShdw blurRad="38100" dist="38100" dir="2700000" algn="tl">
                    <a:srgbClr val="000000">
                      <a:alpha val="43137"/>
                    </a:srgbClr>
                  </a:outerShdw>
                </a:effectLst>
                <a:latin typeface="Arial" panose="020B0604020202020204" pitchFamily="34" charset="0"/>
                <a:cs typeface="Arial" panose="020B0604020202020204" pitchFamily="34" charset="0"/>
              </a:rPr>
              <a:t>2.4. Résultats Périmètre IARD </a:t>
            </a:r>
          </a:p>
          <a:p>
            <a:pPr marL="0" marR="0" lvl="0" indent="0" algn="ctr" defTabSz="914400" rtl="0" eaLnBrk="1" fontAlgn="auto" latinLnBrk="0" hangingPunct="1">
              <a:lnSpc>
                <a:spcPct val="100000"/>
              </a:lnSpc>
              <a:spcBef>
                <a:spcPts val="0"/>
              </a:spcBef>
              <a:spcAft>
                <a:spcPts val="0"/>
              </a:spcAft>
              <a:buClrTx/>
              <a:buSzTx/>
              <a:buFontTx/>
              <a:buNone/>
              <a:tabLst/>
              <a:defRPr/>
            </a:pPr>
            <a:r>
              <a:rPr lang="fr-FR" sz="3600" dirty="0">
                <a:solidFill>
                  <a:schemeClr val="bg1"/>
                </a:solidFill>
                <a:latin typeface="Arial" panose="020B0604020202020204" pitchFamily="34" charset="0"/>
                <a:cs typeface="Arial" panose="020B0604020202020204" pitchFamily="34" charset="0"/>
              </a:rPr>
              <a:t>-</a:t>
            </a:r>
          </a:p>
        </p:txBody>
      </p:sp>
      <p:sp>
        <p:nvSpPr>
          <p:cNvPr id="3" name="ZoneTexte 2">
            <a:extLst>
              <a:ext uri="{FF2B5EF4-FFF2-40B4-BE49-F238E27FC236}">
                <a16:creationId xmlns:a16="http://schemas.microsoft.com/office/drawing/2014/main" id="{8B2A9C29-7693-83D6-AE8F-898D9C7F654E}"/>
              </a:ext>
            </a:extLst>
          </p:cNvPr>
          <p:cNvSpPr txBox="1"/>
          <p:nvPr/>
        </p:nvSpPr>
        <p:spPr>
          <a:xfrm>
            <a:off x="4339478" y="4966417"/>
            <a:ext cx="3513043" cy="646331"/>
          </a:xfrm>
          <a:prstGeom prst="rect">
            <a:avLst/>
          </a:prstGeom>
          <a:noFill/>
        </p:spPr>
        <p:txBody>
          <a:bodyPr wrap="square" rtlCol="0">
            <a:spAutoFit/>
          </a:bodyPr>
          <a:lstStyle/>
          <a:p>
            <a:pPr algn="just">
              <a:defRPr/>
            </a:pPr>
            <a:r>
              <a:rPr lang="fr-CI" sz="1200" b="1" dirty="0">
                <a:solidFill>
                  <a:srgbClr val="C00000"/>
                </a:solidFill>
                <a:effectLst>
                  <a:outerShdw blurRad="38100" dist="38100" dir="2700000" algn="tl">
                    <a:srgbClr val="000000">
                      <a:alpha val="43137"/>
                    </a:srgbClr>
                  </a:outerShdw>
                </a:effectLst>
                <a:latin typeface="Arial"/>
              </a:rPr>
              <a:t>0% des clients interrogés sont satisfaits du traitement de leurs requêtes contre 100.0% d'insatisfaits</a:t>
            </a:r>
            <a:r>
              <a:rPr lang="fr-CI" sz="1200" dirty="0">
                <a:solidFill>
                  <a:prstClr val="black"/>
                </a:solidFill>
                <a:latin typeface="Arial"/>
              </a:rPr>
              <a:t/>
            </a:r>
          </a:p>
          <a:p>
            <a:pPr algn="just">
              <a:defRPr/>
            </a:pP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p>
        </p:txBody>
      </p:sp>
      <p:sp>
        <p:nvSpPr>
          <p:cNvPr id="4" name="ZoneTexte 3">
            <a:extLst>
              <a:ext uri="{FF2B5EF4-FFF2-40B4-BE49-F238E27FC236}">
                <a16:creationId xmlns:a16="http://schemas.microsoft.com/office/drawing/2014/main" id="{0688080A-849A-5E1F-348C-375246263B83}"/>
              </a:ext>
            </a:extLst>
          </p:cNvPr>
          <p:cNvSpPr txBox="1"/>
          <p:nvPr/>
        </p:nvSpPr>
        <p:spPr>
          <a:xfrm>
            <a:off x="111880" y="1125880"/>
            <a:ext cx="3681459" cy="615553"/>
          </a:xfrm>
          <a:prstGeom prst="rect">
            <a:avLst/>
          </a:prstGeom>
          <a:noFill/>
          <a:ln>
            <a:noFill/>
          </a:ln>
        </p:spPr>
        <p:txBody>
          <a:bodyPr wrap="square" rtlCol="0">
            <a:spAutoFit/>
          </a:bodyPr>
          <a:lstStyle/>
          <a:p>
            <a:pPr algn="ctr">
              <a:defRPr/>
            </a:pPr>
            <a:r>
              <a:rPr lang="fr-FR" sz="1600" b="1" u="sng" dirty="0">
                <a:solidFill>
                  <a:prstClr val="black"/>
                </a:solidFill>
                <a:latin typeface="Arial" panose="020B0604020202020204" pitchFamily="34" charset="0"/>
                <a:cs typeface="Arial" panose="020B0604020202020204" pitchFamily="34" charset="0"/>
              </a:rPr>
              <a:t>Clients ayant participé au sondage </a:t>
            </a:r>
          </a:p>
          <a:p>
            <a:pPr>
              <a:defRPr/>
            </a:pPr>
            <a:endParaRPr lang="fr-FR" b="1" u="sng" dirty="0">
              <a:solidFill>
                <a:srgbClr val="C00000"/>
              </a:solidFill>
              <a:latin typeface="Arial" panose="020B0604020202020204" pitchFamily="34" charset="0"/>
              <a:cs typeface="Arial" panose="020B0604020202020204" pitchFamily="34" charset="0"/>
            </a:endParaRPr>
          </a:p>
        </p:txBody>
      </p:sp>
      <p:graphicFrame>
        <p:nvGraphicFramePr>
          <p:cNvPr id="5" name="Tableau 4">
            <a:extLst>
              <a:ext uri="{FF2B5EF4-FFF2-40B4-BE49-F238E27FC236}">
                <a16:creationId xmlns:a16="http://schemas.microsoft.com/office/drawing/2014/main" id="{B42B0782-F3F1-0C9D-A5FF-0A6FEC56BA7E}"/>
              </a:ext>
            </a:extLst>
          </p:cNvPr>
          <p:cNvGraphicFramePr>
            <a:graphicFrameLocks noGrp="1"/>
          </p:cNvGraphicFramePr>
          <p:nvPr>
            <p:extLst>
              <p:ext uri="{D42A27DB-BD31-4B8C-83A1-F6EECF244321}">
                <p14:modId xmlns:p14="http://schemas.microsoft.com/office/powerpoint/2010/main" val="3803057177"/>
              </p:ext>
            </p:extLst>
          </p:nvPr>
        </p:nvGraphicFramePr>
        <p:xfrm>
          <a:off x="136282" y="1506826"/>
          <a:ext cx="3531388" cy="311216"/>
        </p:xfrm>
        <a:graphic>
          <a:graphicData uri="http://schemas.openxmlformats.org/drawingml/2006/table">
            <a:tbl>
              <a:tblPr/>
              <a:tblGrid>
                <a:gridCol w="1446188">
                  <a:extLst>
                    <a:ext uri="{9D8B030D-6E8A-4147-A177-3AD203B41FA5}">
                      <a16:colId xmlns:a16="http://schemas.microsoft.com/office/drawing/2014/main" val="3950295724"/>
                    </a:ext>
                  </a:extLst>
                </a:gridCol>
                <a:gridCol w="1042600">
                  <a:extLst>
                    <a:ext uri="{9D8B030D-6E8A-4147-A177-3AD203B41FA5}">
                      <a16:colId xmlns:a16="http://schemas.microsoft.com/office/drawing/2014/main" val="799972902"/>
                    </a:ext>
                  </a:extLst>
                </a:gridCol>
                <a:gridCol w="1042600">
                  <a:extLst>
                    <a:ext uri="{9D8B030D-6E8A-4147-A177-3AD203B41FA5}">
                      <a16:colId xmlns:a16="http://schemas.microsoft.com/office/drawing/2014/main" val="2866897064"/>
                    </a:ext>
                  </a:extLst>
                </a:gridCol>
              </a:tblGrid>
              <a:tr h="311216">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Total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tc>
                  <a:txBody>
                    <a:bodyPr/>
                    <a:lstStyle>
                      <a:lvl1pPr marL="0" algn="l" defTabSz="914400" rtl="0" eaLnBrk="1" latinLnBrk="0" hangingPunct="1">
                        <a:defRPr sz="1800" kern="1200">
                          <a:solidFill>
                            <a:schemeClr val="tx1"/>
                          </a:solidFill>
                          <a:latin typeface="Calibri" panose="020F0502020204030204"/>
                        </a:defRPr>
                      </a:lvl1pPr>
                      <a:lvl2pPr marL="457200" algn="l" defTabSz="914400" rtl="0" eaLnBrk="1" latinLnBrk="0" hangingPunct="1">
                        <a:defRPr sz="1800" kern="1200">
                          <a:solidFill>
                            <a:schemeClr val="tx1"/>
                          </a:solidFill>
                          <a:latin typeface="Calibri" panose="020F0502020204030204"/>
                        </a:defRPr>
                      </a:lvl2pPr>
                      <a:lvl3pPr marL="914400" algn="l" defTabSz="914400" rtl="0" eaLnBrk="1" latinLnBrk="0" hangingPunct="1">
                        <a:defRPr sz="1800" kern="1200">
                          <a:solidFill>
                            <a:schemeClr val="tx1"/>
                          </a:solidFill>
                          <a:latin typeface="Calibri" panose="020F0502020204030204"/>
                        </a:defRPr>
                      </a:lvl3pPr>
                      <a:lvl4pPr marL="1371600" algn="l" defTabSz="914400" rtl="0" eaLnBrk="1" latinLnBrk="0" hangingPunct="1">
                        <a:defRPr sz="1800" kern="1200">
                          <a:solidFill>
                            <a:schemeClr val="tx1"/>
                          </a:solidFill>
                          <a:latin typeface="Calibri" panose="020F0502020204030204"/>
                        </a:defRPr>
                      </a:lvl4pPr>
                      <a:lvl5pPr marL="1828800" algn="l" defTabSz="914400" rtl="0" eaLnBrk="1" latinLnBrk="0" hangingPunct="1">
                        <a:defRPr sz="1800" kern="1200">
                          <a:solidFill>
                            <a:schemeClr val="tx1"/>
                          </a:solidFill>
                          <a:latin typeface="Calibri" panose="020F0502020204030204"/>
                        </a:defRPr>
                      </a:lvl5pPr>
                      <a:lvl6pPr marL="2286000" algn="l" defTabSz="914400" rtl="0" eaLnBrk="1" latinLnBrk="0" hangingPunct="1">
                        <a:defRPr sz="1800" kern="1200">
                          <a:solidFill>
                            <a:schemeClr val="tx1"/>
                          </a:solidFill>
                          <a:latin typeface="Calibri" panose="020F0502020204030204"/>
                        </a:defRPr>
                      </a:lvl6pPr>
                      <a:lvl7pPr marL="2743200" algn="l" defTabSz="914400" rtl="0" eaLnBrk="1" latinLnBrk="0" hangingPunct="1">
                        <a:defRPr sz="1800" kern="1200">
                          <a:solidFill>
                            <a:schemeClr val="tx1"/>
                          </a:solidFill>
                          <a:latin typeface="Calibri" panose="020F0502020204030204"/>
                        </a:defRPr>
                      </a:lvl7pPr>
                      <a:lvl8pPr marL="3200400" algn="l" defTabSz="914400" rtl="0" eaLnBrk="1" latinLnBrk="0" hangingPunct="1">
                        <a:defRPr sz="1800" kern="1200">
                          <a:solidFill>
                            <a:schemeClr val="tx1"/>
                          </a:solidFill>
                          <a:latin typeface="Calibri" panose="020F0502020204030204"/>
                        </a:defRPr>
                      </a:lvl8pPr>
                      <a:lvl9pPr marL="3657600" algn="l" defTabSz="914400" rtl="0" eaLnBrk="1" latinLnBrk="0" hangingPunct="1">
                        <a:defRPr sz="1800" kern="1200">
                          <a:solidFill>
                            <a:schemeClr val="tx1"/>
                          </a:solidFill>
                          <a:latin typeface="Calibri" panose="020F0502020204030204"/>
                        </a:defRPr>
                      </a:lvl9pPr>
                    </a:lstStyle>
                    <a:p>
                      <a:r>
                        <a:t>100%</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lnTlToBr w="12700" cmpd="sng">
                      <a:noFill/>
                      <a:prstDash val="solid"/>
                    </a:lnTlToBr>
                    <a:lnBlToTr w="12700" cmpd="sng">
                      <a:noFill/>
                      <a:prstDash val="solid"/>
                    </a:lnBlToTr>
                    <a:solidFill>
                      <a:srgbClr val="C00000"/>
                    </a:solidFill>
                  </a:tcPr>
                </a:tc>
                <a:extLst>
                  <a:ext uri="{0D108BD9-81ED-4DB2-BD59-A6C34878D82A}">
                    <a16:rowId xmlns:a16="http://schemas.microsoft.com/office/drawing/2014/main" val="980335216"/>
                  </a:ext>
                </a:extLst>
              </a:tr>
            </a:tbl>
          </a:graphicData>
        </a:graphic>
      </p:graphicFrame>
      <p:sp>
        <p:nvSpPr>
          <p:cNvPr id="6" name="ZoneTexte 5">
            <a:extLst>
              <a:ext uri="{FF2B5EF4-FFF2-40B4-BE49-F238E27FC236}">
                <a16:creationId xmlns:a16="http://schemas.microsoft.com/office/drawing/2014/main" id="{4688F008-8477-3CF2-2E8E-7D868130E147}"/>
              </a:ext>
            </a:extLst>
          </p:cNvPr>
          <p:cNvSpPr txBox="1"/>
          <p:nvPr/>
        </p:nvSpPr>
        <p:spPr>
          <a:xfrm>
            <a:off x="39305" y="5889748"/>
            <a:ext cx="3513044" cy="830997"/>
          </a:xfrm>
          <a:prstGeom prst="rect">
            <a:avLst/>
          </a:prstGeom>
          <a:noFill/>
        </p:spPr>
        <p:txBody>
          <a:bodyPr wrap="square" rtlCol="0">
            <a:spAutoFit/>
          </a:bodyPr>
          <a:lstStyle/>
          <a:p>
            <a:pPr algn="just">
              <a:defRPr/>
            </a:pPr>
            <a:r>
              <a:rPr lang="fr-CI" sz="1200" b="1" dirty="0">
                <a:solidFill>
                  <a:srgbClr val="C00000"/>
                </a:solidFill>
                <a:effectLst>
                  <a:outerShdw blurRad="38100" dist="38100" dir="2700000" algn="tl">
                    <a:srgbClr val="000000">
                      <a:alpha val="43137"/>
                    </a:srgbClr>
                  </a:outerShdw>
                </a:effectLst>
                <a:latin typeface="Arial"/>
              </a:rPr>
              <a:t>0% des clients interrogés estiment avoir fourni un faible effort pour avoir accès à l'information recherchée au niveau de l'IARD</a:t>
            </a:r>
            <a:r>
              <a:rPr lang="fr-CI" sz="1200" dirty="0">
                <a:solidFill>
                  <a:prstClr val="black"/>
                </a:solidFill>
                <a:latin typeface="Arial"/>
              </a:rPr>
              <a:t/>
            </a:r>
          </a:p>
          <a:p>
            <a:pPr algn="just">
              <a:defRPr/>
            </a:pPr>
            <a:r>
              <a:rPr lang="fr-CI" sz="1200" b="1" dirty="0">
                <a:solidFill>
                  <a:srgbClr val="C00000"/>
                </a:solidFill>
                <a:effectLst>
                  <a:outerShdw blurRad="38100" dist="38100" dir="2700000" algn="tl">
                    <a:srgbClr val="000000">
                      <a:alpha val="43137"/>
                    </a:srgbClr>
                  </a:outerShdw>
                </a:effectLst>
                <a:latin typeface="Arial"/>
              </a:rPr>
              <a:t/>
            </a:r>
            <a:r>
              <a:rPr lang="fr-CI" sz="1200" b="1" dirty="0">
                <a:solidFill>
                  <a:prstClr val="black"/>
                </a:solidFill>
                <a:latin typeface="Arial"/>
              </a:rPr>
              <a:t/>
            </a:r>
            <a:r>
              <a:rPr lang="fr-CI" sz="1200" dirty="0">
                <a:solidFill>
                  <a:prstClr val="black"/>
                </a:solidFill>
                <a:latin typeface="Arial"/>
              </a:rPr>
              <a:t/>
            </a: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p>
        </p:txBody>
      </p:sp>
      <p:sp>
        <p:nvSpPr>
          <p:cNvPr id="7" name="ZoneTexte 6">
            <a:extLst>
              <a:ext uri="{FF2B5EF4-FFF2-40B4-BE49-F238E27FC236}">
                <a16:creationId xmlns:a16="http://schemas.microsoft.com/office/drawing/2014/main" id="{C6309B4B-BB18-2DFF-D242-9CE0DB76896A}"/>
              </a:ext>
            </a:extLst>
          </p:cNvPr>
          <p:cNvSpPr txBox="1"/>
          <p:nvPr/>
        </p:nvSpPr>
        <p:spPr>
          <a:xfrm>
            <a:off x="8093435" y="4689419"/>
            <a:ext cx="4098565" cy="1200329"/>
          </a:xfrm>
          <a:prstGeom prst="rect">
            <a:avLst/>
          </a:prstGeom>
          <a:noFill/>
        </p:spPr>
        <p:txBody>
          <a:bodyPr wrap="square" rtlCol="0">
            <a:spAutoFit/>
          </a:bodyPr>
          <a:lstStyle/>
          <a:p>
            <a:pPr algn="just">
              <a:defRPr/>
            </a:pPr>
            <a:r>
              <a:rPr lang="fr-CI" sz="1200" dirty="0">
                <a:solidFill>
                  <a:prstClr val="black"/>
                </a:solidFill>
                <a:latin typeface="Arial"/>
              </a:rPr>
              <a:t>A la question de savoir, quelle est la probabilité pour vous de recommander SUNU Assurances comme assureur à vos proches, amis et connaissances ? avec un NPS de 0%, les clients sondés restent globalement favorables à SUNU Assurances, mais la proportion de détracteurs reste à surveiller</a:t>
            </a:r>
            <a:r>
              <a:rPr lang="fr-FR" sz="1200" dirty="0">
                <a:solidFill>
                  <a:prstClr val="black"/>
                </a:solidFill>
                <a:latin typeface="Arial"/>
              </a:rPr>
              <a:t/>
            </a:r>
          </a:p>
          <a:p>
            <a:pPr algn="just">
              <a:defRPr/>
            </a:pPr>
            <a:r>
              <a:rPr lang="fr-FR" sz="1200" b="1" dirty="0">
                <a:solidFill>
                  <a:srgbClr val="C00000"/>
                </a:solidFill>
                <a:effectLst>
                  <a:outerShdw blurRad="38100" dist="38100" dir="2700000" algn="tl">
                    <a:srgbClr val="000000">
                      <a:alpha val="43137"/>
                    </a:srgbClr>
                  </a:outerShdw>
                </a:effectLst>
                <a:latin typeface="Arial"/>
              </a:rPr>
              <a:t/>
            </a:r>
            <a:r>
              <a:rPr lang="fr-FR" sz="1200" dirty="0">
                <a:solidFill>
                  <a:srgbClr val="C00000"/>
                </a:solidFill>
                <a:effectLst>
                  <a:outerShdw blurRad="38100" dist="38100" dir="2700000" algn="tl">
                    <a:srgbClr val="000000">
                      <a:alpha val="43137"/>
                    </a:srgbClr>
                  </a:outerShdw>
                </a:effectLst>
                <a:latin typeface="Arial"/>
              </a:rPr>
              <a:t/>
            </a:r>
            <a:r>
              <a:rPr lang="fr-FR" sz="1200" dirty="0">
                <a:solidFill>
                  <a:prstClr val="black"/>
                </a:solidFill>
                <a:latin typeface="Arial"/>
              </a:rPr>
              <a:t/>
            </a:r>
            <a:r>
              <a:rPr lang="fr-CI" sz="1200" dirty="0">
                <a:solidFill>
                  <a:prstClr val="black"/>
                </a:solidFill>
                <a:latin typeface="Arial"/>
              </a:rPr>
              <a:t/>
            </a:r>
            <a:r>
              <a:rPr lang="fr-CI" sz="1200" b="1" dirty="0">
                <a:solidFill>
                  <a:srgbClr val="C00000"/>
                </a:solidFill>
                <a:effectLst>
                  <a:outerShdw blurRad="38100" dist="38100" dir="2700000" algn="tl">
                    <a:srgbClr val="000000">
                      <a:alpha val="43137"/>
                    </a:srgbClr>
                  </a:outerShdw>
                </a:effectLst>
                <a:latin typeface="Arial"/>
              </a:rPr>
              <a:t/>
            </a:r>
            <a:r>
              <a:rPr lang="fr-CI" sz="1200" dirty="0">
                <a:solidFill>
                  <a:prstClr val="black"/>
                </a:solidFill>
                <a:latin typeface="Arial"/>
              </a:rPr>
              <a:t/>
            </a:r>
          </a:p>
          <a:p>
            <a:pPr algn="just">
              <a:defRPr/>
            </a:pPr>
            <a:r>
              <a:rPr lang="fr-CI" sz="1200" b="1">
                <a:solidFill>
                  <a:srgbClr val="C00000"/>
                </a:solidFill>
                <a:effectLst>
                  <a:outerShdw blurRad="38100" dist="38100" dir="2700000" algn="tl">
                    <a:srgbClr val="000000">
                      <a:alpha val="43137"/>
                    </a:srgbClr>
                  </a:outerShdw>
                </a:effectLst>
                <a:latin typeface="Arial"/>
              </a:rPr>
              <a:t/>
            </a:r>
            <a:r>
              <a:rPr lang="fr-CI" sz="1200" b="1">
                <a:solidFill>
                  <a:prstClr val="black"/>
                </a:solidFill>
                <a:latin typeface="Arial"/>
              </a:rPr>
              <a:t/>
            </a:r>
            <a:r>
              <a:rPr lang="fr-CI" sz="1200" dirty="0">
                <a:solidFill>
                  <a:prstClr val="black"/>
                </a:solidFill>
                <a:latin typeface="Arial"/>
              </a:rPr>
              <a:t/>
            </a:r>
          </a:p>
        </p:txBody>
      </p:sp>
      <p:sp>
        <p:nvSpPr>
          <p:cNvPr id="8" name="ZoneTexte 7">
            <a:extLst>
              <a:ext uri="{FF2B5EF4-FFF2-40B4-BE49-F238E27FC236}">
                <a16:creationId xmlns:a16="http://schemas.microsoft.com/office/drawing/2014/main" id="{A9FCA580-4B7F-E190-241A-584389A11F35}"/>
              </a:ext>
            </a:extLst>
          </p:cNvPr>
          <p:cNvSpPr txBox="1"/>
          <p:nvPr/>
        </p:nvSpPr>
        <p:spPr>
          <a:xfrm>
            <a:off x="4009672" y="5889973"/>
            <a:ext cx="8143023" cy="1015663"/>
          </a:xfrm>
          <a:prstGeom prst="rect">
            <a:avLst/>
          </a:prstGeom>
          <a:noFill/>
          <a:ln w="28575">
            <a:solidFill>
              <a:srgbClr val="C00000"/>
            </a:solidFill>
          </a:ln>
        </p:spPr>
        <p:txBody>
          <a:bodyPr wrap="square" rtlCol="0">
            <a:spAutoFit/>
          </a:bodyPr>
          <a:lstStyle/>
          <a:p>
            <a:pPr algn="ctr">
              <a:defRPr/>
            </a:pPr>
            <a:r>
              <a:rPr lang="fr-CI" sz="1200" b="1" u="sng" dirty="0">
                <a:solidFill>
                  <a:prstClr val="black"/>
                </a:solidFill>
                <a:latin typeface="Arial"/>
              </a:rPr>
              <a:t>Conclusion :
Les indicateurs CES et CSAT révèlent une fragilité de la satisfaction client sur le périmètre IARD. Une action correctrice prioritaire est recommandée afin de limiter le risque de détérioration de la relation client.</a:t>
            </a:r>
            <a:r>
              <a:rPr lang="fr-CI" sz="1200" b="1" dirty="0">
                <a:solidFill>
                  <a:prstClr val="black"/>
                </a:solidFill>
                <a:latin typeface="Arial"/>
              </a:rPr>
              <a:t/>
            </a:r>
          </a:p>
          <a:p>
            <a:pPr algn="ctr">
              <a:defRPr/>
            </a:pPr>
            <a:r>
              <a:rPr lang="fr-FR" sz="1200" b="1" dirty="0">
                <a:solidFill>
                  <a:prstClr val="black"/>
                </a:solidFill>
                <a:latin typeface="Arial"/>
              </a:rPr>
              <a:t/>
            </a:r>
            <a:endParaRPr lang="fr-CI" sz="1200" b="1" dirty="0">
              <a:solidFill>
                <a:prstClr val="black"/>
              </a:solidFill>
              <a:latin typeface="Arial"/>
            </a:endParaRPr>
          </a:p>
        </p:txBody>
      </p:sp>
      <p:graphicFrame>
        <p:nvGraphicFramePr>
          <p:cNvPr id="11" name="Graphique 10">
            <a:extLst>
              <a:ext uri="{FF2B5EF4-FFF2-40B4-BE49-F238E27FC236}">
                <a16:creationId xmlns:a16="http://schemas.microsoft.com/office/drawing/2014/main" id="{221017E1-A01F-468C-B820-0DF4C0C1973F}"/>
              </a:ext>
            </a:extLst>
          </p:cNvPr>
          <p:cNvGraphicFramePr>
            <a:graphicFrameLocks/>
          </p:cNvGraphicFramePr>
          <p:nvPr>
            <p:extLst>
              <p:ext uri="{D42A27DB-BD31-4B8C-83A1-F6EECF244321}">
                <p14:modId xmlns:p14="http://schemas.microsoft.com/office/powerpoint/2010/main" val="2043583409"/>
              </p:ext>
            </p:extLst>
          </p:nvPr>
        </p:nvGraphicFramePr>
        <p:xfrm>
          <a:off x="111880" y="1965863"/>
          <a:ext cx="3839284" cy="3622846"/>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13" name="Graphique 12">
            <a:extLst>
              <a:ext uri="{FF2B5EF4-FFF2-40B4-BE49-F238E27FC236}">
                <a16:creationId xmlns:a16="http://schemas.microsoft.com/office/drawing/2014/main" id="{DBDA6D3E-D1BE-430A-9F47-BEFF38FC4E97}"/>
              </a:ext>
            </a:extLst>
          </p:cNvPr>
          <p:cNvGraphicFramePr>
            <a:graphicFrameLocks/>
          </p:cNvGraphicFramePr>
          <p:nvPr>
            <p:extLst>
              <p:ext uri="{D42A27DB-BD31-4B8C-83A1-F6EECF244321}">
                <p14:modId xmlns:p14="http://schemas.microsoft.com/office/powerpoint/2010/main" val="1745214739"/>
              </p:ext>
            </p:extLst>
          </p:nvPr>
        </p:nvGraphicFramePr>
        <p:xfrm>
          <a:off x="4487224" y="1099433"/>
          <a:ext cx="3513044" cy="370854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4" name="Graphique 13">
            <a:extLst>
              <a:ext uri="{FF2B5EF4-FFF2-40B4-BE49-F238E27FC236}">
                <a16:creationId xmlns:a16="http://schemas.microsoft.com/office/drawing/2014/main" id="{3CE6DC59-3CCF-4D2C-8A4D-4E18F22A0C21}"/>
              </a:ext>
            </a:extLst>
          </p:cNvPr>
          <p:cNvGraphicFramePr>
            <a:graphicFrameLocks/>
          </p:cNvGraphicFramePr>
          <p:nvPr>
            <p:extLst>
              <p:ext uri="{D42A27DB-BD31-4B8C-83A1-F6EECF244321}">
                <p14:modId xmlns:p14="http://schemas.microsoft.com/office/powerpoint/2010/main" val="2809330139"/>
              </p:ext>
            </p:extLst>
          </p:nvPr>
        </p:nvGraphicFramePr>
        <p:xfrm>
          <a:off x="8521358" y="1099432"/>
          <a:ext cx="3242717" cy="3512487"/>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6293508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24BF5B6-85C3-6A10-B75E-4FDE5FF296E4}"/>
              </a:ext>
            </a:extLst>
          </p:cNvPr>
          <p:cNvSpPr txBox="1">
            <a:spLocks/>
          </p:cNvSpPr>
          <p:nvPr/>
        </p:nvSpPr>
        <p:spPr>
          <a:xfrm>
            <a:off x="2308084" y="3032650"/>
            <a:ext cx="9219888" cy="792699"/>
          </a:xfrm>
          <a:prstGeom prst="rect">
            <a:avLst/>
          </a:prstGeom>
        </p:spPr>
        <p:txBody>
          <a:bodyPr>
            <a:noAutofit/>
          </a:bodyPr>
          <a:lstStyle>
            <a:lvl1pPr algn="ctr" defTabSz="914400" rtl="0" eaLnBrk="1" latinLnBrk="0" hangingPunct="1">
              <a:lnSpc>
                <a:spcPct val="90000"/>
              </a:lnSpc>
              <a:spcBef>
                <a:spcPct val="0"/>
              </a:spcBef>
              <a:buNone/>
              <a:defRPr sz="5400" kern="1200">
                <a:solidFill>
                  <a:srgbClr val="C6183D"/>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fr-FR" sz="6000" b="1" i="0" u="none" strike="noStrike" kern="1200" cap="none" spc="0" normalizeH="0" baseline="0" noProof="0" dirty="0">
                <a:ln>
                  <a:noFill/>
                </a:ln>
                <a:solidFill>
                  <a:prstClr val="white"/>
                </a:solidFill>
                <a:effectLst/>
                <a:uLnTx/>
                <a:uFillTx/>
                <a:latin typeface="Arial" panose="020B0604020202020204" pitchFamily="34" charset="0"/>
                <a:ea typeface="+mj-ea"/>
                <a:cs typeface="Arial" panose="020B0604020202020204" pitchFamily="34" charset="0"/>
              </a:rPr>
              <a:t>Merci de votre attention</a:t>
            </a:r>
          </a:p>
        </p:txBody>
      </p:sp>
    </p:spTree>
    <p:extLst>
      <p:ext uri="{BB962C8B-B14F-4D97-AF65-F5344CB8AC3E}">
        <p14:creationId xmlns:p14="http://schemas.microsoft.com/office/powerpoint/2010/main" val="822929078"/>
      </p:ext>
    </p:extLst>
  </p:cSld>
  <p:clrMapOvr>
    <a:masterClrMapping/>
  </p:clrMapOvr>
</p:sld>
</file>

<file path=ppt/theme/theme1.xml><?xml version="1.0" encoding="utf-8"?>
<a:theme xmlns:a="http://schemas.openxmlformats.org/drawingml/2006/main" name="1_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50E2C262C946447A1DCFDD6355FBC02" ma:contentTypeVersion="13" ma:contentTypeDescription="Crée un document." ma:contentTypeScope="" ma:versionID="37882633a07bd79e6709a2345764face">
  <xsd:schema xmlns:xsd="http://www.w3.org/2001/XMLSchema" xmlns:xs="http://www.w3.org/2001/XMLSchema" xmlns:p="http://schemas.microsoft.com/office/2006/metadata/properties" xmlns:ns2="4587af1c-6693-4a82-a3cb-963b62434259" xmlns:ns3="3503d0c0-fb4f-4fc1-91fe-fb132f70b099" targetNamespace="http://schemas.microsoft.com/office/2006/metadata/properties" ma:root="true" ma:fieldsID="0cb338579dd37b127ca275fd9ec40c96" ns2:_="" ns3:_="">
    <xsd:import namespace="4587af1c-6693-4a82-a3cb-963b62434259"/>
    <xsd:import namespace="3503d0c0-fb4f-4fc1-91fe-fb132f70b099"/>
    <xsd:element name="properties">
      <xsd:complexType>
        <xsd:sequence>
          <xsd:element name="documentManagement">
            <xsd:complexType>
              <xsd:all>
                <xsd:element ref="ns2:MediaServiceMetadata" minOccurs="0"/>
                <xsd:element ref="ns2:MediaServiceFastMetadata" minOccurs="0"/>
                <xsd:element ref="ns2:lcf76f155ced4ddcb4097134ff3c332f" minOccurs="0"/>
                <xsd:element ref="ns2:MediaServiceOCR" minOccurs="0"/>
                <xsd:element ref="ns2:MediaServiceGenerationTime" minOccurs="0"/>
                <xsd:element ref="ns2:MediaServiceEventHashCode" minOccurs="0"/>
                <xsd:element ref="ns2:MediaServiceDateTaken" minOccurs="0"/>
                <xsd:element ref="ns2:MediaServiceLocation" minOccurs="0"/>
                <xsd:element ref="ns3:SharedWithUsers" minOccurs="0"/>
                <xsd:element ref="ns3:SharedWithDetail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587af1c-6693-4a82-a3cb-963b6243425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1" nillable="true" ma:taxonomy="true" ma:internalName="lcf76f155ced4ddcb4097134ff3c332f" ma:taxonomyFieldName="MediaServiceImageTags" ma:displayName="Balises d’images" ma:readOnly="false" ma:fieldId="{5cf76f15-5ced-4ddc-b409-7134ff3c332f}" ma:taxonomyMulti="true" ma:sspId="9b5b8124-5bbb-4617-8fd1-96ea0cd90bd5" ma:termSetId="09814cd3-568e-fe90-9814-8d621ff8fb84" ma:anchorId="fba54fb3-c3e1-fe81-a776-ca4b69148c4d" ma:open="true" ma:isKeyword="false">
      <xsd:complexType>
        <xsd:sequence>
          <xsd:element ref="pc:Terms" minOccurs="0" maxOccurs="1"/>
        </xsd:sequence>
      </xsd:complex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Location" ma:index="16" nillable="true" ma:displayName="Location" ma:description="" ma:indexed="true" ma:internalName="MediaServiceLocation" ma:readOnly="true">
      <xsd:simpleType>
        <xsd:restriction base="dms:Text"/>
      </xsd:simpleType>
    </xsd:element>
    <xsd:element name="MediaServiceObjectDetectorVersions" ma:index="19"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503d0c0-fb4f-4fc1-91fe-fb132f70b099" elementFormDefault="qualified">
    <xsd:import namespace="http://schemas.microsoft.com/office/2006/documentManagement/types"/>
    <xsd:import namespace="http://schemas.microsoft.com/office/infopath/2007/PartnerControls"/>
    <xsd:element name="SharedWithUsers" ma:index="17" nillable="true" ma:displayName="Partagé avec"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Partagé avec dé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ype de contenu"/>
        <xsd:element ref="dc:title" minOccurs="0" maxOccurs="1" ma:index="4" ma:displayName="Titr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4587af1c-6693-4a82-a3cb-963b62434259">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543B573-3355-44F8-8BAB-A5894C8B56EE}">
  <ds:schemaRefs>
    <ds:schemaRef ds:uri="http://schemas.microsoft.com/sharepoint/v3/contenttype/forms"/>
  </ds:schemaRefs>
</ds:datastoreItem>
</file>

<file path=customXml/itemProps2.xml><?xml version="1.0" encoding="utf-8"?>
<ds:datastoreItem xmlns:ds="http://schemas.openxmlformats.org/officeDocument/2006/customXml" ds:itemID="{A320ED68-EA97-463A-8D04-C71EE29E256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587af1c-6693-4a82-a3cb-963b62434259"/>
    <ds:schemaRef ds:uri="3503d0c0-fb4f-4fc1-91fe-fb132f70b09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89F70CE-5AE0-4239-9547-D0A4E7B7DB98}">
  <ds:schemaRefs>
    <ds:schemaRef ds:uri="http://schemas.microsoft.com/office/2006/metadata/properties"/>
    <ds:schemaRef ds:uri="http://purl.org/dc/dcmitype/"/>
    <ds:schemaRef ds:uri="http://schemas.microsoft.com/office/2006/documentManagement/types"/>
    <ds:schemaRef ds:uri="http://schemas.openxmlformats.org/package/2006/metadata/core-properties"/>
    <ds:schemaRef ds:uri="http://purl.org/dc/elements/1.1/"/>
    <ds:schemaRef ds:uri="http://purl.org/dc/terms/"/>
    <ds:schemaRef ds:uri="http://schemas.microsoft.com/office/infopath/2007/PartnerControls"/>
    <ds:schemaRef ds:uri="3503d0c0-fb4f-4fc1-91fe-fb132f70b099"/>
    <ds:schemaRef ds:uri="4587af1c-6693-4a82-a3cb-963b62434259"/>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4968</TotalTime>
  <Words>1391</Words>
  <Application>Microsoft Office PowerPoint</Application>
  <PresentationFormat>Grand écran</PresentationFormat>
  <Paragraphs>413</Paragraphs>
  <Slides>9</Slides>
  <Notes>0</Notes>
  <HiddenSlides>0</HiddenSlides>
  <MMClips>0</MMClips>
  <ScaleCrop>false</ScaleCrop>
  <HeadingPairs>
    <vt:vector size="6" baseType="variant">
      <vt:variant>
        <vt:lpstr>Polices utilisées</vt:lpstr>
      </vt:variant>
      <vt:variant>
        <vt:i4>4</vt:i4>
      </vt:variant>
      <vt:variant>
        <vt:lpstr>Thème</vt:lpstr>
      </vt:variant>
      <vt:variant>
        <vt:i4>2</vt:i4>
      </vt:variant>
      <vt:variant>
        <vt:lpstr>Titres des diapositives</vt:lpstr>
      </vt:variant>
      <vt:variant>
        <vt:i4>9</vt:i4>
      </vt:variant>
    </vt:vector>
  </HeadingPairs>
  <TitlesOfParts>
    <vt:vector size="15" baseType="lpstr">
      <vt:lpstr>Aptos</vt:lpstr>
      <vt:lpstr>Arial</vt:lpstr>
      <vt:lpstr>Calibri</vt:lpstr>
      <vt:lpstr>Wingdings</vt:lpstr>
      <vt:lpstr>1_Thème Office</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Josias KINDIA</dc:creator>
  <cp:lastModifiedBy>Mamadou Cherif BALDE</cp:lastModifiedBy>
  <cp:revision>54</cp:revision>
  <dcterms:created xsi:type="dcterms:W3CDTF">2025-01-20T08:34:27Z</dcterms:created>
  <dcterms:modified xsi:type="dcterms:W3CDTF">2026-06-22T07:10:58Z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0x010100F50E2C262C946447A1DCFDD6355FBC02</vt:lpwstr>
  </property>
</Properties>
</file>